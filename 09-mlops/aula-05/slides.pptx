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314" r:id="rId17"/>
    <p:sldId id="268" r:id="rId18"/>
    <p:sldId id="315" r:id="rId19"/>
    <p:sldId id="269" r:id="rId20"/>
    <p:sldId id="316" r:id="rId21"/>
    <p:sldId id="317" r:id="rId22"/>
    <p:sldId id="270" r:id="rId23"/>
    <p:sldId id="318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2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áudio Carvajal" userId="1c23233fab0a788b" providerId="LiveId" clId="{093D70BD-492E-45D0-B5AB-6B410A6D8764}"/>
    <pc:docChg chg="custSel modSld">
      <pc:chgData name="Cláudio Carvajal" userId="1c23233fab0a788b" providerId="LiveId" clId="{093D70BD-492E-45D0-B5AB-6B410A6D8764}" dt="2025-06-23T13:34:58.141" v="3" actId="20577"/>
      <pc:docMkLst>
        <pc:docMk/>
      </pc:docMkLst>
      <pc:sldChg chg="delSp modSp mod">
        <pc:chgData name="Cláudio Carvajal" userId="1c23233fab0a788b" providerId="LiveId" clId="{093D70BD-492E-45D0-B5AB-6B410A6D8764}" dt="2025-06-23T13:34:58.141" v="3" actId="20577"/>
        <pc:sldMkLst>
          <pc:docMk/>
          <pc:sldMk cId="0" sldId="256"/>
        </pc:sldMkLst>
        <pc:spChg chg="mod">
          <ac:chgData name="Cláudio Carvajal" userId="1c23233fab0a788b" providerId="LiveId" clId="{093D70BD-492E-45D0-B5AB-6B410A6D8764}" dt="2025-06-23T13:34:58.141" v="3" actId="20577"/>
          <ac:spMkLst>
            <pc:docMk/>
            <pc:sldMk cId="0" sldId="256"/>
            <ac:spMk id="120" creationId="{00000000-0000-0000-0000-000000000000}"/>
          </ac:spMkLst>
        </pc:spChg>
        <pc:picChg chg="del">
          <ac:chgData name="Cláudio Carvajal" userId="1c23233fab0a788b" providerId="LiveId" clId="{093D70BD-492E-45D0-B5AB-6B410A6D8764}" dt="2025-06-23T13:34:53.385" v="0" actId="478"/>
          <ac:picMkLst>
            <pc:docMk/>
            <pc:sldMk cId="0" sldId="256"/>
            <ac:picMk id="3" creationId="{D8B40C3F-F368-555A-F896-B0EBE4E6F4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3165980" y="952500"/>
            <a:ext cx="952500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2286000"/>
          </a:xfrm>
        </p:spPr>
        <p:txBody>
          <a:bodyPr/>
          <a:lstStyle/>
          <a:p>
            <a:r>
              <a:rPr lang="pt-BR" dirty="0"/>
              <a:t>Clique para editar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89100" y="4406900"/>
            <a:ext cx="19170650" cy="7823200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137B-F694-7B4C-8D60-520B530DFBC4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886690" y="13081000"/>
            <a:ext cx="597921" cy="471924"/>
          </a:xfrm>
        </p:spPr>
        <p:txBody>
          <a:bodyPr/>
          <a:lstStyle/>
          <a:p>
            <a:fld id="{85C2E139-75F7-E84C-B376-8E7902EEBD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32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5A8A4EE0-71B7-4C3A-9B31-B940838B0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83999" cy="13716000"/>
          </a:xfrm>
          <a:prstGeom prst="rect">
            <a:avLst/>
          </a:prstGeom>
        </p:spPr>
      </p:pic>
      <p:sp>
        <p:nvSpPr>
          <p:cNvPr id="120" name="Title"/>
          <p:cNvSpPr txBox="1">
            <a:spLocks noGrp="1"/>
          </p:cNvSpPr>
          <p:nvPr>
            <p:ph type="ctrTitle"/>
          </p:nvPr>
        </p:nvSpPr>
        <p:spPr>
          <a:xfrm>
            <a:off x="1692939" y="4614632"/>
            <a:ext cx="19029265" cy="15875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BR" sz="6600" b="1" i="1" dirty="0">
                <a:solidFill>
                  <a:srgbClr val="0070C0"/>
                </a:solidFill>
              </a:rPr>
              <a:t>MLOps &amp; CI/CD</a:t>
            </a:r>
          </a:p>
        </p:txBody>
      </p:sp>
      <p:sp>
        <p:nvSpPr>
          <p:cNvPr id="121" name="Body"/>
          <p:cNvSpPr txBox="1">
            <a:spLocks noGrp="1"/>
          </p:cNvSpPr>
          <p:nvPr>
            <p:ph type="subTitle" sz="quarter" idx="1"/>
          </p:nvPr>
        </p:nvSpPr>
        <p:spPr>
          <a:xfrm>
            <a:off x="1692939" y="7102707"/>
            <a:ext cx="19029265" cy="1587500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algn="l"/>
            <a:r>
              <a:rPr lang="pt-BR" sz="4400" dirty="0"/>
              <a:t>Disciplina/Tema:  Aula 5 — Airflow (retomada), ETL com dados sujos e Kubeflow Pipelines</a:t>
            </a:r>
          </a:p>
          <a:p>
            <a:pPr algn="l"/>
            <a:r>
              <a:rPr lang="pt-BR" sz="4400" dirty="0"/>
              <a:t>Professor(a):  André Luiz Braga</a:t>
            </a:r>
          </a:p>
          <a:p>
            <a:pPr algn="l"/>
            <a:r>
              <a:rPr sz="3000" i="1">
                <a:solidFill>
                  <a:srgbClr val="595959"/>
                </a:solidFill>
                <a:latin typeface="Calibri"/>
              </a:rPr>
              <a:t>MBA em BI &amp; Data Science  •  Carga horária da aula: 5h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0C0"/>
                </a:solidFill>
                <a:latin typeface="Calibri"/>
              </a:rPr>
              <a:t>Agenda de Hoje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Retomada: instalação e configuração do Apache Airflow (ficou pendente na Aula 04)</a:t>
            </a:r>
            <a:endParaRPr lang="pt-BR" dirty="0"/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O ETL do projeto, agora com dados "sujos" de propósito — provando que a limpeza funciona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Rodando o DAG no ambiente local e depois no seu projeto PCDF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Airflow explicado de dois jeitos: visual/analogia (todo mundo) e técnico (quem já programa)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Kubeflow Pipelines: o que é, quando usar em vez do Airflow, e um pipeline de 2 componentes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Fechando o ciclo: um treino de ML rápido usando o dado que SAIU do DAG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Limpeza do ambiente e Entrega 4 (DAG + Airflow)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1045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24377904" cy="137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m 6" descr="Uma imagem contendo Gráfico&#10;&#10;Descrição gerada automaticamente">
            <a:extLst>
              <a:ext uri="{FF2B5EF4-FFF2-40B4-BE49-F238E27FC236}">
                <a16:creationId xmlns:a16="http://schemas.microsoft.com/office/drawing/2014/main" id="{123C0F18-1F99-4AFB-BADE-BEF12CAF9E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2564"/>
            <a:ext cx="24383980" cy="1371343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Objetivos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Fechar o Airflow:  </a:t>
            </a:r>
            <a:r>
              <a:rPr sz="2700">
                <a:solidFill>
                  <a:srgbClr val="262626"/>
                </a:solidFill>
                <a:latin typeface="Calibri"/>
              </a:rPr>
              <a:t>instalar, configurar e rodar um DAG real de ETL, sabendo exatamente onde cada etapa acontece — o que não coube na Aula 04.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Provar a limpeza de dados:  </a:t>
            </a:r>
            <a:r>
              <a:rPr sz="2700">
                <a:solidFill>
                  <a:srgbClr val="262626"/>
                </a:solidFill>
                <a:latin typeface="Calibri"/>
              </a:rPr>
              <a:t>usar um dataset "sujo" de propósito para ver a task clean() realmente transformando algo, não só ler o código.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Entender o Kubeflow:  </a:t>
            </a:r>
            <a:r>
              <a:rPr sz="2700">
                <a:solidFill>
                  <a:srgbClr val="262626"/>
                </a:solidFill>
                <a:latin typeface="Calibri"/>
              </a:rPr>
              <a:t>quando ele faz sentido no lugar (ou ao lado) do Airflow, e compilar um pipeline de 2 componentes de verdade.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Fechar o ciclo com ML:  </a:t>
            </a:r>
            <a:r>
              <a:rPr sz="2700">
                <a:solidFill>
                  <a:srgbClr val="262626"/>
                </a:solidFill>
                <a:latin typeface="Calibri"/>
              </a:rPr>
              <a:t>treinar um modelo simples usando o dado que o DAG acabou de tratar — ETL não é o fim, é o começo do pipeline de ML.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Por Que Esta Aula Existe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6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26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2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04A8F"/>
                </a:solidFill>
                <a:latin typeface="Calibri"/>
              </a:rPr>
              <a:t>aconteceu</a:t>
            </a:r>
            <a:r>
              <a:rPr sz="2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04A8F"/>
                </a:solidFill>
                <a:latin typeface="Calibri"/>
              </a:rPr>
              <a:t>na</a:t>
            </a:r>
            <a:r>
              <a:rPr sz="2600" b="1" dirty="0">
                <a:solidFill>
                  <a:srgbClr val="004A8F"/>
                </a:solidFill>
                <a:latin typeface="Calibri"/>
              </a:rPr>
              <a:t> Aula 04: 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conseguimos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fechar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Docker, Kubernetes local e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Pulumi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— mas o tempo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alcançou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instalação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do Airflow e o ETL,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ficaram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2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6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26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2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04A8F"/>
                </a:solidFill>
                <a:latin typeface="Calibri"/>
              </a:rPr>
              <a:t>isso</a:t>
            </a:r>
            <a:r>
              <a:rPr sz="2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04A8F"/>
                </a:solidFill>
                <a:latin typeface="Calibri"/>
              </a:rPr>
              <a:t>muda</a:t>
            </a:r>
            <a:r>
              <a:rPr sz="2600" b="1" dirty="0">
                <a:solidFill>
                  <a:srgbClr val="004A8F"/>
                </a:solidFill>
                <a:latin typeface="Calibri"/>
              </a:rPr>
              <a:t> para </a:t>
            </a:r>
            <a:r>
              <a:rPr sz="2600" b="1" dirty="0" err="1">
                <a:solidFill>
                  <a:srgbClr val="004A8F"/>
                </a:solidFill>
                <a:latin typeface="Calibri"/>
              </a:rPr>
              <a:t>você</a:t>
            </a:r>
            <a:r>
              <a:rPr sz="26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Passos A1 e A2 de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são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OS MESMOS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já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estavam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no Manual da Aula 04 — se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você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já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praticou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por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conta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própria</a:t>
            </a:r>
            <a:r>
              <a:rPr sz="2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pode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ir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direto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para a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Parte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2 (dados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sujos</a:t>
            </a:r>
            <a:r>
              <a:rPr sz="2600" dirty="0">
                <a:solidFill>
                  <a:srgbClr val="262626"/>
                </a:solidFill>
                <a:latin typeface="Calibri"/>
              </a:rPr>
              <a:t>).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6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26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2600" b="1" dirty="0">
                <a:solidFill>
                  <a:srgbClr val="004A8F"/>
                </a:solidFill>
                <a:latin typeface="Calibri"/>
              </a:rPr>
              <a:t> é novo de </a:t>
            </a:r>
            <a:r>
              <a:rPr sz="2600" b="1" dirty="0" err="1">
                <a:solidFill>
                  <a:srgbClr val="004A8F"/>
                </a:solidFill>
                <a:latin typeface="Calibri"/>
              </a:rPr>
              <a:t>verdade</a:t>
            </a:r>
            <a:r>
              <a:rPr sz="2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04A8F"/>
                </a:solidFill>
                <a:latin typeface="Calibri"/>
              </a:rPr>
              <a:t>hoje</a:t>
            </a:r>
            <a:r>
              <a:rPr sz="26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dados "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sujos</a:t>
            </a:r>
            <a:r>
              <a:rPr sz="2600" dirty="0">
                <a:solidFill>
                  <a:srgbClr val="262626"/>
                </a:solidFill>
                <a:latin typeface="Calibri"/>
              </a:rPr>
              <a:t>", a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explicação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visual do Airflow para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todos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níveis</a:t>
            </a:r>
            <a:r>
              <a:rPr sz="2600" dirty="0">
                <a:solidFill>
                  <a:srgbClr val="262626"/>
                </a:solidFill>
                <a:latin typeface="Calibri"/>
              </a:rPr>
              <a:t>, e o Kubeflow —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estava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2600" dirty="0">
                <a:solidFill>
                  <a:srgbClr val="262626"/>
                </a:solidFill>
                <a:latin typeface="Calibri"/>
              </a:rPr>
              <a:t> Aula 04.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Instalação e Configuração do Airflow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2249711" y="7259715"/>
            <a:ext cx="16212459" cy="3263142"/>
          </a:xfr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4000" dirty="0">
                <a:solidFill>
                  <a:srgbClr val="595959"/>
                </a:solidFill>
                <a:latin typeface="Calibri"/>
              </a:rPr>
              <a:t>Estes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passos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são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OS MESMOS do Manual da Aula 04 — se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você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já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instalou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o Airflow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em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airflow-demo/,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pode</a:t>
            </a:r>
            <a:r>
              <a:rPr lang="en-US" sz="4000" dirty="0">
                <a:solidFill>
                  <a:srgbClr val="595959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acompanhar</a:t>
            </a:r>
            <a:r>
              <a:rPr lang="en-US" sz="4000" dirty="0">
                <a:solidFill>
                  <a:srgbClr val="595959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rápido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e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ir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para a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Parte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7138" y="4750000"/>
            <a:ext cx="547457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F5AC00"/>
                </a:solidFill>
                <a:latin typeface="Calibri"/>
              </a:rPr>
              <a:t>RETOMADA — PARTE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Onde Vamos Praticar Primeiro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Qual terminal: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TUDO 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partir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daqui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roda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dentro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 terminal Ubuntu/WSL2 (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Linux, se for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sua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máquina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)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nunca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no PowerShell/CMD do Windows.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Pasta de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trabalho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airflow-demo/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pasta DENTRO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desse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terminal,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criada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no Passo A1-1. "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Ambiente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Local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Demonstração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"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é outro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programa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: é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nome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dessa pasta de testes.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Por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primeiro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aqui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o Airflow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vários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serviços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rodando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tempo (banco, webserver, scheduler, worker)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melhor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errar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aqui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no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projeto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vale nota.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 dirty="0" err="1">
                <a:solidFill>
                  <a:srgbClr val="004A8F"/>
                </a:solidFill>
                <a:latin typeface="Calibri"/>
              </a:rPr>
              <a:t>Comandos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idênticos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WSL2 (Windows) e Linux — o Docker Compose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muda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entre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dois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 dirty="0">
                <a:solidFill>
                  <a:srgbClr val="0070C0"/>
                </a:solidFill>
                <a:latin typeface="Calibri"/>
              </a:rPr>
              <a:t>Passo A1-1 —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Baixar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o docker-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compose.yaml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Oficial</a:t>
            </a:r>
            <a:endParaRPr sz="36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dirty="0" err="1">
                <a:solidFill>
                  <a:srgbClr val="262626"/>
                </a:solidFill>
                <a:latin typeface="Calibri"/>
              </a:rPr>
              <a:t>Idêntico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WSL2 (Windows) e 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51429" y="6056900"/>
            <a:ext cx="19681371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Consolas"/>
              </a:rPr>
              <a:t>PROFESOR: cd /</a:t>
            </a:r>
            <a:r>
              <a:rPr lang="en-US" sz="3200" dirty="0" err="1">
                <a:solidFill>
                  <a:srgbClr val="FFFF00"/>
                </a:solidFill>
                <a:latin typeface="Consolas"/>
              </a:rPr>
              <a:t>mnt</a:t>
            </a:r>
            <a:r>
              <a:rPr lang="en-US" sz="3200" dirty="0">
                <a:solidFill>
                  <a:srgbClr val="FFFF00"/>
                </a:solidFill>
                <a:latin typeface="Consolas"/>
              </a:rPr>
              <a:t>/c/GITHUB/IBMEC_MLOPS/IBMEC_MLOPS/local</a:t>
            </a:r>
          </a:p>
          <a:p>
            <a:pPr algn="l"/>
            <a:endParaRPr lang="en-US" sz="3200" dirty="0">
              <a:solidFill>
                <a:srgbClr val="E8E8E8"/>
              </a:solidFill>
              <a:latin typeface="Consolas"/>
            </a:endParaRPr>
          </a:p>
          <a:p>
            <a:pPr algn="l"/>
            <a:endParaRPr lang="en-US" sz="3200" dirty="0">
              <a:solidFill>
                <a:srgbClr val="E8E8E8"/>
              </a:solidFill>
              <a:latin typeface="Consolas"/>
            </a:endParaRPr>
          </a:p>
          <a:p>
            <a:pPr algn="l"/>
            <a:r>
              <a:rPr sz="3200" dirty="0" err="1">
                <a:solidFill>
                  <a:srgbClr val="E8E8E8"/>
                </a:solidFill>
                <a:latin typeface="Consolas"/>
              </a:rPr>
              <a:t>mkdir</a:t>
            </a:r>
            <a:r>
              <a:rPr sz="3200" dirty="0">
                <a:solidFill>
                  <a:srgbClr val="E8E8E8"/>
                </a:solidFill>
                <a:latin typeface="Consolas"/>
              </a:rPr>
              <a:t> airflow-demo &amp;&amp; cd airflow-demo</a:t>
            </a:r>
          </a:p>
          <a:p>
            <a:pPr algn="l"/>
            <a:r>
              <a:rPr sz="3200" dirty="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3200" dirty="0">
                <a:solidFill>
                  <a:srgbClr val="E8E8E8"/>
                </a:solidFill>
                <a:latin typeface="Consolas"/>
              </a:rPr>
              <a:t>curl -</a:t>
            </a:r>
            <a:r>
              <a:rPr sz="3200" dirty="0" err="1">
                <a:solidFill>
                  <a:srgbClr val="E8E8E8"/>
                </a:solidFill>
                <a:latin typeface="Consolas"/>
              </a:rPr>
              <a:t>LfO</a:t>
            </a:r>
            <a:r>
              <a:rPr sz="3200" dirty="0">
                <a:solidFill>
                  <a:srgbClr val="E8E8E8"/>
                </a:solidFill>
                <a:latin typeface="Consolas"/>
              </a:rPr>
              <a:t> 'https://airflow.apache.org/docs/</a:t>
            </a:r>
            <a:r>
              <a:rPr sz="3200" dirty="0" err="1">
                <a:solidFill>
                  <a:srgbClr val="E8E8E8"/>
                </a:solidFill>
                <a:latin typeface="Consolas"/>
              </a:rPr>
              <a:t>apache</a:t>
            </a:r>
            <a:r>
              <a:rPr sz="3200" dirty="0">
                <a:solidFill>
                  <a:srgbClr val="E8E8E8"/>
                </a:solidFill>
                <a:latin typeface="Consolas"/>
              </a:rPr>
              <a:t>-airflow/stable/docker-</a:t>
            </a:r>
            <a:r>
              <a:rPr sz="3200" dirty="0" err="1">
                <a:solidFill>
                  <a:srgbClr val="E8E8E8"/>
                </a:solidFill>
                <a:latin typeface="Consolas"/>
              </a:rPr>
              <a:t>compose.yaml</a:t>
            </a:r>
            <a:r>
              <a:rPr sz="3200" dirty="0">
                <a:solidFill>
                  <a:srgbClr val="E8E8E8"/>
                </a:solidFill>
                <a:latin typeface="Consolas"/>
              </a:rPr>
              <a:t>'</a:t>
            </a:r>
          </a:p>
        </p:txBody>
      </p:sp>
      <p:sp>
        <p:nvSpPr>
          <p:cNvPr id="3" name="Balão de Fala: Retângulo com Cantos Arredondados 2">
            <a:extLst>
              <a:ext uri="{FF2B5EF4-FFF2-40B4-BE49-F238E27FC236}">
                <a16:creationId xmlns:a16="http://schemas.microsoft.com/office/drawing/2014/main" id="{97CE6D3B-4B65-6C47-8052-99DA881525F5}"/>
              </a:ext>
            </a:extLst>
          </p:cNvPr>
          <p:cNvSpPr/>
          <p:nvPr/>
        </p:nvSpPr>
        <p:spPr>
          <a:xfrm>
            <a:off x="14224000" y="2551248"/>
            <a:ext cx="4296229" cy="1089660"/>
          </a:xfrm>
          <a:prstGeom prst="wedgeRoundRectCallout">
            <a:avLst>
              <a:gd name="adj1" fmla="val -71509"/>
              <a:gd name="adj2" fmla="val 402160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Essa é 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pra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 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minha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 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máquina</a:t>
            </a: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Onde Fica Essa Pasta, se Você Está no WSL2?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200" b="1" dirty="0" err="1">
                <a:solidFill>
                  <a:srgbClr val="004A8F"/>
                </a:solidFill>
                <a:latin typeface="Calibri"/>
              </a:rPr>
              <a:t>Padrão</a:t>
            </a:r>
            <a:r>
              <a:rPr sz="3200" b="1" dirty="0">
                <a:solidFill>
                  <a:srgbClr val="004A8F"/>
                </a:solidFill>
                <a:latin typeface="Calibri"/>
              </a:rPr>
              <a:t> (</a:t>
            </a:r>
            <a:r>
              <a:rPr sz="3200" b="1" dirty="0" err="1">
                <a:solidFill>
                  <a:srgbClr val="004A8F"/>
                </a:solidFill>
                <a:latin typeface="Calibri"/>
              </a:rPr>
              <a:t>recomendado</a:t>
            </a:r>
            <a:r>
              <a:rPr sz="3200" b="1" dirty="0">
                <a:solidFill>
                  <a:srgbClr val="004A8F"/>
                </a:solidFill>
                <a:latin typeface="Calibri"/>
              </a:rPr>
              <a:t>): 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dentro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próprio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Linux,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sua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pasta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pessoal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(~) — é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onde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comando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acima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cria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airflow-demo/ se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você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mudar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diretório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antes. O Docker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acessa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esses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arquivos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direto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atravessar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Windows↔Linux</a:t>
            </a:r>
            <a:r>
              <a:rPr sz="32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200" b="1" dirty="0">
                <a:solidFill>
                  <a:srgbClr val="004A8F"/>
                </a:solidFill>
                <a:latin typeface="Calibri"/>
              </a:rPr>
              <a:t>Alternativa — usar a pasta do Windows </a:t>
            </a:r>
            <a:r>
              <a:rPr sz="3200" b="1" dirty="0" err="1">
                <a:solidFill>
                  <a:srgbClr val="004A8F"/>
                </a:solidFill>
                <a:latin typeface="Calibri"/>
              </a:rPr>
              <a:t>direto</a:t>
            </a:r>
            <a:r>
              <a:rPr sz="32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200" dirty="0">
                <a:solidFill>
                  <a:srgbClr val="262626"/>
                </a:solidFill>
                <a:latin typeface="Calibri"/>
              </a:rPr>
              <a:t>se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preferir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ver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arquivos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no Explorer do Windows, entre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/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mnt</a:t>
            </a:r>
            <a:r>
              <a:rPr sz="3200" dirty="0">
                <a:solidFill>
                  <a:srgbClr val="262626"/>
                </a:solidFill>
                <a:latin typeface="Calibri"/>
              </a:rPr>
              <a:t>/&lt;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letra-minúscula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&gt;/&lt;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seu-caminho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&gt; ANTES do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mkdir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— ex.: cd "/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mnt</a:t>
            </a:r>
            <a:r>
              <a:rPr sz="3200" dirty="0">
                <a:solidFill>
                  <a:srgbClr val="262626"/>
                </a:solidFill>
                <a:latin typeface="Calibri"/>
              </a:rPr>
              <a:t>/g/Meu Drive/TRABALHO/CORRENTES/&lt;pasta&gt;" &amp;&amp;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mkdir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airflow-demo.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Funciona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igual</a:t>
            </a:r>
            <a:r>
              <a:rPr sz="3200" dirty="0">
                <a:solidFill>
                  <a:srgbClr val="262626"/>
                </a:solidFill>
                <a:latin typeface="Calibri"/>
              </a:rPr>
              <a:t>.</a:t>
            </a:r>
            <a:endParaRPr lang="en-US"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endParaRPr lang="en-US" sz="3200" b="1" dirty="0">
              <a:solidFill>
                <a:srgbClr val="004A8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200" b="1" dirty="0">
                <a:solidFill>
                  <a:srgbClr val="004A8F"/>
                </a:solidFill>
                <a:latin typeface="Calibri"/>
              </a:rPr>
              <a:t>Só um </a:t>
            </a:r>
            <a:r>
              <a:rPr sz="3200" b="1" dirty="0" err="1">
                <a:solidFill>
                  <a:srgbClr val="004A8F"/>
                </a:solidFill>
                <a:latin typeface="Calibri"/>
              </a:rPr>
              <a:t>detalhe</a:t>
            </a:r>
            <a:r>
              <a:rPr sz="32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trabalhando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/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mnt</a:t>
            </a:r>
            <a:r>
              <a:rPr sz="3200" dirty="0">
                <a:solidFill>
                  <a:srgbClr val="262626"/>
                </a:solidFill>
                <a:latin typeface="Calibri"/>
              </a:rPr>
              <a:t>/ o Docker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fica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um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pouco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lento (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camada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entre WSL2 e o Windows) — para 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Ambiente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Local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Demonstração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importa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, é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nesse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caso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vale saber.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72758A-7E29-EEB1-A08C-C6476ECE887E}"/>
              </a:ext>
            </a:extLst>
          </p:cNvPr>
          <p:cNvSpPr txBox="1"/>
          <p:nvPr/>
        </p:nvSpPr>
        <p:spPr>
          <a:xfrm>
            <a:off x="2757715" y="7895131"/>
            <a:ext cx="15994742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dirty="0"/>
              <a:t>PROFESOR </a:t>
            </a:r>
            <a:r>
              <a:rPr lang="pt-BR" dirty="0">
                <a:sym typeface="Wingdings" panose="05000000000000000000" pitchFamily="2" charset="2"/>
              </a:rPr>
              <a:t>  </a:t>
            </a:r>
            <a:r>
              <a:rPr lang="pt-BR" dirty="0" err="1"/>
              <a:t>cd</a:t>
            </a:r>
            <a:r>
              <a:rPr lang="pt-BR" dirty="0"/>
              <a:t>  /</a:t>
            </a:r>
            <a:r>
              <a:rPr lang="pt-BR" dirty="0" err="1"/>
              <a:t>mnt</a:t>
            </a:r>
            <a:r>
              <a:rPr lang="pt-BR" dirty="0"/>
              <a:t>/c/GITHUB/IBMEC_MLOPS/IBMEC_MLOPS/local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A1-2 — Criar as Pastas Auxiliares e o .env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dirty="0" err="1">
                <a:solidFill>
                  <a:srgbClr val="262626"/>
                </a:solidFill>
                <a:latin typeface="Calibri"/>
              </a:rPr>
              <a:t>Cria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também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a pasta ./data,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usada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pelo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ETL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sz="4800" dirty="0" err="1">
                <a:solidFill>
                  <a:srgbClr val="E8E8E8"/>
                </a:solidFill>
                <a:latin typeface="Consolas"/>
              </a:rPr>
              <a:t>mkdir</a:t>
            </a:r>
            <a:r>
              <a:rPr sz="4800" dirty="0">
                <a:solidFill>
                  <a:srgbClr val="E8E8E8"/>
                </a:solidFill>
                <a:latin typeface="Consolas"/>
              </a:rPr>
              <a:t> -p ./</a:t>
            </a:r>
            <a:r>
              <a:rPr sz="4800" dirty="0" err="1">
                <a:solidFill>
                  <a:srgbClr val="E8E8E8"/>
                </a:solidFill>
                <a:latin typeface="Consolas"/>
              </a:rPr>
              <a:t>dags</a:t>
            </a:r>
            <a:r>
              <a:rPr sz="4800" dirty="0">
                <a:solidFill>
                  <a:srgbClr val="E8E8E8"/>
                </a:solidFill>
                <a:latin typeface="Consolas"/>
              </a:rPr>
              <a:t> ./logs ./plugins ./config ./data</a:t>
            </a:r>
          </a:p>
          <a:p>
            <a:pPr algn="l"/>
            <a:r>
              <a:rPr sz="4800" dirty="0">
                <a:solidFill>
                  <a:srgbClr val="E8E8E8"/>
                </a:solidFill>
                <a:latin typeface="Consolas"/>
              </a:rPr>
              <a:t>echo -e "AIRFLOW_UID=50000" &gt; .env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869043"/>
          </a:xfrm>
        </p:spPr>
        <p:txBody>
          <a:bodyPr/>
          <a:lstStyle/>
          <a:p>
            <a:pPr algn="l"/>
            <a:r>
              <a:rPr sz="3600" b="1" dirty="0">
                <a:solidFill>
                  <a:srgbClr val="0070C0"/>
                </a:solidFill>
                <a:latin typeface="Calibri"/>
              </a:rPr>
              <a:t>Passo A1-3 —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Adicionar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o Mount de ./data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2481943"/>
            <a:ext cx="19617871" cy="22929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dirty="0">
                <a:solidFill>
                  <a:srgbClr val="262626"/>
                </a:solidFill>
                <a:latin typeface="Calibri"/>
              </a:rPr>
              <a:t>IMPORTANTE: </a:t>
            </a:r>
            <a:endParaRPr lang="en-US"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3200" dirty="0">
                <a:solidFill>
                  <a:srgbClr val="262626"/>
                </a:solidFill>
                <a:latin typeface="Calibri"/>
              </a:rPr>
              <a:t>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ode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DENTRO de airflow-demo/ </a:t>
            </a:r>
            <a:r>
              <a:rPr lang="en-US" sz="3200" dirty="0">
                <a:solidFill>
                  <a:srgbClr val="262626"/>
                </a:solidFill>
                <a:latin typeface="Calibri"/>
              </a:rPr>
              <a:t>        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—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confira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 com "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pwd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" (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tem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terminar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 /airflow-demo)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dirty="0">
                <a:solidFill>
                  <a:srgbClr val="262626"/>
                </a:solidFill>
                <a:latin typeface="Calibri"/>
              </a:rPr>
              <a:t>O docker-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compose.yaml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oficial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NÃO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monta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a pasta ./data </a:t>
            </a:r>
            <a:r>
              <a:rPr lang="en-US" sz="3200" dirty="0">
                <a:solidFill>
                  <a:srgbClr val="262626"/>
                </a:solidFill>
                <a:latin typeface="Calibri"/>
              </a:rPr>
              <a:t>   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—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este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arquivo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, a task "extract"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falha</a:t>
            </a:r>
            <a:endParaRPr sz="3200" b="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dirty="0">
                <a:solidFill>
                  <a:srgbClr val="262626"/>
                </a:solidFill>
                <a:latin typeface="Calibri"/>
              </a:rPr>
              <a:t>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comando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abaixo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CRIA </a:t>
            </a:r>
            <a:r>
              <a:rPr sz="3200" b="0" i="1" dirty="0">
                <a:solidFill>
                  <a:srgbClr val="262626"/>
                </a:solidFill>
                <a:latin typeface="Calibri"/>
              </a:rPr>
              <a:t>docker-</a:t>
            </a:r>
            <a:r>
              <a:rPr sz="3200" b="0" i="1" dirty="0" err="1">
                <a:solidFill>
                  <a:srgbClr val="262626"/>
                </a:solidFill>
                <a:latin typeface="Calibri"/>
              </a:rPr>
              <a:t>compose.override.yml</a:t>
            </a:r>
            <a:r>
              <a:rPr sz="3200" b="0" i="1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direto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pelo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terminal </a:t>
            </a:r>
            <a:r>
              <a:rPr lang="en-US"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—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cole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bloco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inteiro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, do cat </a:t>
            </a:r>
            <a:r>
              <a:rPr sz="3200" b="0" dirty="0" err="1">
                <a:solidFill>
                  <a:srgbClr val="262626"/>
                </a:solidFill>
                <a:latin typeface="Calibri"/>
              </a:rPr>
              <a:t>até</a:t>
            </a:r>
            <a:r>
              <a:rPr sz="3200" b="0" dirty="0">
                <a:solidFill>
                  <a:srgbClr val="262626"/>
                </a:solidFill>
                <a:latin typeface="Calibri"/>
              </a:rPr>
              <a:t> o EOF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5167086"/>
            <a:ext cx="19170650" cy="7063014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cat &gt; docker-compose.override.yml &lt;&lt; 'EOF'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version: "3.8"</a:t>
            </a:r>
          </a:p>
          <a:p>
            <a:pPr algn="l"/>
            <a:endParaRPr lang="pt-BR" sz="2400">
              <a:solidFill>
                <a:srgbClr val="E8E8E8"/>
              </a:solidFill>
              <a:latin typeface="Consolas"/>
            </a:endParaRP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services: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airflow-scheduler: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airflow-apiserver: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airflow-dag-processor: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airflow-worker: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airflow-triggerer: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airflow-init: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lang="pt-BR" sz="2400">
                <a:solidFill>
                  <a:srgbClr val="E8E8E8"/>
                </a:solidFill>
                <a:latin typeface="Consolas"/>
              </a:rPr>
              <a:t>EOF</a:t>
            </a:r>
            <a:endParaRPr sz="2400" dirty="0">
              <a:solidFill>
                <a:srgbClr val="E8E8E8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Confira o Arquivo Gerado — docker-compose.override.yml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dirty="0">
                <a:solidFill>
                  <a:srgbClr val="262626"/>
                </a:solidFill>
                <a:latin typeface="Calibri"/>
              </a:rPr>
              <a:t>Rode "cat docker-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compose.override.yml</a:t>
            </a:r>
            <a:r>
              <a:rPr sz="3600" dirty="0">
                <a:solidFill>
                  <a:srgbClr val="262626"/>
                </a:solidFill>
                <a:latin typeface="Calibri"/>
              </a:rPr>
              <a:t>" e compare com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resultado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abaixo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linha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por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linha</a:t>
            </a:r>
            <a:endParaRPr sz="360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version: "3.8"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services: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 airflow-scheduler: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 airflow-webserver: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 airflow-worker: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 airflow-triggerer: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 airflow-init:</a:t>
            </a:r>
          </a:p>
          <a:p>
            <a:pPr algn="l"/>
            <a:r>
              <a:rPr sz="2400">
                <a:solidFill>
                  <a:srgbClr val="E8E8E8"/>
                </a:solidFill>
                <a:latin typeface="Consolas"/>
              </a:rPr>
              <a:t>    volumes: ["./data:/opt/airflow/data"]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C5CB-40EB-B967-963C-4FCCA877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66499-CFEA-580D-993E-1E0ED457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 dirty="0" err="1">
                <a:solidFill>
                  <a:srgbClr val="0070C0"/>
                </a:solidFill>
                <a:latin typeface="Calibri"/>
              </a:rPr>
              <a:t>Confira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o </a:t>
            </a:r>
            <a:r>
              <a:rPr lang="en-US" sz="3600" b="1" dirty="0" err="1">
                <a:solidFill>
                  <a:srgbClr val="0070C0"/>
                </a:solidFill>
                <a:latin typeface="Calibri"/>
              </a:rPr>
              <a:t>Diretorio</a:t>
            </a:r>
            <a:endParaRPr sz="36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595E02-F221-09B2-1C06-4B8CBA102188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4B15A0-6E6F-AC68-A1EB-7CF38346E0FC}"/>
              </a:ext>
            </a:extLst>
          </p:cNvPr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D4CFB5F-4E56-5798-691A-178446442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555" y="3284003"/>
            <a:ext cx="17552144" cy="81532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7293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A1-4 — Inicializar o Banco de Metadados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dirty="0" err="1">
                <a:solidFill>
                  <a:srgbClr val="262626"/>
                </a:solidFill>
                <a:latin typeface="Calibri"/>
              </a:rPr>
              <a:t>Idêntico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WSL2 (Windows) e 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sz="4400" dirty="0">
                <a:solidFill>
                  <a:srgbClr val="E8E8E8"/>
                </a:solidFill>
                <a:latin typeface="Consolas"/>
              </a:rPr>
              <a:t>docker compose up airflow-</a:t>
            </a:r>
            <a:r>
              <a:rPr sz="4400" dirty="0" err="1">
                <a:solidFill>
                  <a:srgbClr val="E8E8E8"/>
                </a:solidFill>
                <a:latin typeface="Consolas"/>
              </a:rPr>
              <a:t>init</a:t>
            </a:r>
            <a:endParaRPr sz="4400" dirty="0">
              <a:solidFill>
                <a:srgbClr val="E8E8E8"/>
              </a:solidFill>
              <a:latin typeface="Consolas"/>
            </a:endParaRPr>
          </a:p>
          <a:p>
            <a:pPr algn="l"/>
            <a:r>
              <a:rPr sz="4400" dirty="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4400" dirty="0">
                <a:solidFill>
                  <a:srgbClr val="E8E8E8"/>
                </a:solidFill>
                <a:latin typeface="Consolas"/>
              </a:rPr>
              <a:t># </a:t>
            </a:r>
            <a:r>
              <a:rPr sz="4400" dirty="0" err="1">
                <a:solidFill>
                  <a:srgbClr val="E8E8E8"/>
                </a:solidFill>
                <a:latin typeface="Consolas"/>
              </a:rPr>
              <a:t>resultado</a:t>
            </a:r>
            <a:r>
              <a:rPr sz="4400" dirty="0">
                <a:solidFill>
                  <a:srgbClr val="E8E8E8"/>
                </a:solidFill>
                <a:latin typeface="Consolas"/>
              </a:rPr>
              <a:t> </a:t>
            </a:r>
            <a:r>
              <a:rPr sz="4400" dirty="0" err="1">
                <a:solidFill>
                  <a:srgbClr val="E8E8E8"/>
                </a:solidFill>
                <a:latin typeface="Consolas"/>
              </a:rPr>
              <a:t>esperado</a:t>
            </a:r>
            <a:r>
              <a:rPr sz="4400" dirty="0">
                <a:solidFill>
                  <a:srgbClr val="E8E8E8"/>
                </a:solidFill>
                <a:latin typeface="Consolas"/>
              </a:rPr>
              <a:t>: "airflow-</a:t>
            </a:r>
            <a:r>
              <a:rPr sz="4400" dirty="0" err="1">
                <a:solidFill>
                  <a:srgbClr val="E8E8E8"/>
                </a:solidFill>
                <a:latin typeface="Consolas"/>
              </a:rPr>
              <a:t>init</a:t>
            </a:r>
            <a:r>
              <a:rPr sz="4400" dirty="0">
                <a:solidFill>
                  <a:srgbClr val="E8E8E8"/>
                </a:solidFill>
                <a:latin typeface="Consolas"/>
              </a:rPr>
              <a:t> exited with code 0"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DFB9B-EB6D-86BC-F406-5C657673C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31AF0-CB5F-F52C-DFA7-D88B3E65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A1-4 — Inicializar o Banco de Metadados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E1151-CAFD-78C3-E81E-0BFD5A31E02A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9FB991C-7A75-17C4-9047-888C5B9E3C82}"/>
              </a:ext>
            </a:extLst>
          </p:cNvPr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9402876-FB44-35AA-CDD7-78C92C77E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3173185"/>
            <a:ext cx="19065197" cy="710292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13B68F4-9B3C-01BE-C0CE-C0942B99B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414" y="10542815"/>
            <a:ext cx="18672481" cy="128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52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A1-5 — Subir os Serviços do 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3640900"/>
            <a:ext cx="1917065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800" dirty="0" err="1">
                <a:solidFill>
                  <a:srgbClr val="262626"/>
                </a:solidFill>
                <a:latin typeface="Calibri"/>
              </a:rPr>
              <a:t>Idêntico</a:t>
            </a:r>
            <a:r>
              <a:rPr sz="4800" dirty="0">
                <a:solidFill>
                  <a:srgbClr val="262626"/>
                </a:solidFill>
                <a:latin typeface="Calibri"/>
              </a:rPr>
              <a:t> </a:t>
            </a:r>
            <a:r>
              <a:rPr sz="48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800" dirty="0">
                <a:solidFill>
                  <a:srgbClr val="262626"/>
                </a:solidFill>
                <a:latin typeface="Calibri"/>
              </a:rPr>
              <a:t> WSL2 (Windows) e 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sz="4400" dirty="0">
                <a:solidFill>
                  <a:srgbClr val="E8E8E8"/>
                </a:solidFill>
                <a:latin typeface="Consolas"/>
              </a:rPr>
              <a:t>docker compose up -d</a:t>
            </a:r>
          </a:p>
          <a:p>
            <a:pPr algn="l"/>
            <a:r>
              <a:rPr sz="4400" dirty="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4400" dirty="0">
                <a:solidFill>
                  <a:srgbClr val="E8E8E8"/>
                </a:solidFill>
                <a:latin typeface="Consolas"/>
              </a:rPr>
              <a:t>docker </a:t>
            </a:r>
            <a:r>
              <a:rPr sz="4400" dirty="0" err="1">
                <a:solidFill>
                  <a:srgbClr val="E8E8E8"/>
                </a:solidFill>
                <a:latin typeface="Consolas"/>
              </a:rPr>
              <a:t>ps</a:t>
            </a:r>
            <a:endParaRPr sz="4400" dirty="0">
              <a:solidFill>
                <a:srgbClr val="E8E8E8"/>
              </a:solidFill>
              <a:latin typeface="Consolas"/>
            </a:endParaRPr>
          </a:p>
          <a:p>
            <a:pPr algn="l"/>
            <a:r>
              <a:rPr sz="4400" dirty="0">
                <a:solidFill>
                  <a:srgbClr val="FFFF00"/>
                </a:solidFill>
                <a:latin typeface="Consolas"/>
              </a:rPr>
              <a:t># </a:t>
            </a:r>
            <a:r>
              <a:rPr sz="4400" dirty="0" err="1">
                <a:solidFill>
                  <a:srgbClr val="FFFF00"/>
                </a:solidFill>
                <a:latin typeface="Consolas"/>
              </a:rPr>
              <a:t>resultado</a:t>
            </a:r>
            <a:r>
              <a:rPr sz="4400" dirty="0">
                <a:solidFill>
                  <a:srgbClr val="FFFF00"/>
                </a:solidFill>
                <a:latin typeface="Consolas"/>
              </a:rPr>
              <a:t> </a:t>
            </a:r>
            <a:r>
              <a:rPr sz="4400" dirty="0" err="1">
                <a:solidFill>
                  <a:srgbClr val="FFFF00"/>
                </a:solidFill>
                <a:latin typeface="Consolas"/>
              </a:rPr>
              <a:t>esperado</a:t>
            </a:r>
            <a:r>
              <a:rPr sz="4400" dirty="0">
                <a:solidFill>
                  <a:srgbClr val="FFFF00"/>
                </a:solidFill>
                <a:latin typeface="Consolas"/>
              </a:rPr>
              <a:t>: containers com status "Up"</a:t>
            </a:r>
          </a:p>
          <a:p>
            <a:pPr algn="l"/>
            <a:r>
              <a:rPr sz="4400" dirty="0">
                <a:solidFill>
                  <a:srgbClr val="FFFF00"/>
                </a:solidFill>
                <a:latin typeface="Consolas"/>
              </a:rPr>
              <a:t> </a:t>
            </a:r>
          </a:p>
          <a:p>
            <a:pPr algn="l"/>
            <a:r>
              <a:rPr sz="4400" dirty="0">
                <a:solidFill>
                  <a:srgbClr val="FFFF00"/>
                </a:solidFill>
                <a:latin typeface="Consolas"/>
              </a:rPr>
              <a:t># UI </a:t>
            </a:r>
            <a:r>
              <a:rPr sz="4400" dirty="0" err="1">
                <a:solidFill>
                  <a:srgbClr val="FFFF00"/>
                </a:solidFill>
                <a:latin typeface="Consolas"/>
              </a:rPr>
              <a:t>disponível</a:t>
            </a:r>
            <a:r>
              <a:rPr sz="4400" dirty="0">
                <a:solidFill>
                  <a:srgbClr val="FFFF00"/>
                </a:solidFill>
                <a:latin typeface="Consolas"/>
              </a:rPr>
              <a:t> </a:t>
            </a:r>
            <a:r>
              <a:rPr sz="4400" dirty="0" err="1">
                <a:solidFill>
                  <a:srgbClr val="FFFF00"/>
                </a:solidFill>
                <a:latin typeface="Consolas"/>
              </a:rPr>
              <a:t>em</a:t>
            </a:r>
            <a:r>
              <a:rPr sz="4400" dirty="0">
                <a:solidFill>
                  <a:srgbClr val="FFFF00"/>
                </a:solidFill>
                <a:latin typeface="Consolas"/>
              </a:rPr>
              <a:t>: http://localhost:8080</a:t>
            </a:r>
          </a:p>
          <a:p>
            <a:pPr algn="l"/>
            <a:r>
              <a:rPr sz="4400" dirty="0">
                <a:solidFill>
                  <a:srgbClr val="FFFF00"/>
                </a:solidFill>
                <a:latin typeface="Consolas"/>
              </a:rPr>
              <a:t># </a:t>
            </a:r>
            <a:r>
              <a:rPr sz="4400" dirty="0" err="1">
                <a:solidFill>
                  <a:srgbClr val="FFFF00"/>
                </a:solidFill>
                <a:latin typeface="Consolas"/>
              </a:rPr>
              <a:t>usuário</a:t>
            </a:r>
            <a:r>
              <a:rPr sz="4400" dirty="0">
                <a:solidFill>
                  <a:srgbClr val="FFFF00"/>
                </a:solidFill>
                <a:latin typeface="Consolas"/>
              </a:rPr>
              <a:t>/</a:t>
            </a:r>
            <a:r>
              <a:rPr sz="4400" dirty="0" err="1">
                <a:solidFill>
                  <a:srgbClr val="FFFF00"/>
                </a:solidFill>
                <a:latin typeface="Consolas"/>
              </a:rPr>
              <a:t>senha</a:t>
            </a:r>
            <a:r>
              <a:rPr sz="4400" dirty="0">
                <a:solidFill>
                  <a:srgbClr val="FFFF00"/>
                </a:solidFill>
                <a:latin typeface="Consolas"/>
              </a:rPr>
              <a:t>: airflow / airflow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9EE87-719A-3721-3757-01077998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35B9B-ABB8-4B22-9220-3480FDF7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A1-5 — Subir os Serviços do Airflow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CD54C-6DC5-B342-E882-C0A1F928ED6D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F2715D-1F50-8194-F69B-0084117D1B2B}"/>
              </a:ext>
            </a:extLst>
          </p:cNvPr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F3AB6-095B-1529-B61A-88C022D801D4}"/>
              </a:ext>
            </a:extLst>
          </p:cNvPr>
          <p:cNvSpPr txBox="1"/>
          <p:nvPr/>
        </p:nvSpPr>
        <p:spPr>
          <a:xfrm>
            <a:off x="1689100" y="3640900"/>
            <a:ext cx="1917065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800" dirty="0" err="1">
                <a:solidFill>
                  <a:srgbClr val="262626"/>
                </a:solidFill>
                <a:latin typeface="Calibri"/>
              </a:rPr>
              <a:t>Idêntico</a:t>
            </a:r>
            <a:r>
              <a:rPr sz="4800" dirty="0">
                <a:solidFill>
                  <a:srgbClr val="262626"/>
                </a:solidFill>
                <a:latin typeface="Calibri"/>
              </a:rPr>
              <a:t> </a:t>
            </a:r>
            <a:r>
              <a:rPr sz="48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800" dirty="0">
                <a:solidFill>
                  <a:srgbClr val="262626"/>
                </a:solidFill>
                <a:latin typeface="Calibri"/>
              </a:rPr>
              <a:t> WSL2 (Windows) e Linux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B26190E-CD40-19E1-33F5-CE931EBA50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960"/>
          <a:stretch>
            <a:fillRect/>
          </a:stretch>
        </p:blipFill>
        <p:spPr>
          <a:xfrm>
            <a:off x="1574528" y="5161447"/>
            <a:ext cx="16158988" cy="465565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A9502A9-4382-3CD9-1260-FD2E6A98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988"/>
          <a:stretch>
            <a:fillRect/>
          </a:stretch>
        </p:blipFill>
        <p:spPr>
          <a:xfrm>
            <a:off x="17733516" y="5161447"/>
            <a:ext cx="3233088" cy="465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54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66E61-FEB7-909C-52B8-FBC344F9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A32E-9C19-E065-E518-06B368ED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840014"/>
          </a:xfrm>
        </p:spPr>
        <p:txBody>
          <a:bodyPr/>
          <a:lstStyle/>
          <a:p>
            <a:pPr algn="l"/>
            <a:r>
              <a:rPr sz="3600" b="1" dirty="0">
                <a:solidFill>
                  <a:srgbClr val="0070C0"/>
                </a:solidFill>
                <a:latin typeface="Calibri"/>
              </a:rPr>
              <a:t>Passo A1-5 — Subir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os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Serviços do Airflow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84C27-6E58-D15D-D52C-16A8593008C7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63CAA9-6938-68EA-BB8B-1AC45780FDAA}"/>
              </a:ext>
            </a:extLst>
          </p:cNvPr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8BF39BA-5B88-4BF5-5206-CD24C1C56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60" y="2582915"/>
            <a:ext cx="19628102" cy="301960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35DE8C64-D3B0-5007-C673-92B844794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860" y="6003745"/>
            <a:ext cx="1941389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airflow-scheduler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decide quando cada tarefa deve rodar e distribui pro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worker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airflow-worker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executa de fato o código Python de cada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task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extract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/clean/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load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acontecem aqui).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airflow-triggerer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cuida das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tasks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"adiáveis" (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deferrable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esperando eventos assíncronos sem prender um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worker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parado.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airflow</a:t>
            </a:r>
            <a:r>
              <a:rPr kumimoji="0" lang="pt-BR" altLang="pt-B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pt-BR" altLang="pt-BR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dag</a:t>
            </a:r>
            <a:r>
              <a:rPr kumimoji="0" lang="pt-BR" altLang="pt-B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-processor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só lê e interpreta os arquivos .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 pasta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dags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 (separado do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scheduler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desde o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Airflow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3.x).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airflow-apiserver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serve a UI e a API REST na porta 8080 (chamava-se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webserver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Airflow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2.x).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postgres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banco de metadados, guarda o estado de cada execução e alimenta a UI.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redis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fila de mensagens do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Celery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passa a tarefa do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scheduler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worker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kindest</a:t>
            </a:r>
            <a:r>
              <a:rPr kumimoji="0" lang="pt-BR" altLang="pt-B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/node</a:t>
            </a:r>
            <a:r>
              <a:rPr kumimoji="0" lang="pt-BR" altLang="pt-B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(x3)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 clusters Kind (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Kubernetes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in-Docker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rodando há dias, provável sobra de testes anteriores; não atrapalham o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Airflow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mas consomem recursos à toa (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kind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clusters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kind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delete cluster --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&lt;nome&gt;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pra limpar).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2530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617900"/>
          </a:xfrm>
        </p:spPr>
        <p:txBody>
          <a:bodyPr>
            <a:normAutofit fontScale="90000"/>
          </a:bodyPr>
          <a:lstStyle/>
          <a:p>
            <a:pPr algn="l"/>
            <a:r>
              <a:rPr sz="3400" b="1" dirty="0">
                <a:solidFill>
                  <a:srgbClr val="0070C0"/>
                </a:solidFill>
                <a:latin typeface="Calibri"/>
              </a:rPr>
              <a:t>Checkpoint: Pratique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2230800"/>
            <a:ext cx="19170650" cy="25391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dirty="0">
                <a:solidFill>
                  <a:srgbClr val="262626"/>
                </a:solidFill>
                <a:latin typeface="Calibri"/>
              </a:rPr>
              <a:t>Suba o Airflow no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ambiente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local (airflow-demo/) com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5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passos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acima</a:t>
            </a:r>
            <a:r>
              <a:rPr lang="en-US" sz="3600" dirty="0">
                <a:solidFill>
                  <a:srgbClr val="262626"/>
                </a:solidFill>
                <a:latin typeface="Calibri"/>
              </a:rPr>
              <a:t>  -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Acesse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endParaRPr lang="en-US" sz="36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dirty="0">
                <a:solidFill>
                  <a:srgbClr val="262626"/>
                </a:solidFill>
                <a:latin typeface="Calibri"/>
                <a:hlinkClick r:id="rId2"/>
              </a:rPr>
              <a:t>http://localhost:8080</a:t>
            </a:r>
            <a:endParaRPr lang="en-US" sz="36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pt-BR" sz="3600" dirty="0">
                <a:solidFill>
                  <a:srgbClr val="262626"/>
                </a:solidFill>
                <a:latin typeface="Calibri"/>
              </a:rPr>
              <a:t>L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ogin</a:t>
            </a:r>
            <a:r>
              <a:rPr lang="en-US" sz="3600" dirty="0">
                <a:solidFill>
                  <a:srgbClr val="262626"/>
                </a:solidFill>
                <a:latin typeface="Calibri"/>
              </a:rPr>
              <a:t>: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airflow</a:t>
            </a:r>
            <a:r>
              <a:rPr lang="en-US" sz="3600" dirty="0">
                <a:solidFill>
                  <a:srgbClr val="262626"/>
                </a:solidFill>
                <a:latin typeface="Calibri"/>
              </a:rPr>
              <a:t>    </a:t>
            </a:r>
            <a:r>
              <a:rPr lang="en-US" sz="3600" dirty="0" err="1">
                <a:solidFill>
                  <a:srgbClr val="262626"/>
                </a:solidFill>
                <a:latin typeface="Calibri"/>
              </a:rPr>
              <a:t>passd</a:t>
            </a:r>
            <a:r>
              <a:rPr lang="en-US" sz="3600" dirty="0">
                <a:solidFill>
                  <a:srgbClr val="262626"/>
                </a:solidFill>
                <a:latin typeface="Calibri"/>
              </a:rPr>
              <a:t>: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airflow</a:t>
            </a:r>
            <a:endParaRPr lang="en-US" sz="36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3600" dirty="0">
              <a:solidFill>
                <a:srgbClr val="262626"/>
              </a:solidFill>
              <a:latin typeface="Calibri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F862168-E090-1CCE-8D1D-E61C48430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717" y="4174844"/>
            <a:ext cx="13853197" cy="77957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44C86-5AEB-AC9A-6AB1-CAE4A0D5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40E261-8A3D-BFB3-9FC0-01F13AB541D9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451A81-2A24-DF90-D0FC-47B6405F4D34}"/>
              </a:ext>
            </a:extLst>
          </p:cNvPr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701A66B-0173-C892-3A66-D6DAEF2B1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596" y="1685664"/>
            <a:ext cx="15862748" cy="106000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3631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>
            <a:normAutofit/>
          </a:bodyPr>
          <a:lstStyle/>
          <a:p>
            <a:pPr algn="l"/>
            <a:r>
              <a:rPr sz="7200" b="1" dirty="0">
                <a:solidFill>
                  <a:srgbClr val="004A8F"/>
                </a:solidFill>
                <a:latin typeface="Calibri"/>
              </a:rPr>
              <a:t>O ETL do </a:t>
            </a:r>
            <a:r>
              <a:rPr sz="7200" b="1" dirty="0" err="1">
                <a:solidFill>
                  <a:srgbClr val="004A8F"/>
                </a:solidFill>
                <a:latin typeface="Calibri"/>
              </a:rPr>
              <a:t>Projeto</a:t>
            </a:r>
            <a:r>
              <a:rPr sz="7200" b="1" dirty="0">
                <a:solidFill>
                  <a:srgbClr val="004A8F"/>
                </a:solidFill>
                <a:latin typeface="Calibri"/>
              </a:rPr>
              <a:t>, Agora com Dados "</a:t>
            </a:r>
            <a:r>
              <a:rPr sz="7200" b="1" dirty="0" err="1">
                <a:solidFill>
                  <a:srgbClr val="004A8F"/>
                </a:solidFill>
                <a:latin typeface="Calibri"/>
              </a:rPr>
              <a:t>Sujos</a:t>
            </a:r>
            <a:r>
              <a:rPr sz="7200" b="1" dirty="0">
                <a:solidFill>
                  <a:srgbClr val="004A8F"/>
                </a:solidFill>
                <a:latin typeface="Calibri"/>
              </a:rPr>
              <a:t>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>
            <a:normAutofit fontScale="25000" lnSpcReduction="20000"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Na Aula 04, o exemplo usava um CSV já relativamente limpo. Hoje vamos sujar os dados DE PROPÓSITO para ver a task clean() realmente fazer alguma coisa.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99713" y="3124400"/>
            <a:ext cx="797205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dirty="0">
                <a:solidFill>
                  <a:srgbClr val="F5AC00"/>
                </a:solidFill>
                <a:latin typeface="Calibri"/>
              </a:rPr>
              <a:t>CONSTRUÇÃO — PARTE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As Siglas de Hoje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ETL:  </a:t>
            </a:r>
            <a:r>
              <a:rPr sz="4000">
                <a:solidFill>
                  <a:srgbClr val="262626"/>
                </a:solidFill>
                <a:latin typeface="Calibri"/>
              </a:rPr>
              <a:t>Extract, Transform, Load (Extração, Transformação, Carga) — o padrão clássico de pipeline de dados: buscar o dado bruto, limpar/ajustar, e gravar o resultado tratado.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DAG:  </a:t>
            </a:r>
            <a:r>
              <a:rPr sz="4000">
                <a:solidFill>
                  <a:srgbClr val="262626"/>
                </a:solidFill>
                <a:latin typeface="Calibri"/>
              </a:rPr>
              <a:t>Directed Acyclic Graph (Grafo Acíclico Dirigido) — a estrutura que o Airflow usa para organizar tarefas: uma sequência de passos que só andam para frente, sem loops.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XCom:  </a:t>
            </a:r>
            <a:r>
              <a:rPr sz="4000">
                <a:solidFill>
                  <a:srgbClr val="262626"/>
                </a:solidFill>
                <a:latin typeface="Calibri"/>
              </a:rPr>
              <a:t>Cross-Communication — o mecanismo do Airflow para passar pequenos pedaços de dado de uma task para a próxima, dentro do mesmo DAG.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UI:  </a:t>
            </a:r>
            <a:r>
              <a:rPr sz="4000">
                <a:solidFill>
                  <a:srgbClr val="262626"/>
                </a:solidFill>
                <a:latin typeface="Calibri"/>
              </a:rPr>
              <a:t>User Interface (Interface do Usuário) — no nosso caso, a tela web do Airflow em localhost:8080.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  <p:pic>
        <p:nvPicPr>
          <p:cNvPr id="5" name="Picture 4" descr="img_airflow_e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17" y="1445985"/>
            <a:ext cx="19791060" cy="110740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 dirty="0">
                <a:solidFill>
                  <a:srgbClr val="0070C0"/>
                </a:solidFill>
                <a:latin typeface="Calibri"/>
              </a:rPr>
              <a:t>Por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Que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Precisamos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de Dados "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Sujos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" Para Testar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problema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400" dirty="0">
                <a:solidFill>
                  <a:srgbClr val="262626"/>
                </a:solidFill>
                <a:latin typeface="Calibri"/>
              </a:rPr>
              <a:t>o bos_sinteticos.csv da Aula 01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já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vem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com 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texto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relativamente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arrumado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rodar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o DAG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nele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PROVA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a task clean()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faz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alguma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coisa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porque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resultado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é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quase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igual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de entrada.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dirty="0">
                <a:solidFill>
                  <a:srgbClr val="004A8F"/>
                </a:solidFill>
                <a:latin typeface="Calibri"/>
              </a:rPr>
              <a:t>A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solução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de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hoje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gerar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versão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"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suja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" do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dataset —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espaços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extras, MAIÚSCULAS,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espaçamento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irregular — 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ver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o clean() (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str.lower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().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str.strip</a:t>
            </a:r>
            <a:r>
              <a:rPr sz="4400" dirty="0">
                <a:solidFill>
                  <a:srgbClr val="262626"/>
                </a:solidFill>
                <a:latin typeface="Calibri"/>
              </a:rPr>
              <a:t>()) resolver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verdade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, campo a campo.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dirty="0">
                <a:solidFill>
                  <a:srgbClr val="004A8F"/>
                </a:solidFill>
                <a:latin typeface="Calibri"/>
              </a:rPr>
              <a:t>Dados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fictícios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400" dirty="0">
                <a:solidFill>
                  <a:srgbClr val="262626"/>
                </a:solidFill>
                <a:latin typeface="Calibri"/>
              </a:rPr>
              <a:t>tanto o dataset original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quanto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versão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suja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são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100%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sintéticos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nenhuma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informação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real de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nenhum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caso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752929"/>
          </a:xfrm>
        </p:spPr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Antes e Depois: o Que a Task clean()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  <p:pic>
        <p:nvPicPr>
          <p:cNvPr id="5" name="Picture 4" descr="img_dados_sujos.png"/>
          <p:cNvPicPr>
            <a:picLocks noChangeAspect="1"/>
          </p:cNvPicPr>
          <p:nvPr/>
        </p:nvPicPr>
        <p:blipFill>
          <a:blip r:embed="rId2"/>
          <a:srcRect l="2987" t="13243" r="3462" b="11618"/>
          <a:stretch>
            <a:fillRect/>
          </a:stretch>
        </p:blipFill>
        <p:spPr>
          <a:xfrm>
            <a:off x="1494970" y="2634343"/>
            <a:ext cx="19748723" cy="887548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A2-1 — O Dataset Sujo Já Vem Pronto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dirty="0">
                <a:solidFill>
                  <a:srgbClr val="004A8F"/>
                </a:solidFill>
                <a:latin typeface="Calibri"/>
              </a:rPr>
              <a:t>Onde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está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400" dirty="0">
                <a:solidFill>
                  <a:srgbClr val="262626"/>
                </a:solidFill>
                <a:latin typeface="Calibri"/>
              </a:rPr>
              <a:t>aula5_material/bos_sinteticos_sujo.csv —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já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entregue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pronto, junto com o restante do material. NÃO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precisa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rodar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nenhum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programa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chegar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até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aqui</a:t>
            </a:r>
            <a:r>
              <a:rPr sz="44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tem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dentro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400" dirty="0">
                <a:solidFill>
                  <a:srgbClr val="262626"/>
                </a:solidFill>
                <a:latin typeface="Calibri"/>
              </a:rPr>
              <a:t>as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mesmas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40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linhas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fictícias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do bos_sinteticos.csv (Aula 01),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com 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coluna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texto_relato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(e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metade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natureza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)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sujada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propósito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: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espaços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nas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pontas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, MAIÚSCULAS,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espaços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duplos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no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meio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, tabs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sobrando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dirty="0" err="1">
                <a:solidFill>
                  <a:srgbClr val="004A8F"/>
                </a:solidFill>
                <a:latin typeface="Calibri"/>
              </a:rPr>
              <a:t>Próximo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passo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400" dirty="0">
                <a:solidFill>
                  <a:srgbClr val="262626"/>
                </a:solidFill>
                <a:latin typeface="Calibri"/>
              </a:rPr>
              <a:t>é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copiar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esse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arquivo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dentro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de ./data/ (Passo A2-2, 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seguir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) —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gerar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nada antes.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Opcional: Quer Gerar os SEUS Próprios Dados Sujos?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Só se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você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quiser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usar o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tema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do SEU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projeto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o dataset pronto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acima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já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é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suficiente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para 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prática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isto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aqui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é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para quem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quiser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além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Script pronto: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aula5_material/gerar_dados_sujos.py —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usa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random.seed</a:t>
            </a:r>
            <a:r>
              <a:rPr sz="3600" dirty="0">
                <a:solidFill>
                  <a:srgbClr val="262626"/>
                </a:solidFill>
                <a:latin typeface="Calibri"/>
              </a:rPr>
              <a:t>(42) (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resultado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reproduzível</a:t>
            </a:r>
            <a:r>
              <a:rPr sz="3600" dirty="0">
                <a:solidFill>
                  <a:srgbClr val="262626"/>
                </a:solidFill>
                <a:latin typeface="Calibri"/>
              </a:rPr>
              <a:t>). Uso: python3 gerar_dados_sujos.py bos_sinteticos.csv bos_sinteticos_sujo.csv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Prompt pronto: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aula5_material/PROMPT_gerar_dados_sujos.txt — com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colchetes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[ ] para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preencher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com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nome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colunas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tema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do SEU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projeto-guia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caso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prefira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pedir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a um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assistente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IA para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gerar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script.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Por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isso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importa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para a Entrega: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a Entrega 4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pede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evidência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do DAG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rodando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no SEU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projeto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— usar dados do SEU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tema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(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fictícios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)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deixa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convincente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reaproveitar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BO da PCDF, mas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é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obrigatório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A2-2 — Substituir o CSV Usado pelo DAG (Idêntico nos 2 SOs)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dirty="0">
                <a:solidFill>
                  <a:srgbClr val="262626"/>
                </a:solidFill>
                <a:latin typeface="Calibri"/>
              </a:rPr>
              <a:t>O DAG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lê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sempre "bos_sinteticos.csv"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por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arquivo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sujo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é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copiado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com ESSE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nome</a:t>
            </a:r>
            <a:endParaRPr sz="400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sz="3600" dirty="0">
                <a:solidFill>
                  <a:srgbClr val="E8E8E8"/>
                </a:solidFill>
                <a:latin typeface="Consolas"/>
              </a:rPr>
              <a:t>cp aula5_material/bos_sinteticos_sujo.csv ./data/bos_sinteticos.csv</a:t>
            </a:r>
          </a:p>
          <a:p>
            <a:pPr algn="l"/>
            <a:r>
              <a:rPr sz="3600" dirty="0">
                <a:solidFill>
                  <a:srgbClr val="E8E8E8"/>
                </a:solidFill>
                <a:latin typeface="Consolas"/>
              </a:rPr>
              <a:t>cp aula5_material/dag_ingestao_bo.py ./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dags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/</a:t>
            </a:r>
          </a:p>
          <a:p>
            <a:pPr algn="l"/>
            <a:r>
              <a:rPr sz="3600" dirty="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3600" dirty="0">
                <a:solidFill>
                  <a:srgbClr val="E8E8E8"/>
                </a:solidFill>
                <a:latin typeface="Consolas"/>
              </a:rPr>
              <a:t># </a:t>
            </a:r>
            <a:r>
              <a:rPr lang="en-US" sz="3600" dirty="0">
                <a:solidFill>
                  <a:srgbClr val="E8E8E8"/>
                </a:solidFill>
                <a:latin typeface="Consolas"/>
              </a:rPr>
              <a:t>Pode ser Feito </a:t>
            </a:r>
            <a:r>
              <a:rPr lang="en-US" sz="3600" dirty="0" err="1">
                <a:solidFill>
                  <a:srgbClr val="E8E8E8"/>
                </a:solidFill>
                <a:latin typeface="Consolas"/>
              </a:rPr>
              <a:t>pelo</a:t>
            </a:r>
            <a:r>
              <a:rPr lang="en-US" sz="3600" dirty="0">
                <a:solidFill>
                  <a:srgbClr val="E8E8E8"/>
                </a:solidFill>
                <a:latin typeface="Consolas"/>
              </a:rPr>
              <a:t> Explorer se </a:t>
            </a:r>
            <a:r>
              <a:rPr lang="en-US" sz="3600" dirty="0" err="1">
                <a:solidFill>
                  <a:srgbClr val="E8E8E8"/>
                </a:solidFill>
                <a:latin typeface="Consolas"/>
              </a:rPr>
              <a:t>estiver</a:t>
            </a:r>
            <a:r>
              <a:rPr lang="en-US" sz="3600" dirty="0">
                <a:solidFill>
                  <a:srgbClr val="E8E8E8"/>
                </a:solidFill>
                <a:latin typeface="Consolas"/>
              </a:rPr>
              <a:t> </a:t>
            </a:r>
            <a:r>
              <a:rPr lang="en-US" sz="3600" dirty="0" err="1">
                <a:solidFill>
                  <a:srgbClr val="E8E8E8"/>
                </a:solidFill>
                <a:latin typeface="Consolas"/>
              </a:rPr>
              <a:t>em</a:t>
            </a:r>
            <a:r>
              <a:rPr lang="en-US" sz="3600" dirty="0">
                <a:solidFill>
                  <a:srgbClr val="E8E8E8"/>
                </a:solidFill>
                <a:latin typeface="Consolas"/>
              </a:rPr>
              <a:t> WSL</a:t>
            </a:r>
          </a:p>
          <a:p>
            <a:pPr algn="l"/>
            <a:r>
              <a:rPr lang="pt-BR" sz="3600" dirty="0">
                <a:solidFill>
                  <a:srgbClr val="E8E8E8"/>
                </a:solidFill>
                <a:latin typeface="Consolas"/>
              </a:rPr>
              <a:t># 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o Airflow 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detecta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 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arquivos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 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novos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 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em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 ./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dags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/ 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automaticamente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 algn="l"/>
            <a:r>
              <a:rPr sz="3600" dirty="0">
                <a:solidFill>
                  <a:srgbClr val="E8E8E8"/>
                </a:solidFill>
                <a:latin typeface="Consolas"/>
              </a:rPr>
              <a:t># 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em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 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até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 1 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minuto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 (scheduler 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faz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 o scan </a:t>
            </a:r>
            <a:r>
              <a:rPr sz="3600" dirty="0" err="1">
                <a:solidFill>
                  <a:srgbClr val="E8E8E8"/>
                </a:solidFill>
                <a:latin typeface="Consolas"/>
              </a:rPr>
              <a:t>periódico</a:t>
            </a:r>
            <a:r>
              <a:rPr sz="3600" dirty="0">
                <a:solidFill>
                  <a:srgbClr val="E8E8E8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591672"/>
          </a:xfrm>
        </p:spPr>
        <p:txBody>
          <a:bodyPr/>
          <a:lstStyle/>
          <a:p>
            <a:pPr algn="l"/>
            <a:r>
              <a:rPr sz="3000" b="1" dirty="0">
                <a:solidFill>
                  <a:srgbClr val="0070C0"/>
                </a:solidFill>
                <a:latin typeface="Calibri"/>
              </a:rPr>
              <a:t>O DAG </a:t>
            </a:r>
            <a:r>
              <a:rPr sz="3000" b="1" dirty="0" err="1">
                <a:solidFill>
                  <a:srgbClr val="0070C0"/>
                </a:solidFill>
                <a:latin typeface="Calibri"/>
              </a:rPr>
              <a:t>Completo</a:t>
            </a:r>
            <a:r>
              <a:rPr sz="3000" b="1" dirty="0">
                <a:solidFill>
                  <a:srgbClr val="0070C0"/>
                </a:solidFill>
                <a:latin typeface="Calibri"/>
              </a:rPr>
              <a:t>, </a:t>
            </a:r>
            <a:r>
              <a:rPr sz="3000" b="1" dirty="0" err="1">
                <a:solidFill>
                  <a:srgbClr val="0070C0"/>
                </a:solidFill>
                <a:latin typeface="Calibri"/>
              </a:rPr>
              <a:t>Explicado</a:t>
            </a:r>
            <a:r>
              <a:rPr sz="30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0070C0"/>
                </a:solidFill>
                <a:latin typeface="Calibri"/>
              </a:rPr>
              <a:t>ao</a:t>
            </a:r>
            <a:r>
              <a:rPr sz="3000" b="1" dirty="0">
                <a:solidFill>
                  <a:srgbClr val="0070C0"/>
                </a:solidFill>
                <a:latin typeface="Calibri"/>
              </a:rPr>
              <a:t> 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0273" y="2274572"/>
            <a:ext cx="179283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i="1">
                <a:solidFill>
                  <a:srgbClr val="595959"/>
                </a:solidFill>
                <a:latin typeface="Calibri"/>
              </a:rPr>
              <a:t>dag_ingestao_bo.py — roda dentro do container airflow-worker (código sem nenhuma mudança em relação à Aula 04)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19943" y="3020626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dag_ingestao_bo.py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35268" y="3020626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Com Dados Sujos, Agora Fica Visível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9943" y="3410626"/>
            <a:ext cx="9455325" cy="86924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19943" y="3410626"/>
            <a:ext cx="9455325" cy="400000"/>
          </a:xfrm>
          <a:prstGeom prst="roundRect">
            <a:avLst>
              <a:gd name="adj" fmla="val 22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19943" y="3610626"/>
            <a:ext cx="9455325" cy="20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99943" y="3540626"/>
            <a:ext cx="130000" cy="13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39943" y="3540626"/>
            <a:ext cx="130000" cy="13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279943" y="3540626"/>
            <a:ext cx="130000" cy="13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19943" y="3485626"/>
            <a:ext cx="9455325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95959"/>
                </a:solidFill>
                <a:latin typeface="Consolas"/>
              </a:rPr>
              <a:t>dag_ingestao_bo.py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9943" y="3920626"/>
            <a:ext cx="9115325" cy="74071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1" i="0" dirty="0">
                <a:solidFill>
                  <a:srgbClr val="F5AC00"/>
                </a:solidFill>
                <a:latin typeface="Consolas"/>
              </a:rPr>
              <a:t>from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airflow </a:t>
            </a:r>
            <a:r>
              <a:rPr sz="1600" b="1" i="0" dirty="0">
                <a:solidFill>
                  <a:srgbClr val="F5AC00"/>
                </a:solidFill>
                <a:latin typeface="Consolas"/>
              </a:rPr>
              <a:t>import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DAG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1" i="0" dirty="0">
                <a:solidFill>
                  <a:srgbClr val="F5AC00"/>
                </a:solidFill>
                <a:latin typeface="Consolas"/>
              </a:rPr>
              <a:t>from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airflow.operators.python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</a:t>
            </a:r>
            <a:r>
              <a:rPr sz="1600" b="1" i="0" dirty="0">
                <a:solidFill>
                  <a:srgbClr val="F5AC00"/>
                </a:solidFill>
                <a:latin typeface="Consolas"/>
              </a:rPr>
              <a:t>import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PythonOperator</a:t>
            </a:r>
            <a:endParaRPr sz="16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1" i="0" dirty="0">
                <a:solidFill>
                  <a:srgbClr val="F5AC00"/>
                </a:solidFill>
                <a:latin typeface="Consolas"/>
              </a:rPr>
              <a:t>from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datetime </a:t>
            </a:r>
            <a:r>
              <a:rPr sz="1600" b="1" i="0" dirty="0">
                <a:solidFill>
                  <a:srgbClr val="F5AC00"/>
                </a:solidFill>
                <a:latin typeface="Consolas"/>
              </a:rPr>
              <a:t>import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datetime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1" i="0" dirty="0">
                <a:solidFill>
                  <a:srgbClr val="F5AC00"/>
                </a:solidFill>
                <a:latin typeface="Consolas"/>
              </a:rPr>
              <a:t>import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pandas </a:t>
            </a:r>
            <a:r>
              <a:rPr sz="1600" b="1" i="0" dirty="0">
                <a:solidFill>
                  <a:srgbClr val="F5AC00"/>
                </a:solidFill>
                <a:latin typeface="Consolas"/>
              </a:rPr>
              <a:t>as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pd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endParaRPr sz="16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1" i="0" dirty="0">
                <a:solidFill>
                  <a:srgbClr val="F5AC00"/>
                </a:solidFill>
                <a:latin typeface="Consolas"/>
              </a:rPr>
              <a:t>def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extract(**kw):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df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pd.read_csv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"/opt/airflow/data/bos_sinteticos.csv"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kw[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 err="1">
                <a:solidFill>
                  <a:srgbClr val="2E7D32"/>
                </a:solidFill>
                <a:latin typeface="Consolas"/>
              </a:rPr>
              <a:t>ti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].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xcom_push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(key=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"raw"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, value=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df.to_json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())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endParaRPr sz="16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1" i="0" dirty="0">
                <a:solidFill>
                  <a:srgbClr val="F5AC00"/>
                </a:solidFill>
                <a:latin typeface="Consolas"/>
              </a:rPr>
              <a:t>def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clean(**kw):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raw = kw[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 err="1">
                <a:solidFill>
                  <a:srgbClr val="2E7D32"/>
                </a:solidFill>
                <a:latin typeface="Consolas"/>
              </a:rPr>
              <a:t>ti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].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xcom_pull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(key=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"raw"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df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pd.read_json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(raw)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df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[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 err="1">
                <a:solidFill>
                  <a:srgbClr val="2E7D32"/>
                </a:solidFill>
                <a:latin typeface="Consolas"/>
              </a:rPr>
              <a:t>texto_relato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] = (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df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[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 err="1">
                <a:solidFill>
                  <a:srgbClr val="2E7D32"/>
                </a:solidFill>
                <a:latin typeface="Consolas"/>
              </a:rPr>
              <a:t>texto_relato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].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str.lower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().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str.strip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())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kw[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 err="1">
                <a:solidFill>
                  <a:srgbClr val="2E7D32"/>
                </a:solidFill>
                <a:latin typeface="Consolas"/>
              </a:rPr>
              <a:t>ti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].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xcom_push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(key=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"clean"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, value=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df.to_json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())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endParaRPr sz="16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1" i="0" dirty="0">
                <a:solidFill>
                  <a:srgbClr val="F5AC00"/>
                </a:solidFill>
                <a:latin typeface="Consolas"/>
              </a:rPr>
              <a:t>def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load(**kw):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clean_data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= kw[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 err="1">
                <a:solidFill>
                  <a:srgbClr val="2E7D32"/>
                </a:solidFill>
                <a:latin typeface="Consolas"/>
              </a:rPr>
              <a:t>ti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].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xcom_pull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(key=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"clean"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df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pd.read_json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clean_data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df.to_csv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"/opt/airflow/data/bos_tratados.csv"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, index=</a:t>
            </a:r>
            <a:r>
              <a:rPr sz="1600" b="1" i="0" dirty="0">
                <a:solidFill>
                  <a:srgbClr val="F5AC00"/>
                </a:solidFill>
                <a:latin typeface="Consolas"/>
              </a:rPr>
              <a:t>False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endParaRPr sz="16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1" i="0" dirty="0">
                <a:solidFill>
                  <a:srgbClr val="F5AC00"/>
                </a:solidFill>
                <a:latin typeface="Consolas"/>
              </a:rPr>
              <a:t>with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DAG(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 err="1">
                <a:solidFill>
                  <a:srgbClr val="2E7D32"/>
                </a:solidFill>
                <a:latin typeface="Consolas"/>
              </a:rPr>
              <a:t>ingestao_bo_pcdf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    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start_date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=datetime(2026, 1, 1),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     schedule=</a:t>
            </a:r>
            <a:r>
              <a:rPr sz="1600" b="1" i="0" dirty="0">
                <a:solidFill>
                  <a:srgbClr val="F5AC00"/>
                </a:solidFill>
                <a:latin typeface="Consolas"/>
              </a:rPr>
              <a:t>None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, catchup=</a:t>
            </a:r>
            <a:r>
              <a:rPr sz="1600" b="1" i="0" dirty="0">
                <a:solidFill>
                  <a:srgbClr val="F5AC00"/>
                </a:solidFill>
                <a:latin typeface="Consolas"/>
              </a:rPr>
              <a:t>False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) </a:t>
            </a:r>
            <a:r>
              <a:rPr sz="1600" b="1" i="0" dirty="0">
                <a:solidFill>
                  <a:srgbClr val="F5AC00"/>
                </a:solidFill>
                <a:latin typeface="Consolas"/>
              </a:rPr>
              <a:t>as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dag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t1 =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PythonOperator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task_id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=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"extract"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python_callable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=extract)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t2 =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PythonOperator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task_id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=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"clean"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,</a:t>
            </a:r>
            <a:r>
              <a:rPr lang="en-US" sz="1600" b="0" i="0" dirty="0">
                <a:solidFill>
                  <a:srgbClr val="262626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python_callable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=clean)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t3 =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PythonOperator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(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task_id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=</a:t>
            </a:r>
            <a:r>
              <a:rPr sz="1600" b="0" i="0" dirty="0">
                <a:solidFill>
                  <a:srgbClr val="2E7D32"/>
                </a:solidFill>
                <a:latin typeface="Consolas"/>
              </a:rPr>
              <a:t>"load"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,</a:t>
            </a:r>
            <a:r>
              <a:rPr lang="en-US" sz="1600" b="0" i="0" dirty="0">
                <a:solidFill>
                  <a:srgbClr val="262626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Consolas"/>
              </a:rPr>
              <a:t>python_callable</a:t>
            </a:r>
            <a:r>
              <a:rPr sz="1600" b="0" i="0" dirty="0">
                <a:solidFill>
                  <a:srgbClr val="262626"/>
                </a:solidFill>
                <a:latin typeface="Consolas"/>
              </a:rPr>
              <a:t>=load)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600" b="0" i="0" dirty="0">
                <a:solidFill>
                  <a:srgbClr val="262626"/>
                </a:solidFill>
                <a:latin typeface="Consolas"/>
              </a:rPr>
              <a:t>    t1 &gt;&gt; t2 &gt;&gt; t3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5268" y="3410626"/>
            <a:ext cx="9455325" cy="70480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 dirty="0">
                <a:solidFill>
                  <a:srgbClr val="004A8F"/>
                </a:solidFill>
                <a:latin typeface="Calibri"/>
              </a:rPr>
              <a:t>extract (E): 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lê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CSV SUJO do volume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montado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espaços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maiúsculas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tudo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entram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filtro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nenhum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</a:t>
            </a:r>
            <a:endParaRPr lang="en-US" sz="28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endParaRPr sz="28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 dirty="0">
                <a:solidFill>
                  <a:srgbClr val="004A8F"/>
                </a:solidFill>
                <a:latin typeface="Calibri"/>
              </a:rPr>
              <a:t>clean (T):  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str.lower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().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str.strip</a:t>
            </a:r>
            <a:r>
              <a:rPr sz="2800" dirty="0">
                <a:solidFill>
                  <a:srgbClr val="262626"/>
                </a:solidFill>
                <a:latin typeface="Calibri"/>
              </a:rPr>
              <a:t>() resolve MAIÚSCULAS 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espaços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nas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PONTAS — mas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mexe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espaços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duplos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NO MEIO do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texto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(compare no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diagrama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anterior).</a:t>
            </a:r>
            <a:endParaRPr lang="en-US" sz="28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endParaRPr sz="28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 dirty="0">
                <a:solidFill>
                  <a:srgbClr val="004A8F"/>
                </a:solidFill>
                <a:latin typeface="Calibri"/>
              </a:rPr>
              <a:t>load (L): 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grava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resultado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já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está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bem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melhor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, mas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100%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perfeito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Ótimo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gancho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discutir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: "o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MAIS um clean() 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verdade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precisaria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fazer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?"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endParaRPr lang="en-US" sz="2800" b="1" dirty="0">
              <a:solidFill>
                <a:srgbClr val="004A8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 dirty="0" err="1">
                <a:solidFill>
                  <a:srgbClr val="004A8F"/>
                </a:solidFill>
                <a:latin typeface="Calibri"/>
              </a:rPr>
              <a:t>Pergunta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para a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turma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2800" dirty="0">
                <a:solidFill>
                  <a:srgbClr val="262626"/>
                </a:solidFill>
                <a:latin typeface="Calibri"/>
              </a:rPr>
              <a:t>quem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souber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Python: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método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vocês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usariam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também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remover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espaços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duplos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no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meio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texto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A2-3/A2-4 — Localizar, Ativar e Disparar o DAG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4400" b="1" dirty="0">
                <a:solidFill>
                  <a:srgbClr val="004A8F"/>
                </a:solidFill>
                <a:latin typeface="Calibri"/>
              </a:rPr>
              <a:t>Onde:  </a:t>
            </a:r>
            <a:r>
              <a:rPr sz="4400" dirty="0">
                <a:solidFill>
                  <a:srgbClr val="262626"/>
                </a:solidFill>
                <a:latin typeface="Calibri"/>
              </a:rPr>
              <a:t>http://localhost:8080 → procure "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ingestao_bo_pcdf</a:t>
            </a:r>
            <a:r>
              <a:rPr sz="4400" dirty="0">
                <a:solidFill>
                  <a:srgbClr val="262626"/>
                </a:solidFill>
                <a:latin typeface="Calibri"/>
              </a:rPr>
              <a:t>"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lista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de DAGs.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4400" b="1" dirty="0" err="1">
                <a:solidFill>
                  <a:srgbClr val="004A8F"/>
                </a:solidFill>
                <a:latin typeface="Calibri"/>
              </a:rPr>
              <a:t>Ativar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(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unpause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):  </a:t>
            </a:r>
            <a:r>
              <a:rPr sz="4400" dirty="0">
                <a:solidFill>
                  <a:srgbClr val="262626"/>
                </a:solidFill>
                <a:latin typeface="Calibri"/>
              </a:rPr>
              <a:t>clique no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botão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de toggle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lado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nome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do DAG — de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cinza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azul</a:t>
            </a:r>
            <a:r>
              <a:rPr sz="44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4400" b="1" dirty="0" err="1">
                <a:solidFill>
                  <a:srgbClr val="004A8F"/>
                </a:solidFill>
                <a:latin typeface="Calibri"/>
              </a:rPr>
              <a:t>Disparar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(trigger):  </a:t>
            </a:r>
            <a:r>
              <a:rPr sz="4400" dirty="0">
                <a:solidFill>
                  <a:srgbClr val="262626"/>
                </a:solidFill>
                <a:latin typeface="Calibri"/>
              </a:rPr>
              <a:t>clique no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ícone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de "play" (▶) à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direita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coluna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Actions.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4400" b="1" dirty="0" err="1">
                <a:solidFill>
                  <a:srgbClr val="004A8F"/>
                </a:solidFill>
                <a:latin typeface="Calibri"/>
              </a:rPr>
              <a:t>Resultado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esperado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400" dirty="0">
                <a:solidFill>
                  <a:srgbClr val="262626"/>
                </a:solidFill>
                <a:latin typeface="Calibri"/>
              </a:rPr>
              <a:t>as 3 tasks (extract, clean, load)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ficam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verdes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(success),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após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outra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1300000"/>
          </a:xfrm>
        </p:spPr>
        <p:txBody>
          <a:bodyPr/>
          <a:lstStyle/>
          <a:p>
            <a:pPr algn="l"/>
            <a:r>
              <a:rPr sz="3400" b="1" dirty="0">
                <a:solidFill>
                  <a:srgbClr val="0070C0"/>
                </a:solidFill>
                <a:latin typeface="Calibri"/>
              </a:rPr>
              <a:t>Checkpoint: Pratique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2800937"/>
            <a:ext cx="1917065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dirty="0" err="1">
                <a:solidFill>
                  <a:srgbClr val="262626"/>
                </a:solidFill>
                <a:latin typeface="Calibri"/>
              </a:rPr>
              <a:t>Ative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dispare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o DAG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ingestao_bo_pcdf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com o CSV SUJO no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ambiente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local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dirty="0">
                <a:solidFill>
                  <a:srgbClr val="262626"/>
                </a:solidFill>
                <a:latin typeface="Calibri"/>
              </a:rPr>
              <a:t>Abra ./data/bos_tratados.csv e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confirme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texto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saiu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minúsculas</a:t>
            </a:r>
            <a:r>
              <a:rPr sz="2200" dirty="0">
                <a:solidFill>
                  <a:srgbClr val="262626"/>
                </a:solidFill>
                <a:latin typeface="Calibri"/>
              </a:rPr>
              <a:t>,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espaço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nas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pontas</a:t>
            </a:r>
            <a:endParaRPr sz="2200" dirty="0">
              <a:solidFill>
                <a:srgbClr val="262626"/>
              </a:solidFill>
              <a:latin typeface="Calibri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B25DBC9-6013-8A4D-2DA6-E104A47278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71"/>
          <a:stretch>
            <a:fillRect/>
          </a:stretch>
        </p:blipFill>
        <p:spPr>
          <a:xfrm>
            <a:off x="3160330" y="3748509"/>
            <a:ext cx="14139528" cy="85492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Agora Sim: Replicando no SEU Projeto PCDF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8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muda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2800" dirty="0">
                <a:solidFill>
                  <a:srgbClr val="262626"/>
                </a:solidFill>
                <a:latin typeface="Calibri"/>
              </a:rPr>
              <a:t>nada no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local: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vez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 airflow-demo/,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arquivos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vão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para airflow/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dags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/ e airflow/data/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dentro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repositório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real do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projeto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800" b="1" dirty="0">
                <a:solidFill>
                  <a:srgbClr val="004A8F"/>
                </a:solidFill>
                <a:latin typeface="Calibri"/>
              </a:rPr>
              <a:t>Dados:  </a:t>
            </a:r>
            <a:r>
              <a:rPr sz="2800" dirty="0">
                <a:solidFill>
                  <a:srgbClr val="262626"/>
                </a:solidFill>
                <a:latin typeface="Calibri"/>
              </a:rPr>
              <a:t>use o bos_sinteticos_sujo.csv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já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pronto,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SEU dataset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sujo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(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gerado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com o prompt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opcional</a:t>
            </a:r>
            <a:r>
              <a:rPr sz="2800" dirty="0">
                <a:solidFill>
                  <a:srgbClr val="262626"/>
                </a:solidFill>
                <a:latin typeface="Calibri"/>
              </a:rPr>
              <a:t>) — ambos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servem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evidência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limpeza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funciona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800" b="1" dirty="0">
                <a:solidFill>
                  <a:srgbClr val="004A8F"/>
                </a:solidFill>
                <a:latin typeface="Calibri"/>
              </a:rPr>
              <a:t>Onde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fica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o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repositório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, se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você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está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no WSL2:  </a:t>
            </a:r>
            <a:r>
              <a:rPr sz="2800" dirty="0">
                <a:solidFill>
                  <a:srgbClr val="262626"/>
                </a:solidFill>
                <a:latin typeface="Calibri"/>
              </a:rPr>
              <a:t>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recomendado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(Ponte Windows↔WSL2, Aula 04) é ter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clonado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projeto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DENTRO do Linux (~/&lt;repo&gt;) — mas se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você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preferiu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manter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repositório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pasta do Windows, é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continuar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usando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/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mnt</a:t>
            </a:r>
            <a:r>
              <a:rPr sz="2800" dirty="0">
                <a:solidFill>
                  <a:srgbClr val="262626"/>
                </a:solidFill>
                <a:latin typeface="Calibri"/>
              </a:rPr>
              <a:t>/&lt;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letra-minúscula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&gt;/&lt;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seu-caminho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&gt;/&lt;repo&gt;/airflow/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vez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 ~/&lt;repo&gt;/airflow/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comandos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abaixo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Funciona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igual</a:t>
            </a:r>
            <a:r>
              <a:rPr sz="2800" dirty="0">
                <a:solidFill>
                  <a:srgbClr val="262626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um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pouco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lento.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800" b="1" dirty="0">
                <a:solidFill>
                  <a:srgbClr val="004A8F"/>
                </a:solidFill>
                <a:latin typeface="Calibri"/>
              </a:rPr>
              <a:t>Antes de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copiar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confirme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a pasta airflow/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existe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no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seu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projeto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(Passo A2-3 do Manual da Aula 01) — se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existir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crie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antes 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continuar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800" b="1" dirty="0">
                <a:solidFill>
                  <a:srgbClr val="004A8F"/>
                </a:solidFill>
                <a:latin typeface="Calibri"/>
              </a:rPr>
              <a:t>Commit:  </a:t>
            </a:r>
            <a:r>
              <a:rPr sz="2800" dirty="0">
                <a:solidFill>
                  <a:srgbClr val="262626"/>
                </a:solidFill>
                <a:latin typeface="Calibri"/>
              </a:rPr>
              <a:t>git add airflow/ → git commit -m "airflow: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dag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ingestão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limpeza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dos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bos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" → git push.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6048000" cy="43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DO PROJETO-GUIA PCDF  (aluno, no seu repositório)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>
            <a:normAutofit/>
          </a:bodyPr>
          <a:lstStyle/>
          <a:p>
            <a:pPr algn="l"/>
            <a:r>
              <a:rPr sz="66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66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6600" b="1" dirty="0">
                <a:solidFill>
                  <a:srgbClr val="004A8F"/>
                </a:solidFill>
                <a:latin typeface="Calibri"/>
              </a:rPr>
              <a:t> é </a:t>
            </a:r>
            <a:r>
              <a:rPr sz="6600" b="1" dirty="0" err="1">
                <a:solidFill>
                  <a:srgbClr val="004A8F"/>
                </a:solidFill>
                <a:latin typeface="Calibri"/>
              </a:rPr>
              <a:t>Orquestração</a:t>
            </a:r>
            <a:r>
              <a:rPr sz="6600" b="1" dirty="0">
                <a:solidFill>
                  <a:srgbClr val="004A8F"/>
                </a:solidFill>
                <a:latin typeface="Calibri"/>
              </a:rPr>
              <a:t>, de </a:t>
            </a:r>
            <a:r>
              <a:rPr sz="6600" b="1" dirty="0" err="1">
                <a:solidFill>
                  <a:srgbClr val="004A8F"/>
                </a:solidFill>
                <a:latin typeface="Calibri"/>
              </a:rPr>
              <a:t>Verdade</a:t>
            </a:r>
            <a:endParaRPr sz="6600" b="1" dirty="0">
              <a:solidFill>
                <a:srgbClr val="004A8F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>
            <a:normAutofit fontScale="25000" lnSpcReduction="20000"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A mesma pergunta, respondida de dois jeitos: com analogia (para quem nunca programou) e com os termos técnicos (para quem já programa).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ENTENDENDO O AIRFLOW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070C0"/>
                </a:solidFill>
                <a:latin typeface="Calibri"/>
              </a:rPr>
              <a:t>Pergunta que Todo Mundo Faz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>
            <a:normAutofit/>
          </a:bodyPr>
          <a:lstStyle/>
          <a:p>
            <a:pPr algn="ctr">
              <a:buNone/>
            </a:pPr>
            <a:r>
              <a:rPr sz="5400" b="1" i="1" dirty="0">
                <a:solidFill>
                  <a:srgbClr val="004A8F"/>
                </a:solidFill>
                <a:latin typeface="Calibri"/>
              </a:rPr>
              <a:t>Se </a:t>
            </a:r>
            <a:r>
              <a:rPr sz="5400" b="1" i="1" dirty="0" err="1">
                <a:solidFill>
                  <a:srgbClr val="004A8F"/>
                </a:solidFill>
                <a:latin typeface="Calibri"/>
              </a:rPr>
              <a:t>eu</a:t>
            </a:r>
            <a:r>
              <a:rPr sz="5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5400" b="1" i="1" dirty="0" err="1">
                <a:solidFill>
                  <a:srgbClr val="004A8F"/>
                </a:solidFill>
                <a:latin typeface="Calibri"/>
              </a:rPr>
              <a:t>já</a:t>
            </a:r>
            <a:r>
              <a:rPr sz="5400" b="1" i="1" dirty="0">
                <a:solidFill>
                  <a:srgbClr val="004A8F"/>
                </a:solidFill>
                <a:latin typeface="Calibri"/>
              </a:rPr>
              <a:t> sei </a:t>
            </a:r>
            <a:r>
              <a:rPr sz="5400" b="1" i="1" dirty="0" err="1">
                <a:solidFill>
                  <a:srgbClr val="004A8F"/>
                </a:solidFill>
                <a:latin typeface="Calibri"/>
              </a:rPr>
              <a:t>rodar</a:t>
            </a:r>
            <a:r>
              <a:rPr sz="5400" b="1" i="1" dirty="0">
                <a:solidFill>
                  <a:srgbClr val="004A8F"/>
                </a:solidFill>
                <a:latin typeface="Calibri"/>
              </a:rPr>
              <a:t> um script Python, para </a:t>
            </a:r>
            <a:r>
              <a:rPr sz="5400" b="1" i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5400" b="1" i="1" dirty="0">
                <a:solidFill>
                  <a:srgbClr val="004A8F"/>
                </a:solidFill>
                <a:latin typeface="Calibri"/>
              </a:rPr>
              <a:t> serve o Airflow?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092900"/>
            <a:ext cx="1917065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AC00"/>
                </a:solidFill>
                <a:latin typeface="Calibri"/>
              </a:rPr>
              <a:t>VAMOS RESPONDER COM UMA ANALOGIA PRIMEIRO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Analogia: uma Linha de Produção, não um Funcionário Sozinho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Rodar um script.py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sozinho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é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um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funcionário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fazendo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tudo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manualmente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do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início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fim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— se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ele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esquecer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etapa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computador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travar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no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meio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ninguém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percebe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até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alguém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perguntar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Rodar via Airflow: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é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linha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produção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com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estações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(tasks):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estação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começa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depois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a anterior termina, um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painel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(a UI)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mostra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status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estação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tempo real, e se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estação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falha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o supervisor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pode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mandar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tentar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novo SEM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reiniciar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linha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inteira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Ponto-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chave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o Airflow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faz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trabalho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si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(o pandas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ainda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faz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limpeza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)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ele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garante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trabalho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aconteça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NA ORDEM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certa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sempre, com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registro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tudo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Script Sozinho x Airflow — Comparando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651721"/>
              </p:ext>
            </p:extLst>
          </p:nvPr>
        </p:nvGraphicFramePr>
        <p:xfrm>
          <a:off x="1689100" y="4406900"/>
          <a:ext cx="19500000" cy="4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0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Só o script.py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Com Airflow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O computador cai no meio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 err="1">
                          <a:solidFill>
                            <a:srgbClr val="262626"/>
                          </a:solidFill>
                          <a:latin typeface="Calibri"/>
                        </a:rPr>
                        <a:t>Ninguém</a:t>
                      </a:r>
                      <a:r>
                        <a:rPr sz="2400" dirty="0">
                          <a:solidFill>
                            <a:srgbClr val="262626"/>
                          </a:solidFill>
                          <a:latin typeface="Calibri"/>
                        </a:rPr>
                        <a:t> sabe </a:t>
                      </a:r>
                      <a:r>
                        <a:rPr sz="2400" dirty="0" err="1">
                          <a:solidFill>
                            <a:srgbClr val="262626"/>
                          </a:solidFill>
                          <a:latin typeface="Calibri"/>
                        </a:rPr>
                        <a:t>até</a:t>
                      </a:r>
                      <a:r>
                        <a:rPr sz="2400" dirty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  <a:r>
                        <a:rPr sz="2400" dirty="0" err="1">
                          <a:solidFill>
                            <a:srgbClr val="262626"/>
                          </a:solidFill>
                          <a:latin typeface="Calibri"/>
                        </a:rPr>
                        <a:t>checar</a:t>
                      </a:r>
                      <a:r>
                        <a:rPr sz="2400" dirty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  <a:r>
                        <a:rPr sz="2400" dirty="0" err="1">
                          <a:solidFill>
                            <a:srgbClr val="262626"/>
                          </a:solidFill>
                          <a:latin typeface="Calibri"/>
                        </a:rPr>
                        <a:t>manualmente</a:t>
                      </a:r>
                      <a:endParaRPr sz="2400" dirty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UI mostra a task vermelha (falhou)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Uma etapa falha por instabilidade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Reiniciar TUDO do zero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Retry automático só daquela task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Preciso rodar toda madrugada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Alguém precisa lembrar de rodar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Scheduler dispara sozinho, na hora certa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Quero ver o histórico de execuções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Não existe, a menos que eu programe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UI guarda todo o histórico automaticamente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Uma etapa depende da anterior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Depende do programador não errar a ordem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262626"/>
                          </a:solidFill>
                          <a:latin typeface="Calibri"/>
                        </a:rPr>
                        <a:t>t1 &gt;&gt; t2 &gt;&gt; t3 </a:t>
                      </a:r>
                      <a:r>
                        <a:rPr sz="2400" dirty="0" err="1">
                          <a:solidFill>
                            <a:srgbClr val="262626"/>
                          </a:solidFill>
                          <a:latin typeface="Calibri"/>
                        </a:rPr>
                        <a:t>garante</a:t>
                      </a:r>
                      <a:r>
                        <a:rPr sz="2400" dirty="0">
                          <a:solidFill>
                            <a:srgbClr val="262626"/>
                          </a:solidFill>
                          <a:latin typeface="Calibri"/>
                        </a:rPr>
                        <a:t> a </a:t>
                      </a:r>
                      <a:r>
                        <a:rPr sz="2400" dirty="0" err="1">
                          <a:solidFill>
                            <a:srgbClr val="262626"/>
                          </a:solidFill>
                          <a:latin typeface="Calibri"/>
                        </a:rPr>
                        <a:t>ordem</a:t>
                      </a:r>
                      <a:r>
                        <a:rPr sz="2400" dirty="0">
                          <a:solidFill>
                            <a:srgbClr val="262626"/>
                          </a:solidFill>
                          <a:latin typeface="Calibri"/>
                        </a:rPr>
                        <a:t> sempre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Para Quem Já Programa: os Termos Técnicos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 dirty="0">
                <a:solidFill>
                  <a:srgbClr val="004A8F"/>
                </a:solidFill>
                <a:latin typeface="Calibri"/>
              </a:rPr>
              <a:t>Scheduler: 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processo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decide QUANDO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DAG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deve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rodar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, com base no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agendamento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(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dispara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manual,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fizemos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).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 dirty="0">
                <a:solidFill>
                  <a:srgbClr val="004A8F"/>
                </a:solidFill>
                <a:latin typeface="Calibri"/>
              </a:rPr>
              <a:t>Executor:  </a:t>
            </a:r>
            <a:r>
              <a:rPr sz="3200" dirty="0">
                <a:solidFill>
                  <a:srgbClr val="262626"/>
                </a:solidFill>
                <a:latin typeface="Calibri"/>
              </a:rPr>
              <a:t>decide COMO as tasks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são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executadas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usamos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CeleryExecutor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(via Docker Compose),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distribui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tasks entre workers.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 dirty="0">
                <a:solidFill>
                  <a:srgbClr val="004A8F"/>
                </a:solidFill>
                <a:latin typeface="Calibri"/>
              </a:rPr>
              <a:t>Worker: 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processo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efetivamente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RODA 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Python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task — é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dentro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dele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extract/clean/load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acontecem</a:t>
            </a:r>
            <a:r>
              <a:rPr sz="32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 dirty="0">
                <a:solidFill>
                  <a:srgbClr val="004A8F"/>
                </a:solidFill>
                <a:latin typeface="Calibri"/>
              </a:rPr>
              <a:t>Metadata DB:  </a:t>
            </a:r>
            <a:r>
              <a:rPr sz="3200" dirty="0">
                <a:solidFill>
                  <a:srgbClr val="262626"/>
                </a:solidFill>
                <a:latin typeface="Calibri"/>
              </a:rPr>
              <a:t>banco Postgres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guarda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estado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execução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— é 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alimenta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a UI com o histórico.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 dirty="0" err="1">
                <a:solidFill>
                  <a:srgbClr val="004A8F"/>
                </a:solidFill>
                <a:latin typeface="Calibri"/>
              </a:rPr>
              <a:t>Idempotência</a:t>
            </a:r>
            <a:r>
              <a:rPr sz="32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propriedade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desejável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task: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rodar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duas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vezes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com a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mesma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entrada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deve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dar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resultado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importante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para retries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serem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seguros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Apache Airflow: uma Camada Diferente, Não Concorrente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Airflow NÃO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orquestra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containers: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ele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orquestra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WORKFLOWS —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sequências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tarefas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negócio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/dados,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nosso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DAG de ETL. 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unidade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trabalho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dele é a task,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container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Pod.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Como o Airflow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roda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hoje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via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CeleryExecutor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sobre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containers do Docker Compose —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nenhum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Kubernetes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envolvido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 O kind da Aula 04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está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sendo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usado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pelo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Airflow.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Para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serve o kind,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então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?: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está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preparando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terreno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para o Kubeflow,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vamos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ver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agora — esse SIM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precisa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um cluster Kubernetes para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rodar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seus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pipelines.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>
            <a:normAutofit/>
          </a:bodyPr>
          <a:lstStyle/>
          <a:p>
            <a:pPr algn="l"/>
            <a:r>
              <a:rPr sz="6600" b="1" dirty="0">
                <a:solidFill>
                  <a:srgbClr val="004A8F"/>
                </a:solidFill>
                <a:latin typeface="Calibri"/>
              </a:rPr>
              <a:t>Kubeflow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50000"/>
            <a:ext cx="0" cy="2000000"/>
          </a:xfrm>
        </p:spPr>
        <p:txBody>
          <a:bodyPr wrap="square" anchor="t">
            <a:normAutofit fontScale="25000" lnSpcReduction="20000"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>
                <a:solidFill>
                  <a:srgbClr val="595959"/>
                </a:solidFill>
                <a:latin typeface="Calibri"/>
              </a:rPr>
              <a:t>Um segundo orquestrador — desta vez, especializado em pipelines de Machine Learning, rodando sobre Kubernetes.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7045" y="4750000"/>
            <a:ext cx="685476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F5AC00"/>
                </a:solidFill>
                <a:latin typeface="Calibri"/>
              </a:rPr>
              <a:t>NOVO CONTEÚDO — PARTE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 Que é o Kubeflow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000" b="1" dirty="0" err="1">
                <a:solidFill>
                  <a:srgbClr val="004A8F"/>
                </a:solidFill>
                <a:latin typeface="Calibri"/>
              </a:rPr>
              <a:t>Definição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um SDK (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kfp</a:t>
            </a:r>
            <a:r>
              <a:rPr sz="4000" dirty="0">
                <a:solidFill>
                  <a:srgbClr val="262626"/>
                </a:solidFill>
                <a:latin typeface="Calibri"/>
              </a:rPr>
              <a:t>) 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plataforma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construir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versionar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rodar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pipelines de Machine Learning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etapa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treino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avaliação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deploy)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vira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um COMPONENTE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roda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um Pod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isolado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no Kubernetes.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Por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não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usar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só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o Airflow para ML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também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?: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dá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para usar — mas o Kubeflow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nasceu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pensando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ML: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componente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já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registra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métricas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artefatos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modelos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gráficos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) e o "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parentesco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" entre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execuções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(lineage)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automaticamente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Faz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parte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de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uma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plataforma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maior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o Kubeflow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completo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também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inclui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Notebooks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gerenciados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treino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distribuído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e serving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modelos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focamos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parte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Pipelines.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35</a:t>
            </a:r>
          </a:p>
        </p:txBody>
      </p:sp>
      <p:pic>
        <p:nvPicPr>
          <p:cNvPr id="5" name="Picture 4" descr="img_airflow_kube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61" y="1466747"/>
            <a:ext cx="19753956" cy="1105325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Quando Usar Cada 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265726"/>
              </p:ext>
            </p:extLst>
          </p:nvPr>
        </p:nvGraphicFramePr>
        <p:xfrm>
          <a:off x="1689100" y="4406900"/>
          <a:ext cx="19500000" cy="4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0000"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FFFFFF"/>
                          </a:solidFill>
                          <a:latin typeface="Calibri"/>
                        </a:rPr>
                        <a:t>Apache Airflow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FFFFFF"/>
                          </a:solidFill>
                          <a:latin typeface="Calibri"/>
                        </a:rPr>
                        <a:t>Kubeflow Pipelines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000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Foco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Workflows </a:t>
                      </a:r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genéricos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 (ETL, backup, e-mail...)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Pipelines de Machine Learning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000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Unidade de trabalho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Task (função Python)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Componente (container tipado)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000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Precisa de Kubernetes?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Não (rodamos via Docker Compose)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Sim, para rodar de verdade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000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O que a UI mostra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Status de cada execução do DAG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Métricas, artefatos e lineage do modelo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000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No nosso projeto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Ingestão e limpeza dos BOs (hoje)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Empacotar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 o </a:t>
                      </a:r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treino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 do </a:t>
                      </a:r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modelo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 (</a:t>
                      </a:r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próximas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 aulas)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Decisão de Escopo Para Hoje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vamos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fazer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AO VIVO: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instalar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SDK (pip install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kfp</a:t>
            </a:r>
            <a:r>
              <a:rPr sz="4000" dirty="0">
                <a:solidFill>
                  <a:srgbClr val="262626"/>
                </a:solidFill>
                <a:latin typeface="Calibri"/>
              </a:rPr>
              <a:t>) e COMPILAR um pipeline de 2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componentes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exige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nenhum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cluster Kubernetes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rodando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funciona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igual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qualquer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máquina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fica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como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demonstração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do professor: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subir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Kubeflow Pipelines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completo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um cluster AKS é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instalação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pesada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múltiplos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serviços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: banco,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MinIO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Argo Workflows,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serviço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metadados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)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arriscado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demais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todo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mundo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rodar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tempo,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com tempo de aula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limitado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Por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essa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escolha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objetivo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é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você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entender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CONCEITO 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compilar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um pipeline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verdade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— o cluster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completo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entra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aprofundamento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pré-requisito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nota.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A3-1 — Instalar o SDK do Kubeflow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6364" y="3278900"/>
            <a:ext cx="1917065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dirty="0" err="1">
                <a:solidFill>
                  <a:srgbClr val="262626"/>
                </a:solidFill>
                <a:latin typeface="Calibri"/>
              </a:rPr>
              <a:t>Idêntico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WSL2 (Windows) e Linux —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testado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com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kfp</a:t>
            </a:r>
            <a:r>
              <a:rPr sz="3600" dirty="0">
                <a:solidFill>
                  <a:srgbClr val="262626"/>
                </a:solidFill>
                <a:latin typeface="Calibri"/>
              </a:rPr>
              <a:t>==2.17.0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sz="4000">
                <a:solidFill>
                  <a:srgbClr val="E8E8E8"/>
                </a:solidFill>
                <a:latin typeface="Consolas"/>
              </a:rPr>
              <a:t>pip install kfp --break-system-packages</a:t>
            </a:r>
          </a:p>
          <a:p>
            <a:pPr algn="l"/>
            <a:r>
              <a:rPr sz="4000">
                <a:solidFill>
                  <a:srgbClr val="E8E8E8"/>
                </a:solidFill>
                <a:latin typeface="Consolas"/>
              </a:rPr>
              <a:t># (ou crie um venv: python3 -m venv .venv &amp;&amp; source .venv/bin/activate)</a:t>
            </a:r>
          </a:p>
          <a:p>
            <a:pPr algn="l"/>
            <a:r>
              <a:rPr sz="4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4000">
                <a:solidFill>
                  <a:srgbClr val="E8E8E8"/>
                </a:solidFill>
                <a:latin typeface="Consolas"/>
              </a:rPr>
              <a:t>python3 -c "import kfp; print(kfp.__version__)"</a:t>
            </a:r>
          </a:p>
          <a:p>
            <a:pPr algn="l"/>
            <a:r>
              <a:rPr sz="4000">
                <a:solidFill>
                  <a:srgbClr val="E8E8E8"/>
                </a:solidFill>
                <a:latin typeface="Consolas"/>
              </a:rPr>
              <a:t># resultado esperado: 2.17.0 (ou mais recente)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835332"/>
          </a:xfrm>
        </p:spPr>
        <p:txBody>
          <a:bodyPr/>
          <a:lstStyle/>
          <a:p>
            <a:pPr algn="l"/>
            <a:r>
              <a:rPr sz="3000" b="1" dirty="0">
                <a:solidFill>
                  <a:srgbClr val="0070C0"/>
                </a:solidFill>
                <a:latin typeface="Calibri"/>
              </a:rPr>
              <a:t>O Pipeline de 2 </a:t>
            </a:r>
            <a:r>
              <a:rPr sz="3000" b="1" dirty="0" err="1">
                <a:solidFill>
                  <a:srgbClr val="0070C0"/>
                </a:solidFill>
                <a:latin typeface="Calibri"/>
              </a:rPr>
              <a:t>Componentes</a:t>
            </a:r>
            <a:r>
              <a:rPr sz="3000" b="1" dirty="0">
                <a:solidFill>
                  <a:srgbClr val="0070C0"/>
                </a:solidFill>
                <a:latin typeface="Calibri"/>
              </a:rPr>
              <a:t>, </a:t>
            </a:r>
            <a:r>
              <a:rPr sz="3000" b="1" dirty="0" err="1">
                <a:solidFill>
                  <a:srgbClr val="0070C0"/>
                </a:solidFill>
                <a:latin typeface="Calibri"/>
              </a:rPr>
              <a:t>Explicado</a:t>
            </a:r>
            <a:r>
              <a:rPr sz="30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0070C0"/>
                </a:solidFill>
                <a:latin typeface="Calibri"/>
              </a:rPr>
              <a:t>ao</a:t>
            </a:r>
            <a:r>
              <a:rPr sz="3000" b="1" dirty="0">
                <a:solidFill>
                  <a:srgbClr val="0070C0"/>
                </a:solidFill>
                <a:latin typeface="Calibri"/>
              </a:rPr>
              <a:t> 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i="1">
                <a:solidFill>
                  <a:srgbClr val="595959"/>
                </a:solidFill>
                <a:latin typeface="Calibri"/>
              </a:rPr>
              <a:t>pipeline_kfp_exemplo.py — entregue em aula5_material/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pipeline_kfp_exemplo.py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4425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 Que Cada Parte Faz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9100" y="4870000"/>
            <a:ext cx="9455325" cy="73601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89100" y="4870000"/>
            <a:ext cx="9455325" cy="400000"/>
          </a:xfrm>
          <a:prstGeom prst="roundRect">
            <a:avLst>
              <a:gd name="adj" fmla="val 22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89100" y="5070000"/>
            <a:ext cx="9455325" cy="20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69100" y="5000000"/>
            <a:ext cx="130000" cy="13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09100" y="5000000"/>
            <a:ext cx="130000" cy="13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349100" y="5000000"/>
            <a:ext cx="130000" cy="13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89100" y="4945000"/>
            <a:ext cx="9455325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95959"/>
                </a:solidFill>
                <a:latin typeface="Consolas"/>
              </a:rPr>
              <a:t>pipeline_kfp_exemplo.py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9100" y="5380000"/>
            <a:ext cx="9115325" cy="6810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from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kfp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dsl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from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kfp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compiler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endParaRPr sz="1050" b="0" i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@dsl.component(base_image=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"python:3.11"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      packages_to_install=[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"pandas"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def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extrair_relatos(quantidade: int) -&gt; str: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pandas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as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pd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dados = [{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"id"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: i, 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"texto_relato"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     f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  RELATO {i}  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   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for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i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in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range(1, quantidade+1)]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df = pd.DataFrame(dados)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return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df.to_json()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endParaRPr sz="1050" b="0" i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@dsl.component(base_image=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"python:3.11"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      packages_to_install=[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"pandas"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def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limpar_relatos(relatos_json: str) -&gt; str: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pandas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as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pd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df = pd.read_json(relatos_json)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df[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"texto_relato"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 = 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df[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"texto_relato"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].str.lower().str.strip())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return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df.to_json()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endParaRPr sz="1050" b="0" i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@dsl.pipeline(name=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"pipeline-bos-pcdf"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def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pipeline_bos_pcdf(quantidade: int = 5):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t1 = extrair_relatos(quantidade=quantidade)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t2 = limpar_relatos(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relatos_json=t1.output)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4425" y="4870000"/>
            <a:ext cx="9455325" cy="7360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04A8F"/>
                </a:solidFill>
                <a:latin typeface="Calibri"/>
              </a:rPr>
              <a:t>@dsl.component:  </a:t>
            </a:r>
            <a:r>
              <a:rPr sz="1700">
                <a:solidFill>
                  <a:srgbClr val="262626"/>
                </a:solidFill>
                <a:latin typeface="Calibri"/>
              </a:rPr>
              <a:t>transforma uma função Python comum em um COMPONENTE — o decorator cuida de empacotar tudo em um container, usando base_image e packages_to_install.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04A8F"/>
                </a:solidFill>
                <a:latin typeface="Calibri"/>
              </a:rPr>
              <a:t>-&gt; str (tipo de retorno):  </a:t>
            </a:r>
            <a:r>
              <a:rPr sz="1700">
                <a:solidFill>
                  <a:srgbClr val="262626"/>
                </a:solidFill>
                <a:latin typeface="Calibri"/>
              </a:rPr>
              <a:t>toda entrada/saída de componente é TIPADA — é isso que o Kubeflow usa para desenhar as conexões do pipeline automaticamente.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04A8F"/>
                </a:solidFill>
                <a:latin typeface="Calibri"/>
              </a:rPr>
              <a:t>t1.output:  </a:t>
            </a:r>
            <a:r>
              <a:rPr sz="1700">
                <a:solidFill>
                  <a:srgbClr val="262626"/>
                </a:solidFill>
                <a:latin typeface="Calibri"/>
              </a:rPr>
              <a:t>a saída do componente 1 vira a entrada do componente 2 — SEM precisar de XCom: a própria assinatura da função já define a dependência.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04A8F"/>
                </a:solidFill>
                <a:latin typeface="Calibri"/>
              </a:rPr>
              <a:t>@dsl.pipeline:  </a:t>
            </a:r>
            <a:r>
              <a:rPr sz="1700">
                <a:solidFill>
                  <a:srgbClr val="262626"/>
                </a:solidFill>
                <a:latin typeface="Calibri"/>
              </a:rPr>
              <a:t>junta os componentes em um pipeline — o compilador usa essa função para descobrir a ordem de execução.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A3-2 — Compilar o Pipeline (Não Precisa de Cluster)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Idêntico em WSL2 (Windows) e 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sz="2000">
                <a:solidFill>
                  <a:srgbClr val="E8E8E8"/>
                </a:solidFill>
                <a:latin typeface="Consolas"/>
              </a:rPr>
              <a:t>cd aula5_material</a:t>
            </a:r>
          </a:p>
          <a:p>
            <a:pPr algn="l"/>
            <a:r>
              <a:rPr sz="2000">
                <a:solidFill>
                  <a:srgbClr val="E8E8E8"/>
                </a:solidFill>
                <a:latin typeface="Consolas"/>
              </a:rPr>
              <a:t>python3 pipeline_kfp_exemplo.py</a:t>
            </a:r>
          </a:p>
          <a:p>
            <a:pPr algn="l"/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2000">
                <a:solidFill>
                  <a:srgbClr val="E8E8E8"/>
                </a:solidFill>
                <a:latin typeface="Consolas"/>
              </a:rPr>
              <a:t># gera pipeline_bos_pcdf.yaml -- abra e procure por</a:t>
            </a:r>
          </a:p>
          <a:p>
            <a:pPr algn="l"/>
            <a:r>
              <a:rPr sz="2000">
                <a:solidFill>
                  <a:srgbClr val="E8E8E8"/>
                </a:solidFill>
                <a:latin typeface="Consolas"/>
              </a:rPr>
              <a:t># 'components:' e 'deploymentSpec:'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 Que Esse YAML Representa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500" b="1">
                <a:solidFill>
                  <a:srgbClr val="004A8F"/>
                </a:solidFill>
                <a:latin typeface="Calibri"/>
              </a:rPr>
              <a:t>IR YAML (Intermediate Representation):  </a:t>
            </a:r>
            <a:r>
              <a:rPr sz="2500">
                <a:solidFill>
                  <a:srgbClr val="262626"/>
                </a:solidFill>
                <a:latin typeface="Calibri"/>
              </a:rPr>
              <a:t>a especificação completa do pipeline: quais componentes existem, o container/imagem de cada um, e como as saídas de um viram entradas do outro.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500" b="1">
                <a:solidFill>
                  <a:srgbClr val="004A8F"/>
                </a:solidFill>
                <a:latin typeface="Calibri"/>
              </a:rPr>
              <a:t>Ele NÃO é um Argo Workflow ainda:  </a:t>
            </a:r>
            <a:r>
              <a:rPr sz="2500">
                <a:solidFill>
                  <a:srgbClr val="262626"/>
                </a:solidFill>
                <a:latin typeface="Calibri"/>
              </a:rPr>
              <a:t>é o BACKEND do Kubeflow (quando o YAML é submetido a um cluster de verdade) que traduz esse IR YAML para Argo Workflow e sobe um Pod por componente.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500" b="1">
                <a:solidFill>
                  <a:srgbClr val="004A8F"/>
                </a:solidFill>
                <a:latin typeface="Calibri"/>
              </a:rPr>
              <a:t>Por que compilar sem cluster já vale a pena:  </a:t>
            </a:r>
            <a:r>
              <a:rPr sz="2500">
                <a:solidFill>
                  <a:srgbClr val="262626"/>
                </a:solidFill>
                <a:latin typeface="Calibri"/>
              </a:rPr>
              <a:t>você já vê a estrutura real do pipeline, os tipos de entrada/saída e os erros de definição — antes de gastar tempo/crédito subindo infraestrutura.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0070C0"/>
                </a:solidFill>
                <a:latin typeface="Calibri"/>
              </a:rPr>
              <a:t>Checkpoint: Pratique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Instale o kfp e rode pipeline_kfp_exemplo.py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Abra o pipeline_bos_pcdf.yaml gerado e localize as seções components: e deploymentSpec: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9100" y="5856900"/>
            <a:ext cx="19170650" cy="6373200"/>
          </a:xfrm>
          <a:prstGeom prst="rect">
            <a:avLst/>
          </a:prstGeom>
          <a:solidFill>
            <a:srgbClr val="FAFAFA"/>
          </a:solidFill>
          <a:ln w="19050">
            <a:solidFill>
              <a:srgbClr val="B5B5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i="1">
                <a:solidFill>
                  <a:srgbClr val="A6A6A6"/>
                </a:solidFill>
                <a:latin typeface="Calibri"/>
              </a:rPr>
              <a:t>📷  cole aqui a captura de tela do terminal com "ok: pipeline_bos_pcdf.yaml gerado" + um trecho do YAML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Do Dado Tratado ao Primeiro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3215148" y="7550000"/>
            <a:ext cx="14143703" cy="2000000"/>
          </a:xfr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 dirty="0">
                <a:solidFill>
                  <a:srgbClr val="595959"/>
                </a:solidFill>
                <a:latin typeface="Calibri"/>
              </a:rPr>
              <a:t>O bos_tratados.csv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o DAG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acabou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gerar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não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é o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fim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da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linha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— é o INÍCIO do pipeline de Machine Learning. Vamos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provar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isso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com um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treino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rápido</a:t>
            </a:r>
            <a:r>
              <a:rPr sz="26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FECHANDO O CICLO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Por Que Fazer Isso Agora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500" b="1">
                <a:solidFill>
                  <a:srgbClr val="004A8F"/>
                </a:solidFill>
                <a:latin typeface="Calibri"/>
              </a:rPr>
              <a:t>O elo que faltava:  </a:t>
            </a:r>
            <a:r>
              <a:rPr sz="2500">
                <a:solidFill>
                  <a:srgbClr val="262626"/>
                </a:solidFill>
                <a:latin typeface="Calibri"/>
              </a:rPr>
              <a:t>até aqui, ETL e ML pareciam dois mundos separados — este passo mostra que o dado que SAI do Airflow é exatamente o que ENTRA no treino de um modelo.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500" b="1">
                <a:solidFill>
                  <a:srgbClr val="004A8F"/>
                </a:solidFill>
                <a:latin typeface="Calibri"/>
              </a:rPr>
              <a:t>Mesmo espírito da Aula 01:  </a:t>
            </a:r>
            <a:r>
              <a:rPr sz="2500">
                <a:solidFill>
                  <a:srgbClr val="262626"/>
                </a:solidFill>
                <a:latin typeface="Calibri"/>
              </a:rPr>
              <a:t>um script simples, rápido de rodar, focado em mostrar o pipeline funcionando — não em obter o melhor modelo possível.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500" b="1">
                <a:solidFill>
                  <a:srgbClr val="004A8F"/>
                </a:solidFill>
                <a:latin typeface="Calibri"/>
              </a:rPr>
              <a:t>Pergunta de negócio (fictícia):  </a:t>
            </a:r>
            <a:r>
              <a:rPr sz="2500">
                <a:solidFill>
                  <a:srgbClr val="262626"/>
                </a:solidFill>
                <a:latin typeface="Calibri"/>
              </a:rPr>
              <a:t>dado natureza, bairro e turno da ocorrência, dá para prever se "houve_violencia"? Serve só como exemplo didático.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070C0"/>
                </a:solidFill>
                <a:latin typeface="Calibri"/>
              </a:rPr>
              <a:t>O Script de Treino, Explicado ao 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i="1">
                <a:solidFill>
                  <a:srgbClr val="595959"/>
                </a:solidFill>
                <a:latin typeface="Calibri"/>
              </a:rPr>
              <a:t>treino_ml_rapido.py — entregue em aula5_material/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treino_ml_rapido.py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4425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 Que Cada Parte Faz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9100" y="4870000"/>
            <a:ext cx="9455325" cy="73601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89100" y="4870000"/>
            <a:ext cx="9455325" cy="400000"/>
          </a:xfrm>
          <a:prstGeom prst="roundRect">
            <a:avLst>
              <a:gd name="adj" fmla="val 22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89100" y="5070000"/>
            <a:ext cx="9455325" cy="20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69100" y="5000000"/>
            <a:ext cx="130000" cy="13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09100" y="5000000"/>
            <a:ext cx="130000" cy="13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349100" y="5000000"/>
            <a:ext cx="130000" cy="13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89100" y="4945000"/>
            <a:ext cx="9455325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95959"/>
                </a:solidFill>
                <a:latin typeface="Consolas"/>
              </a:rPr>
              <a:t>treino_ml_rapido.py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9100" y="5380000"/>
            <a:ext cx="9115325" cy="6810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pandas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as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pd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from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sklearn.model_selection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train_test_split)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from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sklearn.preprocessing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LabelEncoder)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from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sklearn.tree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DecisionTreeClassifier)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from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sklearn.metrics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import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accuracy_score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endParaRPr sz="1050" b="0" i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df = pd.read_csv(caminho)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cols = 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"natureza"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 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"bairro"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, 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"turno"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df_modelo = df[cols + 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"houve_violencia"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]]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df_modelo = df_modelo.dropna()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endParaRPr sz="1050" b="0" i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for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col </a:t>
            </a:r>
            <a:r>
              <a:rPr sz="1050" b="1" i="0">
                <a:solidFill>
                  <a:srgbClr val="F5AC00"/>
                </a:solidFill>
                <a:latin typeface="Consolas"/>
              </a:rPr>
              <a:t>in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 cols: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le = LabelEncoder()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df_modelo[col] = le.fit_transform(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df_modelo[col].astype(str))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endParaRPr sz="1050" b="0" i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X = df_modelo[cols]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y = df_modelo[</a:t>
            </a:r>
            <a:r>
              <a:rPr sz="1050" b="0" i="0">
                <a:solidFill>
                  <a:srgbClr val="2E7D32"/>
                </a:solidFill>
                <a:latin typeface="Consolas"/>
              </a:rPr>
              <a:t>"houve_violencia"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].astype(bool)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X_train, X_test, y_train, y_test = 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train_test_split(X, y, test_size=0.3,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                  random_state=42))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endParaRPr sz="1050" b="0" i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modelo = DecisionTreeClassifier(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    max_depth=3, random_state=42)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modelo.fit(X_train, y_train)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</a:rPr>
              <a:t>y_pred = modelo.predict(X_test)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F5AC00"/>
                </a:solidFill>
                <a:latin typeface="Consolas"/>
              </a:rPr>
              <a:t>print</a:t>
            </a:r>
            <a:r>
              <a:rPr sz="1050" b="0" i="0">
                <a:solidFill>
                  <a:srgbClr val="262626"/>
                </a:solidFill>
                <a:latin typeface="Consolas"/>
              </a:rPr>
              <a:t>(accuracy_score(y_test, y_pred))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4425" y="4870000"/>
            <a:ext cx="9455325" cy="7360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04A8F"/>
                </a:solidFill>
                <a:latin typeface="Calibri"/>
              </a:rPr>
              <a:t>caminho = bos_tratados.csv:  </a:t>
            </a:r>
            <a:r>
              <a:rPr sz="1700">
                <a:solidFill>
                  <a:srgbClr val="262626"/>
                </a:solidFill>
                <a:latin typeface="Calibri"/>
              </a:rPr>
              <a:t>o script recebe como argumento o ARQUIVO QUE O DAG ACABOU DE GERAR — é literalmente a saída do load() virando entrada do treino.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04A8F"/>
                </a:solidFill>
                <a:latin typeface="Calibri"/>
              </a:rPr>
              <a:t>LabelEncoder:  </a:t>
            </a:r>
            <a:r>
              <a:rPr sz="1700">
                <a:solidFill>
                  <a:srgbClr val="262626"/>
                </a:solidFill>
                <a:latin typeface="Calibri"/>
              </a:rPr>
              <a:t>converte texto ("Furto", "Ceilândia"...) em números — a maioria dos modelos de ML só processa números.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04A8F"/>
                </a:solidFill>
                <a:latin typeface="Calibri"/>
              </a:rPr>
              <a:t>train_test_split(..., random_state=42):  </a:t>
            </a:r>
            <a:r>
              <a:rPr sz="1700">
                <a:solidFill>
                  <a:srgbClr val="262626"/>
                </a:solidFill>
                <a:latin typeface="Calibri"/>
              </a:rPr>
              <a:t>separa 70% dos dados para treino e 30% para teste, de forma reproduzível (mesma semente = mesmo resultado sempre).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04A8F"/>
                </a:solidFill>
                <a:latin typeface="Calibri"/>
              </a:rPr>
              <a:t>DecisionTreeClassifier(max_depth=3):  </a:t>
            </a:r>
            <a:r>
              <a:rPr sz="1700">
                <a:solidFill>
                  <a:srgbClr val="262626"/>
                </a:solidFill>
                <a:latin typeface="Calibri"/>
              </a:rPr>
              <a:t>um modelo simples e explicável — max_depth limita a profundidade da árvore, evitando overfitting num dataset pequeno.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004A8F"/>
                </a:solidFill>
                <a:latin typeface="Calibri"/>
              </a:rPr>
              <a:t>accuracy_score:  </a:t>
            </a:r>
            <a:r>
              <a:rPr sz="1700">
                <a:solidFill>
                  <a:srgbClr val="262626"/>
                </a:solidFill>
                <a:latin typeface="Calibri"/>
              </a:rPr>
              <a:t>mede quantas previsões o modelo acertou no conjunto de TESTE — dados que ele nunca viu durante o treino.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Passo A4-1 — Rodar o Treino com o Dado do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Idêntico em WSL2 (Windows) e 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pip install scikit-learn --break-system-packages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cd aula5_material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python3 treino_ml_rapido.py ../data/bos_tratados.csv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# resultado esperado: acurácia impressa no console</a:t>
            </a:r>
          </a:p>
          <a:p>
            <a:pPr algn="l"/>
            <a:r>
              <a:rPr sz="1900">
                <a:solidFill>
                  <a:srgbClr val="E8E8E8"/>
                </a:solidFill>
                <a:latin typeface="Consolas"/>
              </a:rPr>
              <a:t># (varia pouco, dataset é fictício e pequeno)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Exemplo de Saída Esperada (Dataset de Demonstração)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89100" y="4406900"/>
          <a:ext cx="20000000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5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Valor de Exemplo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00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onsolas"/>
                        </a:rPr>
                        <a:t>Linhas de treino / teste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28 /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70% / 30% do dataset de 40 linhas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00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onsolas"/>
                        </a:rPr>
                        <a:t>Acurácia no teste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≈ 83%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dataset pequeno e fictício — não é conclusão estatística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00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onsolas"/>
                        </a:rPr>
                        <a:t>Feature mais usada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natureza / bairro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262626"/>
                          </a:solidFill>
                          <a:latin typeface="Calibri"/>
                        </a:rPr>
                        <a:t>turno teve pouca ou nenhuma importância neste exemplo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 Aviso Mais Importante Deste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Não é sobre o número:  </a:t>
            </a:r>
            <a:r>
              <a:rPr sz="2700">
                <a:solidFill>
                  <a:srgbClr val="262626"/>
                </a:solidFill>
                <a:latin typeface="Calibri"/>
              </a:rPr>
              <a:t>83% de acurácia num dataset fictício de 40 linhas NÃO significa nada estatisticamente — o objetivo é só provar que o CANO está conectado.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O que vale é o pipeline:  </a:t>
            </a:r>
            <a:r>
              <a:rPr sz="2700">
                <a:solidFill>
                  <a:srgbClr val="262626"/>
                </a:solidFill>
                <a:latin typeface="Calibri"/>
              </a:rPr>
              <a:t>dado bruto → Airflow limpa → arquivo tratado → script de ML lê → modelo treina → métrica sai. Essa cadeia é o que os próximos módulos do curso vão automatizar de ponta a ponta.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>
                <a:solidFill>
                  <a:srgbClr val="0070C0"/>
                </a:solidFill>
                <a:latin typeface="Calibri"/>
              </a:rPr>
              <a:t>Checkpoint: Pratique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9100" y="1052900"/>
            <a:ext cx="5472000" cy="43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AMBIENTE LOCAL DE DEMONSTRAÇÃO  (professor, em aula)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4406900"/>
            <a:ext cx="1917065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Rode treino_ml_rapido.py apontando para o SEU bos_tratados.csv (gerado pelo DAG)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Anote a acurácia obtida e qual feature teve mais importância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9100" y="5856900"/>
            <a:ext cx="19170650" cy="6373200"/>
          </a:xfrm>
          <a:prstGeom prst="rect">
            <a:avLst/>
          </a:prstGeom>
          <a:solidFill>
            <a:srgbClr val="FAFAFA"/>
          </a:solidFill>
          <a:ln w="19050">
            <a:solidFill>
              <a:srgbClr val="B5B5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i="1">
                <a:solidFill>
                  <a:srgbClr val="A6A6A6"/>
                </a:solidFill>
                <a:latin typeface="Calibri"/>
              </a:rPr>
              <a:t>📷  cole aqui a captura de tela do terminal com a acurácia impressa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Limpeza do Ambiente ao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3996812" y="7550000"/>
            <a:ext cx="11842955" cy="2000000"/>
          </a:xfr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600" dirty="0">
                <a:solidFill>
                  <a:srgbClr val="595959"/>
                </a:solidFill>
                <a:latin typeface="Calibri"/>
              </a:rPr>
              <a:t>Airflow e containers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continuam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consumindo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memória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e disco se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você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não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desligar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—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nenhum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recurso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nuvem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foi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criado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hoje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(o Kubeflow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ficou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só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na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595959"/>
                </a:solidFill>
                <a:latin typeface="Calibri"/>
              </a:rPr>
              <a:t>compilação</a:t>
            </a:r>
            <a:r>
              <a:rPr sz="2600" dirty="0">
                <a:solidFill>
                  <a:srgbClr val="595959"/>
                </a:solidFill>
                <a:latin typeface="Calibri"/>
              </a:rPr>
              <a:t> local).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NÃO ESQUEÇA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Por Que Limpar É Parte do Processo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600" b="1">
                <a:solidFill>
                  <a:srgbClr val="004A8F"/>
                </a:solidFill>
                <a:latin typeface="Calibri"/>
              </a:rPr>
              <a:t>Espaço em disco/memória:  </a:t>
            </a:r>
            <a:r>
              <a:rPr sz="2600">
                <a:solidFill>
                  <a:srgbClr val="262626"/>
                </a:solidFill>
                <a:latin typeface="Calibri"/>
              </a:rPr>
              <a:t>containers do Airflow (Postgres + 4 serviços) consomem recursos da sua máquina o tempo todo em que ficam de pé.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600" b="1">
                <a:solidFill>
                  <a:srgbClr val="004A8F"/>
                </a:solidFill>
                <a:latin typeface="Calibri"/>
              </a:rPr>
              <a:t>Nenhum recurso de nuvem hoje:  </a:t>
            </a:r>
            <a:r>
              <a:rPr sz="2600">
                <a:solidFill>
                  <a:srgbClr val="262626"/>
                </a:solidFill>
                <a:latin typeface="Calibri"/>
              </a:rPr>
              <a:t>diferente da Aula 04, hoje não criamos nada no Azure — o kfp rodou 100% local, só compilando um YAML.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600" b="1">
                <a:solidFill>
                  <a:srgbClr val="004A8F"/>
                </a:solidFill>
                <a:latin typeface="Calibri"/>
              </a:rPr>
              <a:t>O que NUNCA apagar:  </a:t>
            </a:r>
            <a:r>
              <a:rPr sz="2600">
                <a:solidFill>
                  <a:srgbClr val="262626"/>
                </a:solidFill>
                <a:latin typeface="Calibri"/>
              </a:rPr>
              <a:t>o repositório do seu projeto PCDF em si — o que limpamos aqui é AMBIENTE de execução, não o código nem os dados versionados no Git.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070C0"/>
                </a:solidFill>
                <a:latin typeface="Calibri"/>
              </a:rPr>
              <a:t>Comando de Limpeza do 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3980000"/>
            <a:ext cx="1917065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i="1">
                <a:solidFill>
                  <a:srgbClr val="595959"/>
                </a:solidFill>
                <a:latin typeface="Calibri"/>
              </a:rPr>
              <a:t>rode ao final da prática de hoje, no ambiente local de testes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WSL2 (Ubuntu)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4425" y="4480000"/>
            <a:ext cx="9455325" cy="340000"/>
          </a:xfrm>
          <a:prstGeom prst="roundRect">
            <a:avLst>
              <a:gd name="adj" fmla="val 50000"/>
            </a:avLst>
          </a:prstGeom>
          <a:solidFill>
            <a:srgbClr val="1B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Linux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9100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50000" rIns="14000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cd airflow-demo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docker compose down -v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# limpar imagens/containers não usados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docker system prune -f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04425" y="4870000"/>
            <a:ext cx="9455325" cy="73601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50000" rIns="14000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cd airflow-demo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docker compose down -v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# limpar imagens/containers não usados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E8E8E8"/>
                </a:solidFill>
                <a:latin typeface="Consolas"/>
              </a:rPr>
              <a:t>docker system prune -f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004A8F"/>
                </a:solidFill>
                <a:latin typeface="Calibri"/>
              </a:rPr>
              <a:t>Revisão, Avaliação e Entregável de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4750000"/>
            <a:ext cx="1917065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AC00"/>
                </a:solidFill>
                <a:latin typeface="Calibri"/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Entrega 4 — DAG e Airflow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Escopo desta entrega:  </a:t>
            </a:r>
            <a:r>
              <a:rPr sz="2200">
                <a:solidFill>
                  <a:srgbClr val="262626"/>
                </a:solidFill>
                <a:latin typeface="Calibri"/>
              </a:rPr>
              <a:t>cobre APENAS o DAG de ingestão/ETL e o Airflow — Kubeflow e ML não entram na Entrega 4 (ficam para módulos futuros).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O que documentar:  </a:t>
            </a:r>
            <a:r>
              <a:rPr sz="2200">
                <a:solidFill>
                  <a:srgbClr val="262626"/>
                </a:solidFill>
                <a:latin typeface="Calibri"/>
              </a:rPr>
              <a:t>um PDF ou documento com capturas de tela do Airflow rodando no SEU projeto PCDF (UI com as 3 tasks verdes) + o código do DAG que você construiu ou adaptou (dag_ingestao_bo.py, com eventuais mudanças que você fez).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Dados usados:  </a:t>
            </a:r>
            <a:r>
              <a:rPr sz="2200">
                <a:solidFill>
                  <a:srgbClr val="262626"/>
                </a:solidFill>
                <a:latin typeface="Calibri"/>
              </a:rPr>
              <a:t>use o SEU dataset (gerado com o prompt de dados sujos) ou o bos_sinteticos_sujo.csv de exemplo — cite no documento qual você usou.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Evidência mínima:  </a:t>
            </a:r>
            <a:r>
              <a:rPr sz="2200">
                <a:solidFill>
                  <a:srgbClr val="262626"/>
                </a:solidFill>
                <a:latin typeface="Calibri"/>
              </a:rPr>
              <a:t>print da lista de DAGs com o seu ativo, print das 3 tasks verdes após o trigger, e um trecho do arquivo final gerado (bos_tratados.csv).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Pontuação:  </a:t>
            </a:r>
            <a:r>
              <a:rPr sz="2200">
                <a:solidFill>
                  <a:srgbClr val="262626"/>
                </a:solidFill>
                <a:latin typeface="Calibri"/>
              </a:rPr>
              <a:t>10 pontos — critério detalhado de pontuação (rubrica ponto a ponto) será publicado antes do prazo de entrega, seguindo o mesmo formato das Entregas 1 a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Checklist de 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☐ Airflow rodando no ambiente local (airflow-demo/), com docker-compose.override.yml aplicado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☐ Dataset sujo gerado (gerar_dados_sujos.py ou seu próprio, via o prompt em colchetes)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☐ DAG ingestao_bo_pcdf com as 3 tasks verdes, usando o dado SUJO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☐ bos_tratados.csv conferido: texto em minúsculas, sem espaço nas pontas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☐ kfp instalado e pipeline_kfp_exemplo.py compilado com sucesso (pipeline_bos_pcdf.yaml gerado)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☐ treino_ml_rapido.py rodado com o bos_tratados.csv do SEU DAG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☐ DAG replicado no SEU projeto PCDF, com commit enviado ao GitHub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☐ Ambiente de testes limpo (docker compose down -v)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Entregável de Hoje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O que entregar:  </a:t>
            </a:r>
            <a:r>
              <a:rPr sz="2700">
                <a:solidFill>
                  <a:srgbClr val="262626"/>
                </a:solidFill>
                <a:latin typeface="Calibri"/>
              </a:rPr>
              <a:t>evidências de hoje alimentam a Entrega 4 (DAG e Airflow) — a rubrica completa de pontos será publicada antes do prazo.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Organização recomendada:  </a:t>
            </a:r>
            <a:r>
              <a:rPr sz="2700">
                <a:solidFill>
                  <a:srgbClr val="262626"/>
                </a:solidFill>
                <a:latin typeface="Calibri"/>
              </a:rPr>
              <a:t>mantenha os prints já separados por etapa (instalação, dados sujos, DAG rodando, Kubeflow, ML) — facilita montar o PDF da entrega.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Antes de subir:  </a:t>
            </a:r>
            <a:r>
              <a:rPr sz="2700">
                <a:solidFill>
                  <a:srgbClr val="262626"/>
                </a:solidFill>
                <a:latin typeface="Calibri"/>
              </a:rPr>
              <a:t>confirme que .env, credenciais.txt e qualquer chave/senha NÃO estão sendo commitados no repositório.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Documentação oficial do Airflow:  </a:t>
            </a:r>
            <a:r>
              <a:rPr sz="2700">
                <a:solidFill>
                  <a:srgbClr val="262626"/>
                </a:solidFill>
                <a:latin typeface="Calibri"/>
              </a:rPr>
              <a:t>airflow.apache.org/docs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Documentação oficial do Kubeflow Pipelines (SDK kfp):  </a:t>
            </a:r>
            <a:r>
              <a:rPr sz="2700">
                <a:solidFill>
                  <a:srgbClr val="262626"/>
                </a:solidFill>
                <a:latin typeface="Calibri"/>
              </a:rPr>
              <a:t>kubeflow-pipelines.readthedocs.io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Kubeflow — visão geral do projeto:  </a:t>
            </a:r>
            <a:r>
              <a:rPr sz="2700">
                <a:solidFill>
                  <a:srgbClr val="262626"/>
                </a:solidFill>
                <a:latin typeface="Calibri"/>
              </a:rPr>
              <a:t>kubeflow.org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700" b="1">
                <a:solidFill>
                  <a:srgbClr val="004A8F"/>
                </a:solidFill>
                <a:latin typeface="Calibri"/>
              </a:rPr>
              <a:t>scikit-learn — documentação:  </a:t>
            </a:r>
            <a:r>
              <a:rPr sz="2700">
                <a:solidFill>
                  <a:srgbClr val="262626"/>
                </a:solidFill>
                <a:latin typeface="Calibri"/>
              </a:rPr>
              <a:t>scikit-learn.org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C9E5B6CA2FF774BAC2C469BEFBF993E" ma:contentTypeVersion="14" ma:contentTypeDescription="Crie um novo documento." ma:contentTypeScope="" ma:versionID="dc976a3d313a1884427fd4a25d2cee27">
  <xsd:schema xmlns:xsd="http://www.w3.org/2001/XMLSchema" xmlns:xs="http://www.w3.org/2001/XMLSchema" xmlns:p="http://schemas.microsoft.com/office/2006/metadata/properties" xmlns:ns1="http://schemas.microsoft.com/sharepoint/v3" xmlns:ns2="ca9a7d42-d7cc-4acf-9ced-5a6d605f5bb5" xmlns:ns3="de2f6f28-cd42-4609-bf66-4e8286a5a335" targetNamespace="http://schemas.microsoft.com/office/2006/metadata/properties" ma:root="true" ma:fieldsID="36c23cd9085cefcfd0c57ebeef0d5511" ns1:_="" ns2:_="" ns3:_="">
    <xsd:import namespace="http://schemas.microsoft.com/sharepoint/v3"/>
    <xsd:import namespace="ca9a7d42-d7cc-4acf-9ced-5a6d605f5bb5"/>
    <xsd:import namespace="de2f6f28-cd42-4609-bf66-4e8286a5a3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9a7d42-d7cc-4acf-9ced-5a6d605f5b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2f6f28-cd42-4609-bf66-4e8286a5a33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2B0F66-32D8-4318-9FAE-9EACF69D7379}">
  <ds:schemaRefs>
    <ds:schemaRef ds:uri="http://schemas.microsoft.com/office/2006/metadata/properties"/>
    <ds:schemaRef ds:uri="http://schemas.microsoft.com/office/infopath/2007/PartnerControls"/>
    <ds:schemaRef ds:uri="4620a0fb-8c8e-452c-99f9-831cb1282a4d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5A8ECF9-7567-461A-B635-D7A1660AA2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4036CB-9748-436C-A1A1-F4D69768EB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a9a7d42-d7cc-4acf-9ced-5a6d605f5bb5"/>
    <ds:schemaRef ds:uri="de2f6f28-cd42-4609-bf66-4e8286a5a3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6485</Words>
  <Application>Microsoft Office PowerPoint</Application>
  <PresentationFormat>Personalizar</PresentationFormat>
  <Paragraphs>536</Paragraphs>
  <Slides>63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63</vt:i4>
      </vt:variant>
    </vt:vector>
  </HeadingPairs>
  <TitlesOfParts>
    <vt:vector size="72" baseType="lpstr">
      <vt:lpstr>Arial</vt:lpstr>
      <vt:lpstr>Arial Unicode MS</vt:lpstr>
      <vt:lpstr>Calibri</vt:lpstr>
      <vt:lpstr>Consolas</vt:lpstr>
      <vt:lpstr>Helvetica Neue</vt:lpstr>
      <vt:lpstr>Helvetica Neue Light</vt:lpstr>
      <vt:lpstr>Helvetica Neue Medium</vt:lpstr>
      <vt:lpstr>Wingdings</vt:lpstr>
      <vt:lpstr>White</vt:lpstr>
      <vt:lpstr>MLOps &amp; CI/CD</vt:lpstr>
      <vt:lpstr>Agenda de Hoje</vt:lpstr>
      <vt:lpstr>Apresentação do PowerPoint</vt:lpstr>
      <vt:lpstr>Objetivos de Aprendizagem</vt:lpstr>
      <vt:lpstr>Por Que Esta Aula Existe</vt:lpstr>
      <vt:lpstr>Instalação e Configuração do Airflow</vt:lpstr>
      <vt:lpstr>Onde Vamos Praticar Primeiro</vt:lpstr>
      <vt:lpstr>Passo A1-1 — Baixar o docker-compose.yaml Oficial</vt:lpstr>
      <vt:lpstr>Onde Fica Essa Pasta, se Você Está no WSL2?</vt:lpstr>
      <vt:lpstr>Passo A1-2 — Criar as Pastas Auxiliares e o .env</vt:lpstr>
      <vt:lpstr>Passo A1-3 — Adicionar o Mount de ./data</vt:lpstr>
      <vt:lpstr>Confira o Arquivo Gerado — docker-compose.override.yml</vt:lpstr>
      <vt:lpstr>Confira o Diretorio</vt:lpstr>
      <vt:lpstr>Passo A1-4 — Inicializar o Banco de Metadados</vt:lpstr>
      <vt:lpstr>Passo A1-4 — Inicializar o Banco de Metadados</vt:lpstr>
      <vt:lpstr>Passo A1-5 — Subir os Serviços do Airflow</vt:lpstr>
      <vt:lpstr>Passo A1-5 — Subir os Serviços do Airflow</vt:lpstr>
      <vt:lpstr>Passo A1-5 — Subir os Serviços do Airflow</vt:lpstr>
      <vt:lpstr>Checkpoint: Pratique Agora</vt:lpstr>
      <vt:lpstr>Apresentação do PowerPoint</vt:lpstr>
      <vt:lpstr>O ETL do Projeto, Agora com Dados "Sujos"</vt:lpstr>
      <vt:lpstr>As Siglas de Hoje</vt:lpstr>
      <vt:lpstr>Apresentação do PowerPoint</vt:lpstr>
      <vt:lpstr>Por Que Precisamos de Dados "Sujos" Para Testar</vt:lpstr>
      <vt:lpstr>Antes e Depois: o Que a Task clean() Resolve</vt:lpstr>
      <vt:lpstr>Passo A2-1 — O Dataset Sujo Já Vem Pronto</vt:lpstr>
      <vt:lpstr>Opcional: Quer Gerar os SEUS Próprios Dados Sujos?</vt:lpstr>
      <vt:lpstr>Passo A2-2 — Substituir o CSV Usado pelo DAG (Idêntico nos 2 SOs)</vt:lpstr>
      <vt:lpstr>O DAG Completo, Explicado ao Lado</vt:lpstr>
      <vt:lpstr>Passo A2-3/A2-4 — Localizar, Ativar e Disparar o DAG</vt:lpstr>
      <vt:lpstr>Checkpoint: Pratique Agora</vt:lpstr>
      <vt:lpstr>Agora Sim: Replicando no SEU Projeto PCDF</vt:lpstr>
      <vt:lpstr>O Que é Orquestração, de Verdade</vt:lpstr>
      <vt:lpstr>Pergunta que Todo Mundo Faz</vt:lpstr>
      <vt:lpstr>Analogia: uma Linha de Produção, não um Funcionário Sozinho</vt:lpstr>
      <vt:lpstr>Script Sozinho x Airflow — Comparando na Prática</vt:lpstr>
      <vt:lpstr>Para Quem Já Programa: os Termos Técnicos</vt:lpstr>
      <vt:lpstr>Apache Airflow: uma Camada Diferente, Não Concorrente</vt:lpstr>
      <vt:lpstr>Kubeflow Pipelines</vt:lpstr>
      <vt:lpstr>O Que é o Kubeflow Pipelines</vt:lpstr>
      <vt:lpstr>Apresentação do PowerPoint</vt:lpstr>
      <vt:lpstr>Quando Usar Cada Um</vt:lpstr>
      <vt:lpstr>Decisão de Escopo Para Hoje</vt:lpstr>
      <vt:lpstr>Passo A3-1 — Instalar o SDK do Kubeflow Pipelines</vt:lpstr>
      <vt:lpstr>O Pipeline de 2 Componentes, Explicado ao Lado</vt:lpstr>
      <vt:lpstr>Passo A3-2 — Compilar o Pipeline (Não Precisa de Cluster)</vt:lpstr>
      <vt:lpstr>O Que Esse YAML Representa</vt:lpstr>
      <vt:lpstr>Checkpoint: Pratique Agora</vt:lpstr>
      <vt:lpstr>Do Dado Tratado ao Primeiro Modelo</vt:lpstr>
      <vt:lpstr>Por Que Fazer Isso Agora</vt:lpstr>
      <vt:lpstr>O Script de Treino, Explicado ao Lado</vt:lpstr>
      <vt:lpstr>Passo A4-1 — Rodar o Treino com o Dado do DAG</vt:lpstr>
      <vt:lpstr>Exemplo de Saída Esperada (Dataset de Demonstração)</vt:lpstr>
      <vt:lpstr>O Aviso Mais Importante Deste Slide</vt:lpstr>
      <vt:lpstr>Checkpoint: Pratique Agora</vt:lpstr>
      <vt:lpstr>Limpeza do Ambiente ao Final</vt:lpstr>
      <vt:lpstr>Por Que Limpar É Parte do Processo</vt:lpstr>
      <vt:lpstr>Comando de Limpeza do Airflow</vt:lpstr>
      <vt:lpstr>Revisão, Avaliação e Entregável de Hoje</vt:lpstr>
      <vt:lpstr>Entrega 4 — DAG e Airflow do Projeto</vt:lpstr>
      <vt:lpstr>Checklist de Encerramento</vt:lpstr>
      <vt:lpstr>Entregável de Hoje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ANDRÉ LUIZ BRAGA</cp:lastModifiedBy>
  <cp:revision>26</cp:revision>
  <dcterms:modified xsi:type="dcterms:W3CDTF">2026-08-25T16:10:45Z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0x010100BC9E5B6CA2FF774BAC2C469BEFBF993E</vt:lpwstr>
  </property>
</Properties>
</file>