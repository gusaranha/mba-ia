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88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338" r:id="rId15"/>
    <p:sldId id="267" r:id="rId16"/>
    <p:sldId id="268" r:id="rId17"/>
    <p:sldId id="339" r:id="rId18"/>
    <p:sldId id="343" r:id="rId19"/>
    <p:sldId id="272" r:id="rId20"/>
    <p:sldId id="332" r:id="rId21"/>
    <p:sldId id="333" r:id="rId22"/>
    <p:sldId id="334" r:id="rId23"/>
    <p:sldId id="336" r:id="rId24"/>
    <p:sldId id="269" r:id="rId25"/>
    <p:sldId id="273" r:id="rId26"/>
    <p:sldId id="344" r:id="rId27"/>
    <p:sldId id="340" r:id="rId28"/>
    <p:sldId id="271" r:id="rId29"/>
    <p:sldId id="337" r:id="rId30"/>
    <p:sldId id="274" r:id="rId31"/>
    <p:sldId id="275" r:id="rId32"/>
    <p:sldId id="300" r:id="rId33"/>
    <p:sldId id="301" r:id="rId34"/>
    <p:sldId id="341" r:id="rId35"/>
    <p:sldId id="342" r:id="rId36"/>
    <p:sldId id="302" r:id="rId37"/>
    <p:sldId id="303" r:id="rId38"/>
    <p:sldId id="278" r:id="rId39"/>
    <p:sldId id="280" r:id="rId40"/>
    <p:sldId id="281" r:id="rId41"/>
    <p:sldId id="282" r:id="rId42"/>
    <p:sldId id="283" r:id="rId43"/>
    <p:sldId id="276" r:id="rId44"/>
    <p:sldId id="345" r:id="rId45"/>
    <p:sldId id="277" r:id="rId46"/>
    <p:sldId id="346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4" r:id="rId64"/>
    <p:sldId id="305" r:id="rId65"/>
    <p:sldId id="307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258" r:id="rId8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3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2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viewProps" Target="viewProp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2286000"/>
          </a:xfrm>
        </p:spPr>
        <p:txBody>
          <a:bodyPr/>
          <a:lstStyle/>
          <a:p>
            <a:r>
              <a:rPr lang="pt-BR" dirty="0"/>
              <a:t>Clique para editar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89100" y="4406900"/>
            <a:ext cx="19170650" cy="7823200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137B-F694-7B4C-8D60-520B530DFBC4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886690" y="13081000"/>
            <a:ext cx="597921" cy="471924"/>
          </a:xfrm>
        </p:spPr>
        <p:txBody>
          <a:bodyPr/>
          <a:lstStyle/>
          <a:p>
            <a:fld id="{85C2E139-75F7-E84C-B376-8E7902EEBD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32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eb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A8A4EE0-71B7-4C3A-9B31-B940838B0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83999" cy="13716000"/>
          </a:xfrm>
          <a:prstGeom prst="rect">
            <a:avLst/>
          </a:prstGeom>
        </p:spPr>
      </p:pic>
      <p:sp>
        <p:nvSpPr>
          <p:cNvPr id="120" name="Title"/>
          <p:cNvSpPr txBox="1">
            <a:spLocks noGrp="1"/>
          </p:cNvSpPr>
          <p:nvPr>
            <p:ph type="ctrTitle"/>
          </p:nvPr>
        </p:nvSpPr>
        <p:spPr>
          <a:xfrm>
            <a:off x="1692939" y="4614632"/>
            <a:ext cx="19029265" cy="15875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BR" sz="6600" b="1" i="1" dirty="0">
                <a:solidFill>
                  <a:srgbClr val="0070C0"/>
                </a:solidFill>
              </a:rPr>
              <a:t>MLOps &amp; CI/CD</a:t>
            </a:r>
          </a:p>
        </p:txBody>
      </p:sp>
      <p:sp>
        <p:nvSpPr>
          <p:cNvPr id="121" name="Body"/>
          <p:cNvSpPr txBox="1">
            <a:spLocks noGrp="1"/>
          </p:cNvSpPr>
          <p:nvPr>
            <p:ph type="subTitle" sz="quarter" idx="1"/>
          </p:nvPr>
        </p:nvSpPr>
        <p:spPr>
          <a:xfrm>
            <a:off x="1692939" y="7102707"/>
            <a:ext cx="19029265" cy="15875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Disciplina/Tema:  Aula 1 — Abertura, fundamentos de MLOps e setup do projeto</a:t>
            </a:r>
          </a:p>
          <a:p>
            <a:pPr algn="l"/>
            <a:r>
              <a:rPr lang="pt-BR" sz="4400" dirty="0"/>
              <a:t>Professor(a):  André Luiz Braga</a:t>
            </a:r>
          </a:p>
          <a:p>
            <a:pPr algn="l"/>
            <a:r>
              <a:rPr sz="2800" i="1">
                <a:solidFill>
                  <a:srgbClr val="595959"/>
                </a:solidFill>
                <a:latin typeface="Calibri"/>
              </a:rPr>
              <a:t>MBA em BI &amp; Data Science  •  Carga horária da aula: 5h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70C0"/>
                </a:solidFill>
                <a:latin typeface="Calibri"/>
              </a:rPr>
              <a:t>Agenda de Hoje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 err="1">
                <a:solidFill>
                  <a:srgbClr val="262626"/>
                </a:solidFill>
                <a:latin typeface="Calibri"/>
              </a:rPr>
              <a:t>Apresentação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curso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metodologia</a:t>
            </a:r>
            <a:endParaRPr lang="pt-BR" sz="7200" dirty="0"/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>
                <a:solidFill>
                  <a:srgbClr val="262626"/>
                </a:solidFill>
                <a:latin typeface="Calibri"/>
              </a:rPr>
              <a:t>O 80/20 de Machine Learning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revisão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rápida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 err="1">
                <a:solidFill>
                  <a:srgbClr val="262626"/>
                </a:solidFill>
                <a:latin typeface="Calibri"/>
              </a:rPr>
              <a:t>Fundamentos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: DevOps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MLOps</a:t>
            </a:r>
            <a:endParaRPr sz="40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 err="1">
                <a:solidFill>
                  <a:srgbClr val="262626"/>
                </a:solidFill>
                <a:latin typeface="Calibri"/>
              </a:rPr>
              <a:t>Projeto-guia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disciplina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tema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PCDF)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 err="1">
                <a:solidFill>
                  <a:srgbClr val="262626"/>
                </a:solidFill>
                <a:latin typeface="Calibri"/>
              </a:rPr>
              <a:t>Considerações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éticas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 LGPD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 err="1">
                <a:solidFill>
                  <a:srgbClr val="262626"/>
                </a:solidFill>
                <a:latin typeface="Calibri"/>
              </a:rPr>
              <a:t>Estudo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caso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riscos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dívida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técnica</a:t>
            </a:r>
            <a:endParaRPr sz="40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>
                <a:solidFill>
                  <a:srgbClr val="262626"/>
                </a:solidFill>
                <a:latin typeface="Calibri"/>
              </a:rPr>
              <a:t>Setup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ambiente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desenvolvimento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massa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 err="1">
                <a:solidFill>
                  <a:srgbClr val="262626"/>
                </a:solidFill>
                <a:latin typeface="Calibri"/>
              </a:rPr>
              <a:t>Construção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repositório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projeto-guia</a:t>
            </a:r>
            <a:endParaRPr sz="40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 err="1">
                <a:solidFill>
                  <a:srgbClr val="262626"/>
                </a:solidFill>
                <a:latin typeface="Calibri"/>
              </a:rPr>
              <a:t>Escolha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tema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aluno</a:t>
            </a:r>
            <a:endParaRPr sz="400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045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 dirty="0" err="1">
                <a:solidFill>
                  <a:srgbClr val="0070C0"/>
                </a:solidFill>
                <a:latin typeface="Calibri"/>
              </a:rPr>
              <a:t>Metodologia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do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Curso</a:t>
            </a:r>
            <a:endParaRPr sz="48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6000" dirty="0" err="1">
                <a:solidFill>
                  <a:srgbClr val="262626"/>
                </a:solidFill>
                <a:latin typeface="Calibri"/>
              </a:rPr>
              <a:t>Curso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100%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prático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: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teoria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+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construção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de um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real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6000" dirty="0">
                <a:solidFill>
                  <a:srgbClr val="262626"/>
                </a:solidFill>
                <a:latin typeface="Calibri"/>
              </a:rPr>
              <a:t>O professor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constrói</a:t>
            </a:r>
            <a:r>
              <a:rPr sz="6000" dirty="0">
                <a:solidFill>
                  <a:srgbClr val="262626"/>
                </a:solidFill>
                <a:latin typeface="Calibri"/>
              </a:rPr>
              <a:t>, aula a aula, um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projeto-guia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completo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MLOps</a:t>
            </a:r>
            <a:endParaRPr sz="60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6000" dirty="0">
                <a:solidFill>
                  <a:srgbClr val="262626"/>
                </a:solidFill>
                <a:latin typeface="Calibri"/>
              </a:rPr>
              <a:t>Cada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aluno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constrói</a:t>
            </a:r>
            <a:r>
              <a:rPr sz="6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paralelo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, o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seu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próprio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projeto</a:t>
            </a:r>
            <a:endParaRPr sz="60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6000" dirty="0" err="1">
                <a:solidFill>
                  <a:srgbClr val="262626"/>
                </a:solidFill>
                <a:latin typeface="Calibri"/>
              </a:rPr>
              <a:t>Avaliação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final (Aula 8):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apresentação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aluno</a:t>
            </a:r>
            <a:endParaRPr sz="60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6000" dirty="0">
                <a:solidFill>
                  <a:srgbClr val="262626"/>
                </a:solidFill>
                <a:latin typeface="Calibri"/>
              </a:rPr>
              <a:t>Este deck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acompanha</a:t>
            </a:r>
            <a:r>
              <a:rPr sz="6000" dirty="0">
                <a:solidFill>
                  <a:srgbClr val="262626"/>
                </a:solidFill>
                <a:latin typeface="Calibri"/>
              </a:rPr>
              <a:t> o Plano de Aula e o Manual do Professor da </a:t>
            </a:r>
            <a:r>
              <a:rPr sz="6000" dirty="0" err="1">
                <a:solidFill>
                  <a:srgbClr val="262626"/>
                </a:solidFill>
                <a:latin typeface="Calibri"/>
              </a:rPr>
              <a:t>disciplina</a:t>
            </a:r>
            <a:endParaRPr sz="600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400" b="1" dirty="0" err="1">
                <a:solidFill>
                  <a:srgbClr val="0070C0"/>
                </a:solidFill>
                <a:latin typeface="Calibri"/>
              </a:rPr>
              <a:t>Visão</a:t>
            </a:r>
            <a:r>
              <a:rPr sz="4400" b="1" dirty="0">
                <a:solidFill>
                  <a:srgbClr val="0070C0"/>
                </a:solidFill>
                <a:latin typeface="Calibri"/>
              </a:rPr>
              <a:t> Geral das 8 Aulas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237417"/>
              </p:ext>
            </p:extLst>
          </p:nvPr>
        </p:nvGraphicFramePr>
        <p:xfrm>
          <a:off x="1689100" y="4406900"/>
          <a:ext cx="19170650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8888">
                <a:tc>
                  <a:txBody>
                    <a:bodyPr/>
                    <a:lstStyle/>
                    <a:p>
                      <a:pPr algn="ctr"/>
                      <a:r>
                        <a:rPr sz="4000" b="1">
                          <a:solidFill>
                            <a:srgbClr val="FFFFFF"/>
                          </a:solidFill>
                          <a:latin typeface="Calibri"/>
                        </a:rPr>
                        <a:t>Aula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0" b="1" dirty="0">
                          <a:solidFill>
                            <a:srgbClr val="FFFFFF"/>
                          </a:solidFill>
                          <a:latin typeface="Calibri"/>
                        </a:rPr>
                        <a:t>Tema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888">
                <a:tc>
                  <a:txBody>
                    <a:bodyPr/>
                    <a:lstStyle/>
                    <a:p>
                      <a:pPr algn="ctr"/>
                      <a:r>
                        <a:rPr sz="40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0" b="0" dirty="0" err="1">
                          <a:solidFill>
                            <a:srgbClr val="262626"/>
                          </a:solidFill>
                          <a:latin typeface="Calibri"/>
                        </a:rPr>
                        <a:t>Abertura</a:t>
                      </a:r>
                      <a:r>
                        <a:rPr sz="4000" b="0" dirty="0">
                          <a:solidFill>
                            <a:srgbClr val="262626"/>
                          </a:solidFill>
                          <a:latin typeface="Calibri"/>
                        </a:rPr>
                        <a:t>, </a:t>
                      </a:r>
                      <a:r>
                        <a:rPr sz="4000" b="0" dirty="0" err="1">
                          <a:solidFill>
                            <a:srgbClr val="262626"/>
                          </a:solidFill>
                          <a:latin typeface="Calibri"/>
                        </a:rPr>
                        <a:t>fundamentos</a:t>
                      </a:r>
                      <a:r>
                        <a:rPr sz="4000" b="0" dirty="0">
                          <a:solidFill>
                            <a:srgbClr val="262626"/>
                          </a:solidFill>
                          <a:latin typeface="Calibri"/>
                        </a:rPr>
                        <a:t> de </a:t>
                      </a:r>
                      <a:r>
                        <a:rPr sz="4000" b="0" dirty="0" err="1">
                          <a:solidFill>
                            <a:srgbClr val="262626"/>
                          </a:solidFill>
                          <a:latin typeface="Calibri"/>
                        </a:rPr>
                        <a:t>MLOps</a:t>
                      </a:r>
                      <a:r>
                        <a:rPr sz="4000" b="0" dirty="0">
                          <a:solidFill>
                            <a:srgbClr val="262626"/>
                          </a:solidFill>
                          <a:latin typeface="Calibri"/>
                        </a:rPr>
                        <a:t>, setup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888">
                <a:tc>
                  <a:txBody>
                    <a:bodyPr/>
                    <a:lstStyle/>
                    <a:p>
                      <a:pPr algn="ctr"/>
                      <a:r>
                        <a:rPr sz="4000" b="1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0" b="0">
                          <a:solidFill>
                            <a:srgbClr val="262626"/>
                          </a:solidFill>
                          <a:latin typeface="Calibri"/>
                        </a:rPr>
                        <a:t>Infraestrutura como Código — Terraform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888">
                <a:tc>
                  <a:txBody>
                    <a:bodyPr/>
                    <a:lstStyle/>
                    <a:p>
                      <a:pPr algn="ctr"/>
                      <a:r>
                        <a:rPr sz="4000" b="1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0" b="0">
                          <a:solidFill>
                            <a:srgbClr val="262626"/>
                          </a:solidFill>
                          <a:latin typeface="Calibri"/>
                        </a:rPr>
                        <a:t>Infraestrutura como Código — Pulumi (Python)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888">
                <a:tc>
                  <a:txBody>
                    <a:bodyPr/>
                    <a:lstStyle/>
                    <a:p>
                      <a:pPr algn="ctr"/>
                      <a:r>
                        <a:rPr sz="4000" b="1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0" b="0">
                          <a:solidFill>
                            <a:srgbClr val="262626"/>
                          </a:solidFill>
                          <a:latin typeface="Calibri"/>
                        </a:rPr>
                        <a:t>Orquestração de workflows — Airflow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8888">
                <a:tc>
                  <a:txBody>
                    <a:bodyPr/>
                    <a:lstStyle/>
                    <a:p>
                      <a:pPr algn="ctr"/>
                      <a:r>
                        <a:rPr sz="4000" b="1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0" b="0">
                          <a:solidFill>
                            <a:srgbClr val="262626"/>
                          </a:solidFill>
                          <a:latin typeface="Calibri"/>
                        </a:rPr>
                        <a:t>Orquestração de pipelines de ML — Kubeflow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8888">
                <a:tc>
                  <a:txBody>
                    <a:bodyPr/>
                    <a:lstStyle/>
                    <a:p>
                      <a:pPr algn="ctr"/>
                      <a:r>
                        <a:rPr sz="4000" b="1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0" b="0">
                          <a:solidFill>
                            <a:srgbClr val="262626"/>
                          </a:solidFill>
                          <a:latin typeface="Calibri"/>
                        </a:rPr>
                        <a:t>CI/CD para Machine Learning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8888">
                <a:tc>
                  <a:txBody>
                    <a:bodyPr/>
                    <a:lstStyle/>
                    <a:p>
                      <a:pPr algn="ctr"/>
                      <a:r>
                        <a:rPr sz="4000" b="1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0" b="0">
                          <a:solidFill>
                            <a:srgbClr val="262626"/>
                          </a:solidFill>
                          <a:latin typeface="Calibri"/>
                        </a:rPr>
                        <a:t>Containerização, Kubernetes e Observabilidade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8896">
                <a:tc>
                  <a:txBody>
                    <a:bodyPr/>
                    <a:lstStyle/>
                    <a:p>
                      <a:pPr algn="ctr"/>
                      <a:r>
                        <a:rPr sz="4000" b="1" dirty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0" b="0" dirty="0" err="1">
                          <a:solidFill>
                            <a:srgbClr val="262626"/>
                          </a:solidFill>
                          <a:latin typeface="Calibri"/>
                        </a:rPr>
                        <a:t>Apresentação</a:t>
                      </a:r>
                      <a:r>
                        <a:rPr sz="4000" b="0" dirty="0">
                          <a:solidFill>
                            <a:srgbClr val="262626"/>
                          </a:solidFill>
                          <a:latin typeface="Calibri"/>
                        </a:rPr>
                        <a:t> final dos </a:t>
                      </a:r>
                      <a:r>
                        <a:rPr sz="4000" b="0" dirty="0" err="1">
                          <a:solidFill>
                            <a:srgbClr val="262626"/>
                          </a:solidFill>
                          <a:latin typeface="Calibri"/>
                        </a:rPr>
                        <a:t>projetos</a:t>
                      </a:r>
                      <a:endParaRPr sz="4000" b="0" dirty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5400000"/>
            <a:ext cx="19170650" cy="2000000"/>
          </a:xfrm>
        </p:spPr>
        <p:txBody>
          <a:bodyPr wrap="square">
            <a:noAutofit/>
          </a:bodyPr>
          <a:lstStyle/>
          <a:p>
            <a:pPr algn="l"/>
            <a:br>
              <a:rPr lang="en-US" sz="6000" b="1" dirty="0">
                <a:solidFill>
                  <a:srgbClr val="004A8F"/>
                </a:solidFill>
                <a:latin typeface="Calibri"/>
              </a:rPr>
            </a:br>
            <a:r>
              <a:rPr sz="6000" b="1" dirty="0">
                <a:solidFill>
                  <a:srgbClr val="004A8F"/>
                </a:solidFill>
                <a:latin typeface="Calibri"/>
              </a:rPr>
              <a:t>Machine Learning</a:t>
            </a:r>
            <a:br>
              <a:rPr lang="en-US" sz="6000" b="1" dirty="0">
                <a:solidFill>
                  <a:srgbClr val="004A8F"/>
                </a:solidFill>
                <a:latin typeface="Calibri"/>
              </a:rPr>
            </a:br>
            <a:r>
              <a:rPr lang="pt-BR" sz="4800" b="1" dirty="0">
                <a:solidFill>
                  <a:srgbClr val="004A8F"/>
                </a:solidFill>
                <a:latin typeface="Calibri"/>
              </a:rPr>
              <a:t>Revisão Rápida</a:t>
            </a:r>
            <a:br>
              <a:rPr lang="en-US" sz="6000" b="1" dirty="0">
                <a:solidFill>
                  <a:srgbClr val="004A8F"/>
                </a:solidFill>
                <a:latin typeface="Calibri"/>
              </a:rPr>
            </a:br>
            <a:endParaRPr sz="6000" b="1" dirty="0">
              <a:solidFill>
                <a:srgbClr val="004A8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5255" y="6107409"/>
            <a:ext cx="12104392" cy="2286000"/>
          </a:xfrm>
        </p:spPr>
        <p:txBody>
          <a:bodyPr>
            <a:normAutofit/>
          </a:bodyPr>
          <a:lstStyle/>
          <a:p>
            <a:pPr algn="l"/>
            <a:r>
              <a:rPr sz="6600" b="1" dirty="0">
                <a:solidFill>
                  <a:srgbClr val="0070C0"/>
                </a:solidFill>
                <a:latin typeface="Calibri"/>
              </a:rPr>
              <a:t>O </a:t>
            </a:r>
            <a:r>
              <a:rPr sz="6600" b="1" dirty="0" err="1">
                <a:solidFill>
                  <a:srgbClr val="0070C0"/>
                </a:solidFill>
                <a:latin typeface="Calibri"/>
              </a:rPr>
              <a:t>Que</a:t>
            </a:r>
            <a:r>
              <a:rPr sz="6600" b="1" dirty="0">
                <a:solidFill>
                  <a:srgbClr val="0070C0"/>
                </a:solidFill>
                <a:latin typeface="Calibri"/>
              </a:rPr>
              <a:t> É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7966" y="5715000"/>
            <a:ext cx="15591511" cy="2286000"/>
          </a:xfrm>
        </p:spPr>
        <p:txBody>
          <a:bodyPr>
            <a:noAutofit/>
          </a:bodyPr>
          <a:lstStyle/>
          <a:p>
            <a:pPr algn="l"/>
            <a:r>
              <a:rPr sz="9600" b="1" dirty="0">
                <a:solidFill>
                  <a:srgbClr val="0070C0"/>
                </a:solidFill>
                <a:latin typeface="Calibri"/>
              </a:rPr>
              <a:t>ML x LLM: Qual a </a:t>
            </a:r>
            <a:r>
              <a:rPr sz="9600" b="1" dirty="0" err="1">
                <a:solidFill>
                  <a:srgbClr val="0070C0"/>
                </a:solidFill>
                <a:latin typeface="Calibri"/>
              </a:rPr>
              <a:t>Diferença</a:t>
            </a:r>
            <a:r>
              <a:rPr sz="9600" b="1" dirty="0">
                <a:solidFill>
                  <a:srgbClr val="0070C0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2572" y="12520000"/>
            <a:ext cx="3930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5940" y="5487477"/>
            <a:ext cx="19170650" cy="2286000"/>
          </a:xfrm>
        </p:spPr>
        <p:txBody>
          <a:bodyPr>
            <a:normAutofit/>
          </a:bodyPr>
          <a:lstStyle/>
          <a:p>
            <a:pPr algn="l"/>
            <a:r>
              <a:rPr sz="8000" b="1" dirty="0" err="1">
                <a:solidFill>
                  <a:srgbClr val="0070C0"/>
                </a:solidFill>
                <a:latin typeface="Calibri"/>
              </a:rPr>
              <a:t>Modelos</a:t>
            </a:r>
            <a:r>
              <a:rPr sz="8000" b="1" dirty="0">
                <a:solidFill>
                  <a:srgbClr val="0070C0"/>
                </a:solidFill>
                <a:latin typeface="Calibri"/>
              </a:rPr>
              <a:t> de ML São </a:t>
            </a:r>
            <a:r>
              <a:rPr sz="8000" b="1" dirty="0" err="1">
                <a:solidFill>
                  <a:srgbClr val="0070C0"/>
                </a:solidFill>
                <a:latin typeface="Calibri"/>
              </a:rPr>
              <a:t>Determinísticos</a:t>
            </a:r>
            <a:r>
              <a:rPr sz="8000" b="1" dirty="0">
                <a:solidFill>
                  <a:srgbClr val="0070C0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5396" y="12520000"/>
            <a:ext cx="3674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Tipos de Modelos de Regressão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0" y="4406900"/>
            <a:ext cx="8818499" cy="78232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200"/>
              </a:spcAft>
              <a:buNone/>
            </a:pPr>
            <a:r>
              <a:rPr sz="5400" b="1">
                <a:solidFill>
                  <a:srgbClr val="004A8F"/>
                </a:solidFill>
                <a:latin typeface="Calibri"/>
              </a:rPr>
              <a:t>Regressão Linear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4000">
                <a:solidFill>
                  <a:srgbClr val="262626"/>
                </a:solidFill>
                <a:latin typeface="Calibri"/>
              </a:rPr>
              <a:t>prevê um valor numérico contínuo assumindo relação linear entre as variáveis.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Forte:  </a:t>
            </a:r>
            <a:r>
              <a:rPr sz="4000">
                <a:solidFill>
                  <a:srgbClr val="262626"/>
                </a:solidFill>
                <a:latin typeface="Calibri"/>
              </a:rPr>
              <a:t>simples e interpretável.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Fraco:  </a:t>
            </a:r>
            <a:r>
              <a:rPr sz="4000">
                <a:solidFill>
                  <a:srgbClr val="262626"/>
                </a:solidFill>
                <a:latin typeface="Calibri"/>
              </a:rPr>
              <a:t>não captura relações não lineares.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Uso no projeto:  </a:t>
            </a:r>
            <a:r>
              <a:rPr sz="4000">
                <a:solidFill>
                  <a:srgbClr val="262626"/>
                </a:solidFill>
                <a:latin typeface="Calibri"/>
              </a:rPr>
              <a:t>prever o valor de prejuízo (valor_prejuizo_reais).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2572" y="12520000"/>
            <a:ext cx="3930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2BEDDC1-E366-3201-43DF-61DDC3D49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872" y="3765550"/>
            <a:ext cx="11179717" cy="8337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>
                <a:solidFill>
                  <a:srgbClr val="0070C0"/>
                </a:solidFill>
                <a:latin typeface="Calibri"/>
              </a:rPr>
              <a:t>Tipos de Modelos de Regressão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0" y="4406900"/>
            <a:ext cx="8818499" cy="78232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200"/>
              </a:spcAft>
              <a:buNone/>
            </a:pPr>
            <a:r>
              <a:rPr sz="4800" b="1">
                <a:solidFill>
                  <a:srgbClr val="004A8F"/>
                </a:solidFill>
                <a:latin typeface="Calibri"/>
              </a:rPr>
              <a:t>Regressão Logística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3600">
                <a:solidFill>
                  <a:srgbClr val="262626"/>
                </a:solidFill>
                <a:latin typeface="Calibri"/>
              </a:rPr>
              <a:t>apesar do nome, é usada para CLASSIFICAÇÃO — estima a probabilidade de cada classe.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Forte:  </a:t>
            </a:r>
            <a:r>
              <a:rPr sz="3600">
                <a:solidFill>
                  <a:srgbClr val="262626"/>
                </a:solidFill>
                <a:latin typeface="Calibri"/>
              </a:rPr>
              <a:t>rápida, interpretável, ótima baseline.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Fraco:  </a:t>
            </a:r>
            <a:r>
              <a:rPr sz="3600">
                <a:solidFill>
                  <a:srgbClr val="262626"/>
                </a:solidFill>
                <a:latin typeface="Calibri"/>
              </a:rPr>
              <a:t>assume fronteira de decisão linear.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Uso no projeto:  </a:t>
            </a:r>
            <a:r>
              <a:rPr sz="3600">
                <a:solidFill>
                  <a:srgbClr val="262626"/>
                </a:solidFill>
                <a:latin typeface="Calibri"/>
              </a:rPr>
              <a:t>classificar a natureza do BO.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893D1DA-C10F-7C7B-A5C9-AF844E366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9"/>
          <a:stretch>
            <a:fillRect/>
          </a:stretch>
        </p:blipFill>
        <p:spPr>
          <a:xfrm>
            <a:off x="10372854" y="3020564"/>
            <a:ext cx="9762995" cy="87586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4BD6-B835-2E1B-7399-443B42D32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F73C-527A-CF5C-FF05-4692D583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 dirty="0" err="1">
                <a:solidFill>
                  <a:srgbClr val="0070C0"/>
                </a:solidFill>
                <a:latin typeface="Calibri"/>
              </a:rPr>
              <a:t>Tipos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Modelos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Regressão</a:t>
            </a:r>
            <a:r>
              <a:rPr lang="en-US" sz="4800" b="1" dirty="0">
                <a:solidFill>
                  <a:srgbClr val="0070C0"/>
                </a:solidFill>
                <a:latin typeface="Calibri"/>
              </a:rPr>
              <a:t> - </a:t>
            </a:r>
            <a:r>
              <a:rPr lang="en-US" sz="4800" b="1" dirty="0" err="1">
                <a:solidFill>
                  <a:srgbClr val="0070C0"/>
                </a:solidFill>
                <a:latin typeface="Calibri"/>
              </a:rPr>
              <a:t>Polinomial</a:t>
            </a:r>
            <a:endParaRPr sz="48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5837A-07C3-26BD-8F02-9E141870BB15}"/>
              </a:ext>
            </a:extLst>
          </p:cNvPr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1BC7A9-C5AC-6DBB-9FAF-3410B7135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226" y="3124954"/>
            <a:ext cx="13340173" cy="913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616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>
                <a:solidFill>
                  <a:srgbClr val="0070C0"/>
                </a:solidFill>
                <a:latin typeface="Calibri"/>
              </a:rPr>
              <a:t>Tipos de Modelos de Regressão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0" y="4406900"/>
            <a:ext cx="8818499" cy="78232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200"/>
              </a:spcAft>
              <a:buNone/>
            </a:pPr>
            <a:r>
              <a:rPr sz="4800" b="1">
                <a:solidFill>
                  <a:srgbClr val="004A8F"/>
                </a:solidFill>
                <a:latin typeface="Calibri"/>
              </a:rPr>
              <a:t>Árvores de Decisão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3600">
                <a:solidFill>
                  <a:srgbClr val="262626"/>
                </a:solidFill>
                <a:latin typeface="Calibri"/>
              </a:rPr>
              <a:t>dividem os dados em regras "se-então" sucessivas até chegar a uma previsão.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Forte:  </a:t>
            </a:r>
            <a:r>
              <a:rPr sz="3600">
                <a:solidFill>
                  <a:srgbClr val="262626"/>
                </a:solidFill>
                <a:latin typeface="Calibri"/>
              </a:rPr>
              <a:t>fácil de visualizar e explicar.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Fraco:  </a:t>
            </a:r>
            <a:r>
              <a:rPr sz="3600">
                <a:solidFill>
                  <a:srgbClr val="262626"/>
                </a:solidFill>
                <a:latin typeface="Calibri"/>
              </a:rPr>
              <a:t>tende a overfitting se não for podada.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Uso no projeto:  </a:t>
            </a:r>
            <a:r>
              <a:rPr sz="3600">
                <a:solidFill>
                  <a:srgbClr val="262626"/>
                </a:solidFill>
                <a:latin typeface="Calibri"/>
              </a:rPr>
              <a:t>é o modelo usado nos dois scripts de demonstração (scripts/demo_ml_1 e demo_ml_2).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07599" y="4406900"/>
            <a:ext cx="9952151" cy="7823200"/>
          </a:xfrm>
          <a:prstGeom prst="rect">
            <a:avLst/>
          </a:prstGeom>
          <a:noFill/>
          <a:ln w="15875">
            <a:solidFill>
              <a:srgbClr val="C0C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i="1">
                <a:solidFill>
                  <a:srgbClr val="A6A6A6"/>
                </a:solidFill>
                <a:latin typeface="Calibri"/>
              </a:rPr>
              <a:t>[espaço reservado para figura]</a:t>
            </a: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DCE3F4B1-CE5E-4C84-43C6-E5BFDF24B6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2" r="5202"/>
          <a:stretch/>
        </p:blipFill>
        <p:spPr>
          <a:xfrm>
            <a:off x="10175419" y="5698337"/>
            <a:ext cx="10684331" cy="5953248"/>
          </a:xfrm>
          <a:prstGeom prst="rect">
            <a:avLst/>
          </a:prstGeom>
        </p:spPr>
      </p:pic>
      <p:pic>
        <p:nvPicPr>
          <p:cNvPr id="8" name="Picture 14">
            <a:extLst>
              <a:ext uri="{FF2B5EF4-FFF2-40B4-BE49-F238E27FC236}">
                <a16:creationId xmlns:a16="http://schemas.microsoft.com/office/drawing/2014/main" id="{582AA92A-3F20-77A4-D9BC-357F08876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4306" y="2064415"/>
            <a:ext cx="5381237" cy="25736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0070C0"/>
                </a:solidFill>
                <a:latin typeface="Calibri"/>
              </a:rPr>
              <a:t>Tipos de Modelos de Regressão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1" y="4406900"/>
            <a:ext cx="7645400" cy="7823200"/>
          </a:xfrm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2200"/>
              </a:spcAft>
              <a:buNone/>
            </a:pPr>
            <a:r>
              <a:rPr sz="4800" b="1" dirty="0">
                <a:solidFill>
                  <a:srgbClr val="004A8F"/>
                </a:solidFill>
                <a:latin typeface="Calibri"/>
              </a:rPr>
              <a:t>Random Forest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é: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conjunto (ensemble)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várias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árvores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decisão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treinadas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subconjuntos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diferentes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dos dados.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Forte: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bom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desempenho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geral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robusto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a overfitting.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 dirty="0" err="1">
                <a:solidFill>
                  <a:srgbClr val="004A8F"/>
                </a:solidFill>
                <a:latin typeface="Calibri"/>
              </a:rPr>
              <a:t>Fraco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menos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interpretável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única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árvore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Uso no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projeto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alternativa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robusta à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árvore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única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para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comparar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métricas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CEEE00E-10F4-ED65-971D-02CE98EA0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982" y="4196371"/>
            <a:ext cx="10841037" cy="79067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4E00-B185-D231-5F14-6A72C2AE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83CD-EB80-F499-E8E8-21300110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 dirty="0" err="1">
                <a:solidFill>
                  <a:srgbClr val="0070C0"/>
                </a:solidFill>
                <a:latin typeface="Calibri"/>
              </a:rPr>
              <a:t>Tipos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Modelos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Regressão</a:t>
            </a:r>
            <a:endParaRPr sz="54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08B90-4327-A042-351D-75E7D11B1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7751" y="6067375"/>
            <a:ext cx="16522700" cy="3057575"/>
          </a:xfr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200"/>
              </a:spcAft>
              <a:buNone/>
            </a:pPr>
            <a:r>
              <a:rPr sz="6600" b="1" dirty="0">
                <a:solidFill>
                  <a:schemeClr val="tx1"/>
                </a:solidFill>
                <a:latin typeface="Calibri"/>
              </a:rPr>
              <a:t>Random Forest</a:t>
            </a:r>
            <a:r>
              <a:rPr lang="en-US" sz="6600" b="1" dirty="0">
                <a:solidFill>
                  <a:schemeClr val="tx1"/>
                </a:solidFill>
                <a:latin typeface="Calibri"/>
              </a:rPr>
              <a:t> – </a:t>
            </a:r>
            <a:r>
              <a:rPr lang="en-US" sz="6600" b="1" dirty="0" err="1">
                <a:solidFill>
                  <a:schemeClr val="tx1"/>
                </a:solidFill>
                <a:latin typeface="Calibri"/>
              </a:rPr>
              <a:t>Quase</a:t>
            </a:r>
            <a:r>
              <a:rPr lang="en-US" sz="6600" b="1" dirty="0">
                <a:solidFill>
                  <a:schemeClr val="tx1"/>
                </a:solidFill>
                <a:latin typeface="Calibri"/>
              </a:rPr>
              <a:t> sempre se </a:t>
            </a:r>
            <a:r>
              <a:rPr lang="en-US" sz="6600" b="1" dirty="0" err="1">
                <a:solidFill>
                  <a:schemeClr val="tx1"/>
                </a:solidFill>
                <a:latin typeface="Calibri"/>
              </a:rPr>
              <a:t>sai</a:t>
            </a:r>
            <a:r>
              <a:rPr lang="en-US" sz="6600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en-US" sz="6600" b="1" dirty="0" err="1">
                <a:solidFill>
                  <a:schemeClr val="tx1"/>
                </a:solidFill>
                <a:latin typeface="Calibri"/>
              </a:rPr>
              <a:t>bem</a:t>
            </a:r>
            <a:r>
              <a:rPr lang="en-US" sz="6600" b="1" dirty="0">
                <a:solidFill>
                  <a:schemeClr val="tx1"/>
                </a:solidFill>
                <a:latin typeface="Calibri"/>
              </a:rPr>
              <a:t>. POR QUE ? </a:t>
            </a:r>
            <a:endParaRPr sz="66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A3FF5-1F96-3E64-D7C3-2722C45DA0CB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12849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64FA-CC40-EA9D-0B47-DED50C0A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8FE2-695B-8D48-A64D-BE529738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 dirty="0" err="1">
                <a:solidFill>
                  <a:srgbClr val="0070C0"/>
                </a:solidFill>
                <a:latin typeface="Calibri"/>
              </a:rPr>
              <a:t>Tipos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Modelos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Regressão</a:t>
            </a:r>
            <a:endParaRPr sz="54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34AC4-3DA4-A0AE-340C-D40CD97F3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7751" y="6067375"/>
            <a:ext cx="16522700" cy="3057575"/>
          </a:xfr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200"/>
              </a:spcAft>
              <a:buNone/>
            </a:pPr>
            <a:r>
              <a:rPr sz="6600" b="1" dirty="0">
                <a:solidFill>
                  <a:schemeClr val="tx1"/>
                </a:solidFill>
                <a:latin typeface="Calibri"/>
              </a:rPr>
              <a:t>Random Forest</a:t>
            </a:r>
            <a:r>
              <a:rPr lang="en-US" sz="6600" b="1" dirty="0">
                <a:solidFill>
                  <a:schemeClr val="tx1"/>
                </a:solidFill>
                <a:latin typeface="Calibri"/>
              </a:rPr>
              <a:t> X Deep Learning ? </a:t>
            </a:r>
            <a:br>
              <a:rPr lang="en-US" sz="6600" b="1" dirty="0">
                <a:solidFill>
                  <a:schemeClr val="tx1"/>
                </a:solidFill>
                <a:latin typeface="Calibri"/>
              </a:rPr>
            </a:br>
            <a:r>
              <a:rPr lang="en-US" sz="6600" b="1" dirty="0" err="1">
                <a:solidFill>
                  <a:schemeClr val="tx1"/>
                </a:solidFill>
                <a:latin typeface="Calibri"/>
              </a:rPr>
              <a:t>Alguém</a:t>
            </a:r>
            <a:r>
              <a:rPr lang="en-US" sz="6600" b="1" dirty="0">
                <a:solidFill>
                  <a:schemeClr val="tx1"/>
                </a:solidFill>
                <a:latin typeface="Calibri"/>
              </a:rPr>
              <a:t> sabe </a:t>
            </a:r>
            <a:r>
              <a:rPr lang="en-US" sz="6600" b="1" dirty="0" err="1">
                <a:solidFill>
                  <a:schemeClr val="tx1"/>
                </a:solidFill>
                <a:latin typeface="Calibri"/>
              </a:rPr>
              <a:t>explicar</a:t>
            </a:r>
            <a:r>
              <a:rPr lang="en-US" sz="6600" b="1" dirty="0">
                <a:solidFill>
                  <a:schemeClr val="tx1"/>
                </a:solidFill>
                <a:latin typeface="Calibri"/>
              </a:rPr>
              <a:t> ? </a:t>
            </a:r>
            <a:endParaRPr sz="66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F7F73-83CF-5D69-766A-2A4DF6277BFA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40379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Maldição da Dimensionalidade e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Maldição da dimensionalidade:  </a:t>
            </a:r>
            <a:r>
              <a:rPr sz="3600">
                <a:solidFill>
                  <a:srgbClr val="262626"/>
                </a:solidFill>
                <a:latin typeface="Calibri"/>
              </a:rPr>
              <a:t>quanto mais variáveis (dimensões) um modelo tem, mais dados são necessários para aprender padrões confiáveis — em muitas dimensões os dados ficam "esparsos" e as distâncias entre pontos perdem significado.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Sintomas:  </a:t>
            </a:r>
            <a:r>
              <a:rPr sz="3600">
                <a:solidFill>
                  <a:srgbClr val="262626"/>
                </a:solidFill>
                <a:latin typeface="Calibri"/>
              </a:rPr>
              <a:t>desempenho ruim mesmo com muitas features, treino lento, overfitting mais provável.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PCA (Principal Component Analysis):  </a:t>
            </a:r>
            <a:r>
              <a:rPr sz="3600">
                <a:solidFill>
                  <a:srgbClr val="262626"/>
                </a:solidFill>
                <a:latin typeface="Calibri"/>
              </a:rPr>
              <a:t>técnica que reduz o número de dimensões, combinando variáveis originais em componentes que preservam o máximo de variância (informação) possível.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Quando usar:  </a:t>
            </a:r>
            <a:r>
              <a:rPr sz="3600">
                <a:solidFill>
                  <a:srgbClr val="262626"/>
                </a:solidFill>
                <a:latin typeface="Calibri"/>
              </a:rPr>
              <a:t>quando há muitas variáveis numéricas correlacionadas — comum em texto vetorizado (o TF-IDF do relato do BO pode gerar centenas de colunas).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C932-8A99-CFEC-C2CD-76DC0D99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F225-FB73-68DF-2C85-BB23790E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Maldição da Dimensionalidade e PCA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F1382-12E5-4FA7-0421-101ED8585CFB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D0885F5-5961-9FF5-978E-81BE04BB5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251" y="3646057"/>
            <a:ext cx="8607932" cy="8808541"/>
          </a:xfrm>
          <a:prstGeom prst="rect">
            <a:avLst/>
          </a:prstGeom>
        </p:spPr>
      </p:pic>
      <p:pic>
        <p:nvPicPr>
          <p:cNvPr id="8" name="image6.png">
            <a:extLst>
              <a:ext uri="{FF2B5EF4-FFF2-40B4-BE49-F238E27FC236}">
                <a16:creationId xmlns:a16="http://schemas.microsoft.com/office/drawing/2014/main" id="{BD9DBBD5-3FE7-417D-C3A5-FF4886D0D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2183" y="2973813"/>
            <a:ext cx="906667" cy="495244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Balão de Pensamento: Nuvem 8">
            <a:extLst>
              <a:ext uri="{FF2B5EF4-FFF2-40B4-BE49-F238E27FC236}">
                <a16:creationId xmlns:a16="http://schemas.microsoft.com/office/drawing/2014/main" id="{C59BA86D-DA70-B613-CC3C-CE522ED19182}"/>
              </a:ext>
            </a:extLst>
          </p:cNvPr>
          <p:cNvSpPr/>
          <p:nvPr/>
        </p:nvSpPr>
        <p:spPr>
          <a:xfrm>
            <a:off x="3272124" y="3943474"/>
            <a:ext cx="3876859" cy="2779832"/>
          </a:xfrm>
          <a:prstGeom prst="cloudCallout">
            <a:avLst>
              <a:gd name="adj1" fmla="val 65470"/>
              <a:gd name="adj2" fmla="val 62239"/>
            </a:avLst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 err="1">
                <a:latin typeface="Comic Sans MS" panose="030F0702030302020204" pitchFamily="66" charset="0"/>
              </a:rPr>
              <a:t>Dá</a:t>
            </a:r>
            <a:r>
              <a:rPr lang="en-US" sz="2800" b="1" dirty="0">
                <a:latin typeface="Comic Sans MS" panose="030F0702030302020204" pitchFamily="66" charset="0"/>
              </a:rPr>
              <a:t> </a:t>
            </a:r>
            <a:r>
              <a:rPr lang="en-US" sz="2800" b="1" dirty="0" err="1">
                <a:latin typeface="Comic Sans MS" panose="030F0702030302020204" pitchFamily="66" charset="0"/>
              </a:rPr>
              <a:t>pra</a:t>
            </a:r>
            <a:r>
              <a:rPr lang="en-US" sz="2800" b="1" dirty="0">
                <a:latin typeface="Comic Sans MS" panose="030F0702030302020204" pitchFamily="66" charset="0"/>
              </a:rPr>
              <a:t> </a:t>
            </a:r>
            <a:r>
              <a:rPr lang="en-US" sz="2800" b="1" dirty="0" err="1">
                <a:latin typeface="Comic Sans MS" panose="030F0702030302020204" pitchFamily="66" charset="0"/>
              </a:rPr>
              <a:t>distinguir</a:t>
            </a:r>
            <a:r>
              <a:rPr lang="en-US" sz="2800" b="1" dirty="0">
                <a:latin typeface="Comic Sans MS" panose="030F0702030302020204" pitchFamily="66" charset="0"/>
              </a:rPr>
              <a:t> </a:t>
            </a:r>
            <a:r>
              <a:rPr lang="en-US" sz="2800" b="1" dirty="0" err="1">
                <a:latin typeface="Comic Sans MS" panose="030F0702030302020204" pitchFamily="66" charset="0"/>
              </a:rPr>
              <a:t>quem</a:t>
            </a:r>
            <a:r>
              <a:rPr lang="en-US" sz="2800" b="1" dirty="0">
                <a:latin typeface="Comic Sans MS" panose="030F0702030302020204" pitchFamily="66" charset="0"/>
              </a:rPr>
              <a:t> é o Tipo 1 do Tipo 2 ? </a:t>
            </a:r>
            <a:endParaRPr kumimoji="0" lang="pt-BR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omic Sans MS" panose="030F0702030302020204" pitchFamily="66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33652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066F-4C6D-204C-0F49-9FE904A0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71E2-3C76-C630-A7D5-278A36CA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Maldição da Dimensionalidade e PCA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90F63-9617-C3C7-1F2B-66EFFD3E7E04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pic>
        <p:nvPicPr>
          <p:cNvPr id="8" name="image6.png">
            <a:extLst>
              <a:ext uri="{FF2B5EF4-FFF2-40B4-BE49-F238E27FC236}">
                <a16:creationId xmlns:a16="http://schemas.microsoft.com/office/drawing/2014/main" id="{E3437A39-AF0B-35C3-0A85-1B228E46E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183" y="2973813"/>
            <a:ext cx="906667" cy="495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F99E697-FCAA-1743-7162-FC74F1682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818" y="3988660"/>
            <a:ext cx="10487884" cy="8129448"/>
          </a:xfrm>
          <a:prstGeom prst="rect">
            <a:avLst/>
          </a:prstGeom>
        </p:spPr>
      </p:pic>
      <p:sp>
        <p:nvSpPr>
          <p:cNvPr id="5" name="Balão de Pensamento: Nuvem 4">
            <a:extLst>
              <a:ext uri="{FF2B5EF4-FFF2-40B4-BE49-F238E27FC236}">
                <a16:creationId xmlns:a16="http://schemas.microsoft.com/office/drawing/2014/main" id="{CB590C1E-C5FC-96DF-C9A8-10E0B70D5BE2}"/>
              </a:ext>
            </a:extLst>
          </p:cNvPr>
          <p:cNvSpPr/>
          <p:nvPr/>
        </p:nvSpPr>
        <p:spPr>
          <a:xfrm>
            <a:off x="3113820" y="3533713"/>
            <a:ext cx="3019770" cy="1468001"/>
          </a:xfrm>
          <a:prstGeom prst="cloudCallout">
            <a:avLst>
              <a:gd name="adj1" fmla="val 78184"/>
              <a:gd name="adj2" fmla="val 70818"/>
            </a:avLst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 err="1">
                <a:latin typeface="Comic Sans MS" panose="030F0702030302020204" pitchFamily="66" charset="0"/>
              </a:rPr>
              <a:t>Não</a:t>
            </a:r>
            <a:r>
              <a:rPr lang="en-US" sz="2800" b="1" dirty="0">
                <a:latin typeface="Comic Sans MS" panose="030F0702030302020204" pitchFamily="66" charset="0"/>
              </a:rPr>
              <a:t> ? E agora ?</a:t>
            </a:r>
            <a:endParaRPr kumimoji="0" lang="pt-BR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omic Sans MS" panose="030F0702030302020204" pitchFamily="66" charset="0"/>
              <a:sym typeface="Helvetica Light"/>
            </a:endParaRPr>
          </a:p>
        </p:txBody>
      </p:sp>
      <p:sp>
        <p:nvSpPr>
          <p:cNvPr id="6" name="Balão de Pensamento: Nuvem 5">
            <a:extLst>
              <a:ext uri="{FF2B5EF4-FFF2-40B4-BE49-F238E27FC236}">
                <a16:creationId xmlns:a16="http://schemas.microsoft.com/office/drawing/2014/main" id="{04B9923A-838C-6FB0-394F-E48D625619FD}"/>
              </a:ext>
            </a:extLst>
          </p:cNvPr>
          <p:cNvSpPr/>
          <p:nvPr/>
        </p:nvSpPr>
        <p:spPr>
          <a:xfrm>
            <a:off x="1953687" y="6668456"/>
            <a:ext cx="2670018" cy="4091662"/>
          </a:xfrm>
          <a:prstGeom prst="cloudCallout">
            <a:avLst>
              <a:gd name="adj1" fmla="val 82696"/>
              <a:gd name="adj2" fmla="val -24483"/>
            </a:avLst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 err="1">
                <a:latin typeface="Comic Sans MS" panose="030F0702030302020204" pitchFamily="66" charset="0"/>
              </a:rPr>
              <a:t>Aqui</a:t>
            </a:r>
            <a:endParaRPr lang="en-US" sz="2800" b="1" dirty="0">
              <a:latin typeface="Comic Sans MS" panose="030F0702030302020204" pitchFamily="66" charset="0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Comic Sans MS" panose="030F0702030302020204" pitchFamily="66" charset="0"/>
              </a:rPr>
              <a:t>FOI 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 err="1">
                <a:latin typeface="Comic Sans MS" panose="030F0702030302020204" pitchFamily="66" charset="0"/>
              </a:rPr>
              <a:t>Aplicado</a:t>
            </a:r>
            <a:r>
              <a:rPr lang="en-US" sz="2800" b="1" dirty="0">
                <a:latin typeface="Comic Sans MS" panose="030F0702030302020204" pitchFamily="66" charset="0"/>
              </a:rPr>
              <a:t> o </a:t>
            </a:r>
            <a:r>
              <a:rPr lang="en-US" sz="2800" b="1" dirty="0" err="1">
                <a:latin typeface="Comic Sans MS" panose="030F0702030302020204" pitchFamily="66" charset="0"/>
              </a:rPr>
              <a:t>algoritmo</a:t>
            </a:r>
            <a:r>
              <a:rPr lang="en-US" sz="2800" b="1" dirty="0">
                <a:latin typeface="Comic Sans MS" panose="030F0702030302020204" pitchFamily="66" charset="0"/>
              </a:rPr>
              <a:t> da PCA</a:t>
            </a:r>
            <a:endParaRPr kumimoji="0" lang="pt-BR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omic Sans MS" panose="030F0702030302020204" pitchFamily="66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30490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864A3-BBFA-957B-68B0-DF05CD76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8A6D9-54F8-4685-D24B-B883AC10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Maldição da Dimensionalidade e PCA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7B003-D5D7-2954-CEE2-088E588708B8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pic>
        <p:nvPicPr>
          <p:cNvPr id="8" name="image6.png">
            <a:extLst>
              <a:ext uri="{FF2B5EF4-FFF2-40B4-BE49-F238E27FC236}">
                <a16:creationId xmlns:a16="http://schemas.microsoft.com/office/drawing/2014/main" id="{9C976673-836E-9A7D-8ABB-ACAE9E7FB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183" y="2973813"/>
            <a:ext cx="906667" cy="49524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Balão de Pensamento: Nuvem 6">
            <a:extLst>
              <a:ext uri="{FF2B5EF4-FFF2-40B4-BE49-F238E27FC236}">
                <a16:creationId xmlns:a16="http://schemas.microsoft.com/office/drawing/2014/main" id="{351E690E-B293-2B37-BBC8-22D4F4917795}"/>
              </a:ext>
            </a:extLst>
          </p:cNvPr>
          <p:cNvSpPr/>
          <p:nvPr/>
        </p:nvSpPr>
        <p:spPr>
          <a:xfrm>
            <a:off x="4659011" y="4129079"/>
            <a:ext cx="11195755" cy="6481068"/>
          </a:xfrm>
          <a:prstGeom prst="cloudCallout">
            <a:avLst>
              <a:gd name="adj1" fmla="val 37920"/>
              <a:gd name="adj2" fmla="val 19859"/>
            </a:avLst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b="1" dirty="0">
                <a:latin typeface="Comic Sans MS" panose="030F0702030302020204" pitchFamily="66" charset="0"/>
              </a:rPr>
              <a:t>PERGUNTA: 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Comic Sans MS" panose="030F0702030302020204" pitchFamily="66" charset="0"/>
                <a:sym typeface="Helvetica Light"/>
              </a:rPr>
              <a:t>Quais</a:t>
            </a: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Comic Sans MS" panose="030F0702030302020204" pitchFamily="66" charset="0"/>
                <a:sym typeface="Helvetica Light"/>
              </a:rPr>
              <a:t> 2 </a:t>
            </a:r>
            <a:r>
              <a:rPr lang="en-US" sz="5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das 3 </a:t>
            </a:r>
            <a:r>
              <a:rPr lang="en-US" sz="5400" b="1" dirty="0" err="1">
                <a:solidFill>
                  <a:srgbClr val="FFFF00"/>
                </a:solidFill>
                <a:latin typeface="Comic Sans MS" panose="030F0702030302020204" pitchFamily="66" charset="0"/>
              </a:rPr>
              <a:t>dimensões</a:t>
            </a:r>
            <a:r>
              <a:rPr lang="en-US" sz="5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 </a:t>
            </a:r>
            <a:r>
              <a:rPr lang="en-US" sz="5400" b="1" dirty="0" err="1">
                <a:solidFill>
                  <a:srgbClr val="FFFF00"/>
                </a:solidFill>
                <a:latin typeface="Comic Sans MS" panose="030F0702030302020204" pitchFamily="66" charset="0"/>
              </a:rPr>
              <a:t>foram</a:t>
            </a:r>
            <a:r>
              <a:rPr lang="en-US" sz="5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 </a:t>
            </a:r>
            <a:r>
              <a:rPr lang="en-US" sz="5400" b="1" dirty="0" err="1">
                <a:solidFill>
                  <a:srgbClr val="FFFF00"/>
                </a:solidFill>
                <a:latin typeface="Comic Sans MS" panose="030F0702030302020204" pitchFamily="66" charset="0"/>
              </a:rPr>
              <a:t>escolhidas</a:t>
            </a:r>
            <a:r>
              <a:rPr lang="en-US" sz="5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 e qual </a:t>
            </a:r>
            <a:r>
              <a:rPr lang="en-US" sz="5400" b="1" dirty="0" err="1">
                <a:solidFill>
                  <a:srgbClr val="FFFF00"/>
                </a:solidFill>
                <a:latin typeface="Comic Sans MS" panose="030F0702030302020204" pitchFamily="66" charset="0"/>
              </a:rPr>
              <a:t>foi</a:t>
            </a:r>
            <a:r>
              <a:rPr lang="en-US" sz="5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 </a:t>
            </a:r>
            <a:r>
              <a:rPr lang="en-US" sz="5400" b="1" dirty="0" err="1">
                <a:solidFill>
                  <a:srgbClr val="FFFF00"/>
                </a:solidFill>
                <a:latin typeface="Comic Sans MS" panose="030F0702030302020204" pitchFamily="66" charset="0"/>
              </a:rPr>
              <a:t>jogada</a:t>
            </a:r>
            <a:r>
              <a:rPr lang="en-US" sz="5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 fora ? </a:t>
            </a:r>
            <a:endParaRPr kumimoji="0" lang="pt-BR" sz="5400" b="1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Comic Sans MS" panose="030F0702030302020204" pitchFamily="66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707670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C6CD-5587-1EAF-17B7-A42AEB29C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5495-5A3D-9EAE-6349-A4D2598E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Maldição da Dimensionalidade e PCA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E5E3A-DBC0-A761-C2BE-756C6293A00A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pic>
        <p:nvPicPr>
          <p:cNvPr id="8" name="image6.png">
            <a:extLst>
              <a:ext uri="{FF2B5EF4-FFF2-40B4-BE49-F238E27FC236}">
                <a16:creationId xmlns:a16="http://schemas.microsoft.com/office/drawing/2014/main" id="{A83103AC-DD7A-BC1F-956E-F215BC80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183" y="2973813"/>
            <a:ext cx="906667" cy="495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00B99EB-1231-95D1-47BF-3A041CEB6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357" y="3632846"/>
            <a:ext cx="8313333" cy="17156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35B9A88-DB7F-104A-8C04-1752B09B3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295" y="7345232"/>
            <a:ext cx="4291730" cy="411366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A2182A3-0FF0-20D8-4B16-E7B7EC2C53C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0292" b="6130"/>
          <a:stretch/>
        </p:blipFill>
        <p:spPr>
          <a:xfrm>
            <a:off x="11408296" y="5224478"/>
            <a:ext cx="5626475" cy="647879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403F56F-01ED-36DF-B02A-C4A7699DE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8739" y="5199325"/>
            <a:ext cx="6789557" cy="1534482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55BA3AF-D683-B570-D13D-BB35C11D8258}"/>
              </a:ext>
            </a:extLst>
          </p:cNvPr>
          <p:cNvSpPr/>
          <p:nvPr/>
        </p:nvSpPr>
        <p:spPr>
          <a:xfrm>
            <a:off x="7938009" y="4351985"/>
            <a:ext cx="1456469" cy="366855"/>
          </a:xfrm>
          <a:prstGeom prst="roundRect">
            <a:avLst/>
          </a:prstGeom>
          <a:noFill/>
          <a:ln w="25400" cap="flat">
            <a:solidFill>
              <a:srgbClr val="0000FF"/>
            </a:solidFill>
            <a:prstDash val="dash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77AF2C2-7C14-64DC-7267-96B1EAE4ACC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046" r="23320" b="69926"/>
          <a:stretch/>
        </p:blipFill>
        <p:spPr>
          <a:xfrm>
            <a:off x="8891764" y="6783260"/>
            <a:ext cx="3433107" cy="336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78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400" b="1" dirty="0" err="1">
                <a:solidFill>
                  <a:srgbClr val="0070C0"/>
                </a:solidFill>
                <a:latin typeface="Calibri"/>
              </a:rPr>
              <a:t>Tipos</a:t>
            </a:r>
            <a:r>
              <a:rPr sz="44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4400" b="1" dirty="0" err="1">
                <a:solidFill>
                  <a:srgbClr val="0070C0"/>
                </a:solidFill>
                <a:latin typeface="Calibri"/>
              </a:rPr>
              <a:t>Modelos</a:t>
            </a:r>
            <a:r>
              <a:rPr sz="44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4400" b="1" dirty="0" err="1">
                <a:solidFill>
                  <a:srgbClr val="0070C0"/>
                </a:solidFill>
                <a:latin typeface="Calibri"/>
              </a:rPr>
              <a:t>Regressão</a:t>
            </a:r>
            <a:r>
              <a:rPr lang="en-US" sz="4400" b="1" dirty="0">
                <a:solidFill>
                  <a:srgbClr val="0070C0"/>
                </a:solidFill>
                <a:latin typeface="Calibri"/>
              </a:rPr>
              <a:t> / </a:t>
            </a:r>
            <a:r>
              <a:rPr lang="en-US" sz="4400" b="1" dirty="0" err="1">
                <a:solidFill>
                  <a:srgbClr val="0070C0"/>
                </a:solidFill>
                <a:latin typeface="Calibri"/>
              </a:rPr>
              <a:t>Classificação</a:t>
            </a:r>
            <a:endParaRPr sz="4400" b="1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0" y="4406900"/>
            <a:ext cx="8818499" cy="78232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200"/>
              </a:spcAft>
              <a:buNone/>
            </a:pPr>
            <a:r>
              <a:rPr sz="4400" b="1">
                <a:solidFill>
                  <a:srgbClr val="004A8F"/>
                </a:solidFill>
                <a:latin typeface="Calibri"/>
              </a:rPr>
              <a:t>KNN (K-Nearest Neighbors)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3200">
                <a:solidFill>
                  <a:srgbClr val="262626"/>
                </a:solidFill>
                <a:latin typeface="Calibri"/>
              </a:rPr>
              <a:t>prevê com base nos K vizinhos mais próximos no espaço de variáveis — serve tanto para regressão quanto para classificação.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004A8F"/>
                </a:solidFill>
                <a:latin typeface="Calibri"/>
              </a:rPr>
              <a:t>Forte:  </a:t>
            </a:r>
            <a:r>
              <a:rPr sz="3200">
                <a:solidFill>
                  <a:srgbClr val="262626"/>
                </a:solidFill>
                <a:latin typeface="Calibri"/>
              </a:rPr>
              <a:t>simples, sem fase de treino custosa.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004A8F"/>
                </a:solidFill>
                <a:latin typeface="Calibri"/>
              </a:rPr>
              <a:t>Fraco:  </a:t>
            </a:r>
            <a:r>
              <a:rPr sz="3200">
                <a:solidFill>
                  <a:srgbClr val="262626"/>
                </a:solidFill>
                <a:latin typeface="Calibri"/>
              </a:rPr>
              <a:t>fica lento em bases grandes e exige normalizar as variáveis antes.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004A8F"/>
                </a:solidFill>
                <a:latin typeface="Calibri"/>
              </a:rPr>
              <a:t>Uso no projeto:  </a:t>
            </a:r>
            <a:r>
              <a:rPr sz="3200">
                <a:solidFill>
                  <a:srgbClr val="262626"/>
                </a:solidFill>
                <a:latin typeface="Calibri"/>
              </a:rPr>
              <a:t>bom baseline para comparar com a árvore de decisão.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1276" y="12520000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07599" y="4406900"/>
            <a:ext cx="9952151" cy="7823200"/>
          </a:xfrm>
          <a:prstGeom prst="rect">
            <a:avLst/>
          </a:prstGeom>
          <a:noFill/>
          <a:ln w="15875">
            <a:solidFill>
              <a:srgbClr val="C0C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i="1">
                <a:solidFill>
                  <a:srgbClr val="A6A6A6"/>
                </a:solidFill>
                <a:latin typeface="Calibri"/>
              </a:rPr>
              <a:t>[espaço reservado para figura]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9E79265-7878-49F6-EFEB-452080B3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970"/>
          <a:stretch>
            <a:fillRect/>
          </a:stretch>
        </p:blipFill>
        <p:spPr>
          <a:xfrm>
            <a:off x="10651465" y="5158026"/>
            <a:ext cx="10050561" cy="60317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 dirty="0" err="1">
                <a:solidFill>
                  <a:srgbClr val="0070C0"/>
                </a:solidFill>
                <a:latin typeface="Calibri"/>
              </a:rPr>
              <a:t>AutoML</a:t>
            </a:r>
            <a:r>
              <a:rPr sz="6600" b="1" dirty="0">
                <a:solidFill>
                  <a:srgbClr val="0070C0"/>
                </a:solidFill>
                <a:latin typeface="Calibri"/>
              </a:rPr>
              <a:t> — </a:t>
            </a:r>
            <a:r>
              <a:rPr sz="6600" b="1" dirty="0" err="1">
                <a:solidFill>
                  <a:srgbClr val="0070C0"/>
                </a:solidFill>
                <a:latin typeface="Calibri"/>
              </a:rPr>
              <a:t>Automatizando</a:t>
            </a:r>
            <a:r>
              <a:rPr sz="6600" b="1" dirty="0">
                <a:solidFill>
                  <a:srgbClr val="0070C0"/>
                </a:solidFill>
                <a:latin typeface="Calibri"/>
              </a:rPr>
              <a:t> a </a:t>
            </a:r>
            <a:r>
              <a:rPr sz="6600" b="1" dirty="0" err="1">
                <a:solidFill>
                  <a:srgbClr val="0070C0"/>
                </a:solidFill>
                <a:latin typeface="Calibri"/>
              </a:rPr>
              <a:t>Escolha</a:t>
            </a:r>
            <a:r>
              <a:rPr sz="6600" b="1" dirty="0">
                <a:solidFill>
                  <a:srgbClr val="0070C0"/>
                </a:solidFill>
                <a:latin typeface="Calibri"/>
              </a:rPr>
              <a:t> do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4000">
                <a:solidFill>
                  <a:srgbClr val="262626"/>
                </a:solidFill>
                <a:latin typeface="Calibri"/>
              </a:rPr>
              <a:t>ferramentas que testam automaticamente vários algoritmos, hiperparâmetros e etapas de pré-processamento, buscando o melhor modelo para os dados.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Exemplos:  </a:t>
            </a:r>
            <a:r>
              <a:rPr sz="4000">
                <a:solidFill>
                  <a:srgbClr val="262626"/>
                </a:solidFill>
                <a:latin typeface="Calibri"/>
              </a:rPr>
              <a:t>Azure AutoML, Google Vertex AI AutoML, H2O.ai, auto-sklearn.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Vantagem:  </a:t>
            </a:r>
            <a:r>
              <a:rPr sz="4000">
                <a:solidFill>
                  <a:srgbClr val="262626"/>
                </a:solidFill>
                <a:latin typeface="Calibri"/>
              </a:rPr>
              <a:t>acelera a experimentação inicial e serve de baseline forte, mesmo para quem tem pouca experiência em ML.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Limitação:  </a:t>
            </a:r>
            <a:r>
              <a:rPr sz="4000">
                <a:solidFill>
                  <a:srgbClr val="262626"/>
                </a:solidFill>
                <a:latin typeface="Calibri"/>
              </a:rPr>
              <a:t>modelos gerados costumam ser menos interpretáveis, e o AutoML não substitui o entendimento do problema de negócio (etapas 1 e 2 do CRISP-DM).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Neste curso:  </a:t>
            </a:r>
            <a:r>
              <a:rPr sz="4000">
                <a:solidFill>
                  <a:srgbClr val="262626"/>
                </a:solidFill>
                <a:latin typeface="Calibri"/>
              </a:rPr>
              <a:t>vamos construir os pipelines manualmente, para entender cada etapa — mas é importante saber que essa alternativa existe.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D96F-E3EE-C633-7230-12DD331FD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7EEF-74AE-C7AE-3D5B-E1C9AF33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8800" b="1" dirty="0" err="1">
                <a:solidFill>
                  <a:srgbClr val="0070C0"/>
                </a:solidFill>
                <a:latin typeface="Calibri"/>
              </a:rPr>
              <a:t>Encoding</a:t>
            </a:r>
            <a:r>
              <a:rPr lang="pt-BR" sz="8800" b="1" dirty="0">
                <a:solidFill>
                  <a:srgbClr val="0070C0"/>
                </a:solidFill>
                <a:latin typeface="Calibri"/>
              </a:rPr>
              <a:t> de Variáveis Categóricas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DBBF3-7EF1-103D-7B2E-E9F54D5B8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rtl="0"/>
            <a:r>
              <a:rPr lang="pt-BR" sz="4000" b="1" dirty="0" err="1"/>
              <a:t>Label</a:t>
            </a:r>
            <a:r>
              <a:rPr lang="pt-BR" sz="4000" b="1" dirty="0"/>
              <a:t> </a:t>
            </a:r>
            <a:r>
              <a:rPr lang="pt-BR" sz="4000" b="1" dirty="0" err="1"/>
              <a:t>Encoding</a:t>
            </a:r>
            <a:br>
              <a:rPr lang="pt-BR" sz="4000" dirty="0"/>
            </a:br>
            <a:r>
              <a:rPr lang="pt-BR" sz="4000" dirty="0"/>
              <a:t>Atribui um número inteiro a cada categoria (ex.: Madrugada=0, Manhã=1, Tarde=2, Noite=3).</a:t>
            </a:r>
            <a:br>
              <a:rPr lang="pt-BR" sz="4000" dirty="0"/>
            </a:br>
            <a:r>
              <a:rPr lang="pt-BR" sz="4000" dirty="0"/>
              <a:t>Use quando a variável é ORDINAL — existe uma ordem natural entre as categorias.</a:t>
            </a:r>
          </a:p>
          <a:p>
            <a:pPr rtl="0"/>
            <a:r>
              <a:rPr lang="pt-BR" sz="4000" b="1" dirty="0" err="1"/>
              <a:t>One</a:t>
            </a:r>
            <a:r>
              <a:rPr lang="pt-BR" sz="4000" b="1" dirty="0"/>
              <a:t>-Hot </a:t>
            </a:r>
            <a:r>
              <a:rPr lang="pt-BR" sz="4000" b="1" dirty="0" err="1"/>
              <a:t>Encoding</a:t>
            </a:r>
            <a:br>
              <a:rPr lang="pt-BR" sz="4000" dirty="0"/>
            </a:br>
            <a:r>
              <a:rPr lang="pt-BR" sz="4000" dirty="0"/>
              <a:t>Cria uma coluna binária (0/1) para cada categoria.</a:t>
            </a:r>
            <a:br>
              <a:rPr lang="pt-BR" sz="4000" dirty="0"/>
            </a:br>
            <a:r>
              <a:rPr lang="pt-BR" sz="4000" dirty="0"/>
              <a:t>Use quando a variável é NOMINAL — não existe ordem entre as categorias. Evita que o modelo "invente" uma relação de grandeza que não existe (ex.: achar que Guará &gt; Asa Norte).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441FF-E5BE-7759-5E6F-7906CC46F8E6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067881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6EB63-A91F-A0F0-961E-CEA1D76A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9D35F-DE51-4050-EB9A-22ED742A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7751" y="6067375"/>
            <a:ext cx="16522700" cy="3057575"/>
          </a:xfr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200"/>
              </a:spcAft>
              <a:buNone/>
            </a:pPr>
            <a:r>
              <a:rPr lang="en-US" sz="6600" b="1" dirty="0">
                <a:solidFill>
                  <a:schemeClr val="tx1"/>
                </a:solidFill>
                <a:latin typeface="Calibri"/>
              </a:rPr>
              <a:t>Modelo de </a:t>
            </a:r>
            <a:r>
              <a:rPr lang="en-US" sz="6600" b="1" dirty="0" err="1">
                <a:solidFill>
                  <a:schemeClr val="tx1"/>
                </a:solidFill>
                <a:latin typeface="Calibri"/>
              </a:rPr>
              <a:t>Análise</a:t>
            </a:r>
            <a:endParaRPr sz="66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CE0C3-8047-708D-80C1-DF939279ED0D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67119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Modelo CRISP-DM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dirty="0">
                <a:solidFill>
                  <a:srgbClr val="262626"/>
                </a:solidFill>
                <a:latin typeface="Calibri"/>
              </a:rPr>
              <a:t>CRISP-DM (Cross-Industry Standard Process for Data Mining) é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roteiro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usado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indústria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conduzir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dados/ML, do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entendimento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negócio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à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entrega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1.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Entendimento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do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negócio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definir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problema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objetivos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(ex.: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reduzir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tempo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triagem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BOs).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2.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Entendimento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dos dados: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explorar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conhecer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dados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disponíveis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3.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Preparação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dos dados: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limpeza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tratamento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valores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faltantes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encoding,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criação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features.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4.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Modelagem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treinar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modelos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candidatos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5.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Avaliação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medir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se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realmente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resolve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problema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negócio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só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as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métricas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técnicas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6.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Implantação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(Deploy):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colocar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produção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— é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exatamente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aqui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MLOps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entra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ação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41675-E85D-4175-026E-1D94DBB5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90EF-7928-D516-992A-7BC4433EE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Modelo CRISP-DM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67241-0786-2A66-2FFC-9D3EB4B3C9AA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pic>
        <p:nvPicPr>
          <p:cNvPr id="18" name="image6.png">
            <a:extLst>
              <a:ext uri="{FF2B5EF4-FFF2-40B4-BE49-F238E27FC236}">
                <a16:creationId xmlns:a16="http://schemas.microsoft.com/office/drawing/2014/main" id="{DE3437E3-C660-A739-7219-6BF8E91E2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940" y="2692851"/>
            <a:ext cx="906667" cy="495244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E2132D3-5D35-E7EF-2B65-F9243A91FA07}"/>
              </a:ext>
            </a:extLst>
          </p:cNvPr>
          <p:cNvSpPr txBox="1"/>
          <p:nvPr/>
        </p:nvSpPr>
        <p:spPr>
          <a:xfrm>
            <a:off x="4443656" y="2519845"/>
            <a:ext cx="12034158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0" marR="0" indent="0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70C0"/>
                </a:solidFill>
              </a:rPr>
              <a:t>CRISP – “</a:t>
            </a:r>
            <a:r>
              <a:rPr lang="en-US" sz="3200" b="1" dirty="0" err="1">
                <a:solidFill>
                  <a:srgbClr val="0070C0"/>
                </a:solidFill>
              </a:rPr>
              <a:t>Comendo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 err="1">
                <a:solidFill>
                  <a:srgbClr val="0070C0"/>
                </a:solidFill>
              </a:rPr>
              <a:t>bem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 err="1">
                <a:solidFill>
                  <a:srgbClr val="0070C0"/>
                </a:solidFill>
              </a:rPr>
              <a:t>crocante</a:t>
            </a:r>
            <a:r>
              <a:rPr lang="en-US" sz="3200" b="1" dirty="0">
                <a:solidFill>
                  <a:srgbClr val="0070C0"/>
                </a:solidFill>
              </a:rPr>
              <a:t>”</a:t>
            </a:r>
            <a:endParaRPr kumimoji="0" lang="pt-BR" sz="3200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BB10CA88-7551-DA15-5289-178C06FAF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747" y="3779219"/>
            <a:ext cx="8409243" cy="7961020"/>
          </a:xfrm>
          <a:prstGeom prst="rect">
            <a:avLst/>
          </a:prstGeom>
        </p:spPr>
      </p:pic>
      <p:sp>
        <p:nvSpPr>
          <p:cNvPr id="22" name="Balão de Fala: Retângulo com Cantos Arredondados 21">
            <a:extLst>
              <a:ext uri="{FF2B5EF4-FFF2-40B4-BE49-F238E27FC236}">
                <a16:creationId xmlns:a16="http://schemas.microsoft.com/office/drawing/2014/main" id="{FA5FC248-A88C-9D51-AE5A-B4386772A5EE}"/>
              </a:ext>
            </a:extLst>
          </p:cNvPr>
          <p:cNvSpPr/>
          <p:nvPr/>
        </p:nvSpPr>
        <p:spPr>
          <a:xfrm>
            <a:off x="4726018" y="3744037"/>
            <a:ext cx="3165778" cy="1339374"/>
          </a:xfrm>
          <a:prstGeom prst="wedgeRoundRectCallout">
            <a:avLst>
              <a:gd name="adj1" fmla="val 61005"/>
              <a:gd name="adj2" fmla="val 71034"/>
              <a:gd name="adj3" fmla="val 16667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“Estamos com </a:t>
            </a:r>
            <a:r>
              <a:rPr lang="en-US" dirty="0" err="1"/>
              <a:t>fome</a:t>
            </a:r>
            <a:r>
              <a:rPr lang="en-US" dirty="0"/>
              <a:t>”</a:t>
            </a:r>
            <a:endParaRPr kumimoji="0" lang="pt-BR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3" name="Balão de Fala: Retângulo com Cantos Arredondados 22">
            <a:extLst>
              <a:ext uri="{FF2B5EF4-FFF2-40B4-BE49-F238E27FC236}">
                <a16:creationId xmlns:a16="http://schemas.microsoft.com/office/drawing/2014/main" id="{88A9A34A-C26C-750A-6332-C85F69418AB8}"/>
              </a:ext>
            </a:extLst>
          </p:cNvPr>
          <p:cNvSpPr/>
          <p:nvPr/>
        </p:nvSpPr>
        <p:spPr>
          <a:xfrm>
            <a:off x="13559790" y="3847208"/>
            <a:ext cx="4812030" cy="1747996"/>
          </a:xfrm>
          <a:prstGeom prst="wedgeRoundRectCallout">
            <a:avLst>
              <a:gd name="adj1" fmla="val -66685"/>
              <a:gd name="adj2" fmla="val 37794"/>
              <a:gd name="adj3" fmla="val 16667"/>
            </a:avLst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“O que </a:t>
            </a:r>
            <a:r>
              <a:rPr lang="en-US" sz="3200" dirty="0" err="1"/>
              <a:t>tem</a:t>
            </a:r>
            <a:r>
              <a:rPr lang="en-US" sz="3200" dirty="0"/>
              <a:t> de ingredients ?” (</a:t>
            </a:r>
            <a:r>
              <a:rPr lang="en-US" sz="2800" dirty="0"/>
              <a:t>Mercado/</a:t>
            </a:r>
            <a:r>
              <a:rPr lang="en-US" sz="2800" dirty="0" err="1"/>
              <a:t>Cozinha</a:t>
            </a:r>
            <a:r>
              <a:rPr lang="en-US" sz="3200" dirty="0"/>
              <a:t>)</a:t>
            </a: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4" name="Balão de Fala: Retângulo com Cantos Arredondados 23">
            <a:extLst>
              <a:ext uri="{FF2B5EF4-FFF2-40B4-BE49-F238E27FC236}">
                <a16:creationId xmlns:a16="http://schemas.microsoft.com/office/drawing/2014/main" id="{44DA0D24-325C-8B29-28A1-42353B66D3FE}"/>
              </a:ext>
            </a:extLst>
          </p:cNvPr>
          <p:cNvSpPr/>
          <p:nvPr/>
        </p:nvSpPr>
        <p:spPr>
          <a:xfrm>
            <a:off x="14426565" y="5942382"/>
            <a:ext cx="2892791" cy="1339374"/>
          </a:xfrm>
          <a:prstGeom prst="wedgeRoundRectCallout">
            <a:avLst>
              <a:gd name="adj1" fmla="val -66685"/>
              <a:gd name="adj2" fmla="val 37794"/>
              <a:gd name="adj3" fmla="val 16667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“</a:t>
            </a:r>
            <a:r>
              <a:rPr lang="en-US" sz="2400" dirty="0" err="1"/>
              <a:t>Vamos</a:t>
            </a:r>
            <a:r>
              <a:rPr lang="en-US" sz="2400" dirty="0"/>
              <a:t> </a:t>
            </a:r>
            <a:r>
              <a:rPr lang="en-US" sz="2400" dirty="0" err="1"/>
              <a:t>separar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tipos</a:t>
            </a:r>
            <a:r>
              <a:rPr lang="en-US" sz="2400" dirty="0"/>
              <a:t> de ingredients”</a:t>
            </a:r>
            <a:endParaRPr kumimoji="0" lang="pt-BR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5" name="Balão de Fala: Retângulo com Cantos Arredondados 24">
            <a:extLst>
              <a:ext uri="{FF2B5EF4-FFF2-40B4-BE49-F238E27FC236}">
                <a16:creationId xmlns:a16="http://schemas.microsoft.com/office/drawing/2014/main" id="{4DC5225F-75B0-2356-0C67-F81D9B68CE91}"/>
              </a:ext>
            </a:extLst>
          </p:cNvPr>
          <p:cNvSpPr/>
          <p:nvPr/>
        </p:nvSpPr>
        <p:spPr>
          <a:xfrm>
            <a:off x="14747607" y="8686026"/>
            <a:ext cx="2286000" cy="930751"/>
          </a:xfrm>
          <a:prstGeom prst="wedgeRoundRectCallout">
            <a:avLst>
              <a:gd name="adj1" fmla="val -89372"/>
              <a:gd name="adj2" fmla="val -75800"/>
              <a:gd name="adj3" fmla="val 16667"/>
            </a:avLst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“</a:t>
            </a:r>
            <a:r>
              <a:rPr lang="en-US" sz="2400" dirty="0" err="1"/>
              <a:t>Criando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receita</a:t>
            </a:r>
            <a:r>
              <a:rPr lang="en-US" sz="2400" dirty="0"/>
              <a:t>”</a:t>
            </a:r>
            <a:endParaRPr kumimoji="0" lang="pt-BR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6" name="Balão de Fala: Retângulo com Cantos Arredondados 25">
            <a:extLst>
              <a:ext uri="{FF2B5EF4-FFF2-40B4-BE49-F238E27FC236}">
                <a16:creationId xmlns:a16="http://schemas.microsoft.com/office/drawing/2014/main" id="{353168D1-09BA-AAF6-7BBE-A238A785C404}"/>
              </a:ext>
            </a:extLst>
          </p:cNvPr>
          <p:cNvSpPr/>
          <p:nvPr/>
        </p:nvSpPr>
        <p:spPr>
          <a:xfrm>
            <a:off x="14136719" y="10124887"/>
            <a:ext cx="3033046" cy="1203166"/>
          </a:xfrm>
          <a:prstGeom prst="wedgeRoundRectCallout">
            <a:avLst>
              <a:gd name="adj1" fmla="val -145088"/>
              <a:gd name="adj2" fmla="val -66804"/>
              <a:gd name="adj3" fmla="val 16667"/>
            </a:avLst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Hora de comer, é claro</a:t>
            </a: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7" name="Balão de Fala: Retângulo com Cantos Arredondados 26">
            <a:extLst>
              <a:ext uri="{FF2B5EF4-FFF2-40B4-BE49-F238E27FC236}">
                <a16:creationId xmlns:a16="http://schemas.microsoft.com/office/drawing/2014/main" id="{5B690772-63ED-B08B-2469-1BCC51A0B31C}"/>
              </a:ext>
            </a:extLst>
          </p:cNvPr>
          <p:cNvSpPr/>
          <p:nvPr/>
        </p:nvSpPr>
        <p:spPr>
          <a:xfrm>
            <a:off x="2403751" y="9852472"/>
            <a:ext cx="2195148" cy="1747996"/>
          </a:xfrm>
          <a:prstGeom prst="wedgeRoundRectCallout">
            <a:avLst>
              <a:gd name="adj1" fmla="val 279167"/>
              <a:gd name="adj2" fmla="val -25436"/>
              <a:gd name="adj3" fmla="val 16667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“Essa </a:t>
            </a:r>
            <a:r>
              <a:rPr lang="en-US" sz="3200" dirty="0" err="1"/>
              <a:t>joça</a:t>
            </a:r>
            <a:r>
              <a:rPr lang="en-US" sz="3200" dirty="0"/>
              <a:t> </a:t>
            </a:r>
            <a:r>
              <a:rPr lang="en-US" sz="3200" dirty="0" err="1"/>
              <a:t>ficou</a:t>
            </a:r>
            <a:r>
              <a:rPr lang="en-US" sz="3200" dirty="0"/>
              <a:t> boa?”</a:t>
            </a: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8" name="Balão de Fala: Retângulo com Cantos Arredondados 27">
            <a:extLst>
              <a:ext uri="{FF2B5EF4-FFF2-40B4-BE49-F238E27FC236}">
                <a16:creationId xmlns:a16="http://schemas.microsoft.com/office/drawing/2014/main" id="{0727517B-E28D-FA3E-C0B3-83CB665C5AD7}"/>
              </a:ext>
            </a:extLst>
          </p:cNvPr>
          <p:cNvSpPr/>
          <p:nvPr/>
        </p:nvSpPr>
        <p:spPr>
          <a:xfrm>
            <a:off x="4765363" y="5533760"/>
            <a:ext cx="2195148" cy="1747996"/>
          </a:xfrm>
          <a:prstGeom prst="wedgeRoundRectCallout">
            <a:avLst>
              <a:gd name="adj1" fmla="val 61517"/>
              <a:gd name="adj2" fmla="val 71994"/>
              <a:gd name="adj3" fmla="val 16667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ENTÃO VAMOS COMER!</a:t>
            </a: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922331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>
                <a:solidFill>
                  <a:srgbClr val="0070C0"/>
                </a:solidFill>
                <a:latin typeface="Calibri"/>
              </a:rPr>
              <a:t>Overfitting e 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Overfitting (sobreajuste):  </a:t>
            </a:r>
            <a:r>
              <a:rPr sz="4400">
                <a:solidFill>
                  <a:srgbClr val="262626"/>
                </a:solidFill>
                <a:latin typeface="Calibri"/>
              </a:rPr>
              <a:t>o modelo "decora" os dados de treino, incluindo o ruído, e performa mal em dados novos. Sintoma: ótima métrica no treino, ruim no teste.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Como tratar:  </a:t>
            </a:r>
            <a:r>
              <a:rPr sz="4400">
                <a:solidFill>
                  <a:srgbClr val="262626"/>
                </a:solidFill>
                <a:latin typeface="Calibri"/>
              </a:rPr>
              <a:t>mais dados, regularização (Ridge/Lasso), poda de árvores, validação cruzada, reduzir a complexidade do modelo.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Underfitting (subajuste):  </a:t>
            </a:r>
            <a:r>
              <a:rPr sz="4400">
                <a:solidFill>
                  <a:srgbClr val="262626"/>
                </a:solidFill>
                <a:latin typeface="Calibri"/>
              </a:rPr>
              <a:t>o modelo é simples demais para capturar o padrão real. Sintoma: desempenho ruim tanto no treino quanto no teste.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Como tratar:  </a:t>
            </a:r>
            <a:r>
              <a:rPr sz="4400">
                <a:solidFill>
                  <a:srgbClr val="262626"/>
                </a:solidFill>
                <a:latin typeface="Calibri"/>
              </a:rPr>
              <a:t>modelo mais complexo, mais features relevantes, menos regularização.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>
                <a:solidFill>
                  <a:srgbClr val="0070C0"/>
                </a:solidFill>
                <a:latin typeface="Calibri"/>
              </a:rPr>
              <a:t>Outliers: O Que São e Como Tratar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O que são:  </a:t>
            </a:r>
            <a:r>
              <a:rPr sz="4400">
                <a:solidFill>
                  <a:srgbClr val="262626"/>
                </a:solidFill>
                <a:latin typeface="Calibri"/>
              </a:rPr>
              <a:t>valores muito fora do padrão (ex.: um "valor_prejuizo" de R$ 480.000 em um dataset de furtos simples). Podem distorcer o treinamento se não forem tratados.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Passo 1 — investigar:  </a:t>
            </a:r>
            <a:r>
              <a:rPr sz="4400">
                <a:solidFill>
                  <a:srgbClr val="262626"/>
                </a:solidFill>
                <a:latin typeface="Calibri"/>
              </a:rPr>
              <a:t>é um erro de digitação? Um caso real e extremo? A resposta muda o tratamento correto.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Passo 2 — tratar:  </a:t>
            </a:r>
            <a:r>
              <a:rPr sz="4400">
                <a:solidFill>
                  <a:srgbClr val="262626"/>
                </a:solidFill>
                <a:latin typeface="Calibri"/>
              </a:rPr>
              <a:t>remover o registro, limitar o valor (capping/winsorização) ou usar modelos mais robustos a outliers (ex.: árvores em vez de regressão linear).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No projeto-guia:  </a:t>
            </a:r>
            <a:r>
              <a:rPr sz="4400">
                <a:solidFill>
                  <a:srgbClr val="262626"/>
                </a:solidFill>
                <a:latin typeface="Calibri"/>
              </a:rPr>
              <a:t>veja o dataset bos_sinteticos.csv — ele já inclui outliers propositais de prejuízo e de idade para essa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>
            <a:normAutofit/>
          </a:bodyPr>
          <a:lstStyle/>
          <a:p>
            <a:pPr algn="ctr">
              <a:buNone/>
            </a:pPr>
            <a:r>
              <a:rPr sz="6600" b="1" i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são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as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métricas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de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avaliação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de </a:t>
            </a:r>
            <a:r>
              <a:rPr sz="6600" b="1" i="1" dirty="0" err="1">
                <a:solidFill>
                  <a:srgbClr val="004A8F"/>
                </a:solidFill>
                <a:latin typeface="Calibri"/>
              </a:rPr>
              <a:t>modelos</a:t>
            </a:r>
            <a:r>
              <a:rPr sz="6600" b="1" i="1" dirty="0">
                <a:solidFill>
                  <a:srgbClr val="004A8F"/>
                </a:solidFill>
                <a:latin typeface="Calibri"/>
              </a:rPr>
              <a:t> de 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347490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>
                <a:solidFill>
                  <a:srgbClr val="0070C0"/>
                </a:solidFill>
                <a:latin typeface="Calibri"/>
              </a:rPr>
              <a:t>Métricas de Avaliação: Acurácia, Precisão, Revocação, F1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1500" y="3755390"/>
            <a:ext cx="19170650" cy="3350260"/>
          </a:xfrm>
        </p:spPr>
        <p:txBody>
          <a:bodyPr wrap="square" anchor="t">
            <a:normAutofit fontScale="92500" lnSpcReduction="20000"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dirty="0" err="1">
                <a:solidFill>
                  <a:srgbClr val="262626"/>
                </a:solidFill>
                <a:latin typeface="Calibri"/>
              </a:rPr>
              <a:t>Métricas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avaliação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medem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bem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classificação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está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acertando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olha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para um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ângulo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diferente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erro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 dirty="0" err="1">
                <a:solidFill>
                  <a:srgbClr val="004A8F"/>
                </a:solidFill>
                <a:latin typeface="Calibri"/>
              </a:rPr>
              <a:t>Acurácia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2800" dirty="0">
                <a:solidFill>
                  <a:srgbClr val="262626"/>
                </a:solidFill>
                <a:latin typeface="Calibri"/>
              </a:rPr>
              <a:t>percentual total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previsões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corretas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 Ex.: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acertar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610 de 1.000 BOs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classificados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= 61%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acurácia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 Pode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enganar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quando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as classes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desbalanceadas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 dirty="0" err="1">
                <a:solidFill>
                  <a:srgbClr val="004A8F"/>
                </a:solidFill>
                <a:latin typeface="Calibri"/>
              </a:rPr>
              <a:t>Precisão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(Precision):  </a:t>
            </a:r>
            <a:r>
              <a:rPr sz="2800" dirty="0">
                <a:solidFill>
                  <a:srgbClr val="262626"/>
                </a:solidFill>
                <a:latin typeface="Calibri"/>
              </a:rPr>
              <a:t>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tudo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classificou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"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Furto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",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quantos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eram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realmente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"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Furto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".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 dirty="0" err="1">
                <a:solidFill>
                  <a:srgbClr val="004A8F"/>
                </a:solidFill>
                <a:latin typeface="Calibri"/>
              </a:rPr>
              <a:t>Revocação</a:t>
            </a:r>
            <a:r>
              <a:rPr sz="2800" b="1" dirty="0">
                <a:solidFill>
                  <a:srgbClr val="004A8F"/>
                </a:solidFill>
                <a:latin typeface="Calibri"/>
              </a:rPr>
              <a:t> (Recall):  </a:t>
            </a:r>
            <a:r>
              <a:rPr sz="2800" dirty="0">
                <a:solidFill>
                  <a:srgbClr val="262626"/>
                </a:solidFill>
                <a:latin typeface="Calibri"/>
              </a:rPr>
              <a:t>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todos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BOs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eram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realmente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"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Furto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",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quantos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conseguiu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identificar</a:t>
            </a:r>
            <a:r>
              <a:rPr sz="28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 dirty="0">
                <a:solidFill>
                  <a:srgbClr val="004A8F"/>
                </a:solidFill>
                <a:latin typeface="Calibri"/>
              </a:rPr>
              <a:t>F1-Score: 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média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harmônica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entre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Precisão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Revocação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— resume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dois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único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número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útil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quando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as classes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são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desbalanceadas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(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no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estudo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2800" dirty="0" err="1">
                <a:solidFill>
                  <a:srgbClr val="262626"/>
                </a:solidFill>
                <a:latin typeface="Calibri"/>
              </a:rPr>
              <a:t>caso</a:t>
            </a:r>
            <a:r>
              <a:rPr sz="2800" dirty="0">
                <a:solidFill>
                  <a:srgbClr val="262626"/>
                </a:solidFill>
                <a:latin typeface="Calibri"/>
              </a:rPr>
              <a:t> do Piauí).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45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47571DEB-B642-C507-0AAD-83FD0E8F8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943" y="7914612"/>
            <a:ext cx="13063537" cy="412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12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F5079-84B1-F731-2D0C-4179FC61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7F02-4DD9-7358-0DFE-80F2BA0CE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>
                <a:solidFill>
                  <a:srgbClr val="0070C0"/>
                </a:solidFill>
                <a:latin typeface="Calibri"/>
              </a:rPr>
              <a:t>Métricas de Avaliação: Acurácia, Precisão, Revocação, F1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CD0C9-EA8A-008F-1FB3-8E65BD20126A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45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56731094-AF7E-8253-9CD5-DECF01132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943" y="7914612"/>
            <a:ext cx="13063537" cy="412532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8BB4A56-6A59-5FFB-7132-45FA7BCAA513}"/>
              </a:ext>
            </a:extLst>
          </p:cNvPr>
          <p:cNvSpPr txBox="1"/>
          <p:nvPr/>
        </p:nvSpPr>
        <p:spPr>
          <a:xfrm>
            <a:off x="4672750" y="3598331"/>
            <a:ext cx="12192000" cy="3469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  <a:buNone/>
            </a:pPr>
            <a:r>
              <a:rPr lang="pt-BR" b="1" dirty="0"/>
              <a:t>Fórmulas</a:t>
            </a:r>
            <a:endParaRPr lang="pt-BR" dirty="0"/>
          </a:p>
          <a:p>
            <a:pPr algn="l" rtl="0">
              <a:lnSpc>
                <a:spcPct val="150000"/>
              </a:lnSpc>
              <a:buNone/>
            </a:pPr>
            <a:r>
              <a:rPr lang="pt-BR" dirty="0"/>
              <a:t>Acurácia = (VP + VN) / (VP + VN + FP + FN)</a:t>
            </a:r>
          </a:p>
          <a:p>
            <a:pPr algn="l" rtl="0">
              <a:lnSpc>
                <a:spcPct val="150000"/>
              </a:lnSpc>
              <a:buNone/>
            </a:pPr>
            <a:r>
              <a:rPr lang="pt-BR" dirty="0"/>
              <a:t>Precisão = VP / (VP + FP)</a:t>
            </a:r>
          </a:p>
          <a:p>
            <a:pPr algn="l" rtl="0">
              <a:lnSpc>
                <a:spcPct val="150000"/>
              </a:lnSpc>
              <a:buNone/>
            </a:pPr>
            <a:r>
              <a:rPr lang="pt-BR" dirty="0"/>
              <a:t>Recall (Revocação) = VP / (VP + FN)</a:t>
            </a:r>
          </a:p>
          <a:p>
            <a:pPr algn="l" rtl="0">
              <a:lnSpc>
                <a:spcPct val="150000"/>
              </a:lnSpc>
              <a:buNone/>
            </a:pPr>
            <a:r>
              <a:rPr lang="pt-BR" dirty="0"/>
              <a:t>F1-Score = 2 × (Precisão × Recall) / (Precisão + Recall)</a:t>
            </a:r>
          </a:p>
        </p:txBody>
      </p:sp>
    </p:spTree>
    <p:extLst>
      <p:ext uri="{BB962C8B-B14F-4D97-AF65-F5344CB8AC3E}">
        <p14:creationId xmlns:p14="http://schemas.microsoft.com/office/powerpoint/2010/main" val="770794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026A5-9D5B-96A2-A081-8E2C2287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8C2E-E3A5-BA92-220C-B2C8C18E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1105433"/>
            <a:ext cx="19170650" cy="2286000"/>
          </a:xfrm>
        </p:spPr>
        <p:txBody>
          <a:bodyPr>
            <a:normAutofit/>
          </a:bodyPr>
          <a:lstStyle/>
          <a:p>
            <a:pPr algn="l"/>
            <a:r>
              <a:rPr sz="4800" b="1" dirty="0" err="1">
                <a:solidFill>
                  <a:srgbClr val="0070C0"/>
                </a:solidFill>
                <a:latin typeface="Calibri"/>
              </a:rPr>
              <a:t>Métricas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 de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Avaliação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: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Acurácia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,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Precisão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, </a:t>
            </a:r>
            <a:r>
              <a:rPr sz="4800" b="1" dirty="0" err="1">
                <a:solidFill>
                  <a:srgbClr val="0070C0"/>
                </a:solidFill>
                <a:latin typeface="Calibri"/>
              </a:rPr>
              <a:t>Revocação</a:t>
            </a:r>
            <a:r>
              <a:rPr sz="4800" b="1" dirty="0">
                <a:solidFill>
                  <a:srgbClr val="0070C0"/>
                </a:solidFill>
                <a:latin typeface="Calibri"/>
              </a:rPr>
              <a:t>, F1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02C65-5424-6F56-7649-140E9457B107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12F28D-7915-3AB6-555B-4F2C6CE3D24B}"/>
              </a:ext>
            </a:extLst>
          </p:cNvPr>
          <p:cNvSpPr txBox="1"/>
          <p:nvPr/>
        </p:nvSpPr>
        <p:spPr>
          <a:xfrm>
            <a:off x="2139100" y="3136900"/>
            <a:ext cx="18072950" cy="84946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pt-BR" sz="3600" dirty="0">
                <a:solidFill>
                  <a:srgbClr val="7030A0"/>
                </a:solidFill>
              </a:rPr>
              <a:t>Detector de fumaça numa casa. </a:t>
            </a:r>
          </a:p>
          <a:p>
            <a:pPr rtl="0">
              <a:buNone/>
            </a:pPr>
            <a:endParaRPr lang="pt-BR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pt-BR" b="1" dirty="0"/>
              <a:t>Acurácia</a:t>
            </a:r>
            <a:r>
              <a:rPr lang="pt-BR" dirty="0"/>
              <a:t> é a nota geral do detector: </a:t>
            </a:r>
            <a:r>
              <a:rPr lang="pt-BR" b="0" dirty="0"/>
              <a:t>de todas as vezes que ele precisou decidir (apitar ou ficar quieto), em quantas ele acertou — seja apitando quando tinha fogo, seja ficando quieto quando não tinha nada. É "quantas vezes, no total, ele não bagunçou".</a:t>
            </a:r>
          </a:p>
          <a:p>
            <a:pPr algn="l" rtl="0">
              <a:buFont typeface="Arial" panose="020B0604020202020204" pitchFamily="34" charset="0"/>
              <a:buChar char="•"/>
            </a:pPr>
            <a:endParaRPr lang="pt-BR" b="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pt-BR" b="1" dirty="0"/>
              <a:t>Precisão</a:t>
            </a:r>
            <a:r>
              <a:rPr lang="pt-BR" dirty="0"/>
              <a:t> é a confiança que você pode ter quando ele apita: </a:t>
            </a:r>
            <a:r>
              <a:rPr lang="pt-BR" b="0" dirty="0"/>
              <a:t>das vezes que o alarme tocou, quantas vezes era fogo de verdade? Se ele é um "menino que grita lobo" — dispara toda hora à toa — a precisão dele é baixa, mesmo que ele nunca deixe passar um incêndio.</a:t>
            </a:r>
          </a:p>
          <a:p>
            <a:pPr algn="l" rtl="0">
              <a:buFont typeface="Arial" panose="020B0604020202020204" pitchFamily="34" charset="0"/>
              <a:buChar char="•"/>
            </a:pPr>
            <a:endParaRPr lang="pt-BR" b="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pt-BR" b="1" dirty="0"/>
              <a:t>Recall (Revocação)</a:t>
            </a:r>
            <a:r>
              <a:rPr lang="pt-BR" dirty="0"/>
              <a:t> é o oposto: </a:t>
            </a:r>
            <a:r>
              <a:rPr lang="pt-BR" b="0" dirty="0"/>
              <a:t>dos incêndios que realmente aconteceram, quantos ele conseguiu pegar? Um detector "camarada", que só apita quando tem certeza absoluta, pode ter ótima precisão mas péssimo recall — porque ele deixa fogo de verdade passar batido sem avisar.</a:t>
            </a:r>
          </a:p>
          <a:p>
            <a:pPr algn="l" rtl="0">
              <a:buFont typeface="Arial" panose="020B0604020202020204" pitchFamily="34" charset="0"/>
              <a:buChar char="•"/>
            </a:pPr>
            <a:endParaRPr lang="pt-BR" b="0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pt-BR" b="1" dirty="0"/>
              <a:t>F1-Score</a:t>
            </a:r>
            <a:r>
              <a:rPr lang="pt-BR" dirty="0"/>
              <a:t> é a nota que só fica alta se as duas coisas forem boas ao mesmo tempo. </a:t>
            </a:r>
            <a:r>
              <a:rPr lang="pt-BR" b="0" dirty="0"/>
              <a:t>Um detector histérico (grita à toa) ou um detector preguiçoso (nunca avisa) cada um manda bem em uma métrica e mal na outra — o F1 é a média que pune esse desequilíbrio, não deixa "camuflar" um ponto fraco com o outro forte.</a:t>
            </a:r>
          </a:p>
        </p:txBody>
      </p:sp>
    </p:spTree>
    <p:extLst>
      <p:ext uri="{BB962C8B-B14F-4D97-AF65-F5344CB8AC3E}">
        <p14:creationId xmlns:p14="http://schemas.microsoft.com/office/powerpoint/2010/main" val="3838886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 dirty="0" err="1">
                <a:solidFill>
                  <a:srgbClr val="0070C0"/>
                </a:solidFill>
                <a:latin typeface="Calibri"/>
              </a:rPr>
              <a:t>Os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Modelos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do </a:t>
            </a:r>
            <a:r>
              <a:rPr sz="5400" b="1" dirty="0" err="1">
                <a:solidFill>
                  <a:srgbClr val="0070C0"/>
                </a:solidFill>
                <a:latin typeface="Calibri"/>
              </a:rPr>
              <a:t>Estudo</a:t>
            </a:r>
            <a:r>
              <a:rPr sz="5400" b="1" dirty="0">
                <a:solidFill>
                  <a:srgbClr val="0070C0"/>
                </a:solidFill>
                <a:latin typeface="Calibri"/>
              </a:rPr>
              <a:t> de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Random Forest + TF-IDF — F1 0,61: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Random Forest = conjunto ("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floresta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")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árvores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decisão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votam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classificação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final. TF-IDF (Term Frequency–Inverse Document Frequency) =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técnica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representa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texto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números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dando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peso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palavras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raras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relevantes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CNN-LSTM + </a:t>
            </a:r>
            <a:r>
              <a:rPr sz="3600" b="1" dirty="0" err="1">
                <a:solidFill>
                  <a:srgbClr val="004A8F"/>
                </a:solidFill>
                <a:latin typeface="Calibri"/>
              </a:rPr>
              <a:t>GloVe</a:t>
            </a:r>
            <a:r>
              <a:rPr sz="3600" b="1" dirty="0">
                <a:solidFill>
                  <a:srgbClr val="004A8F"/>
                </a:solidFill>
                <a:latin typeface="Calibri"/>
              </a:rPr>
              <a:t> — F1 0,59: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CNN (Convolutional Neural Network)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identifica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padrões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locais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no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texto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 LSTM (Long Short-Term Memory)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entende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sequência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contexto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longo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frase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GloVe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(Global Vectors for Word Representation) é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uma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representação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vetorial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pré-treinada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palavras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LLM com fine-tuning — F1 0,69: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LLM (Large Language Model) =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linguagem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pré-treinado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grandes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volumes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texto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; fine-tuning =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ajuste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fino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para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tarefa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específica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classificar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BOs.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dirty="0" err="1">
                <a:solidFill>
                  <a:srgbClr val="262626"/>
                </a:solidFill>
                <a:latin typeface="Calibri"/>
              </a:rPr>
              <a:t>Resultado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: o LLM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ajustado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teve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melhor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F1-Score, mas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todos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modelos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enfrentaram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gargalo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— 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qualidade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dos dados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rotulados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37160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O Gargalo Real: Qualidade dos Rótulos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>
                <a:solidFill>
                  <a:srgbClr val="262626"/>
                </a:solidFill>
                <a:latin typeface="Calibri"/>
              </a:rPr>
              <a:t>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estudo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identificou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principal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limitador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era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escolhido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mas 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qualidade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consistência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rótulos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(labels)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usados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para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treinar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.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Isso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aparece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três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frentes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: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1.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Discordância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entre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anotadores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pessoas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diferentes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classificam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mesmo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BO de formas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diferentes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(ex.: "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furto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" vs. "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roubo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"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quando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há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dúvida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sobre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uso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violência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2.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Taxonomia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ambígua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categorias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mal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definidas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sobrepostas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tornam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difícil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saber qual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rótulo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é o "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correto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".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dirty="0">
                <a:solidFill>
                  <a:srgbClr val="004A8F"/>
                </a:solidFill>
                <a:latin typeface="Calibri"/>
              </a:rPr>
              <a:t>3. </a:t>
            </a:r>
            <a:r>
              <a:rPr sz="4000" b="1" dirty="0" err="1">
                <a:solidFill>
                  <a:srgbClr val="004A8F"/>
                </a:solidFill>
                <a:latin typeface="Calibri"/>
              </a:rPr>
              <a:t>Desbalanceamento</a:t>
            </a:r>
            <a:r>
              <a:rPr sz="4000" b="1" dirty="0">
                <a:solidFill>
                  <a:srgbClr val="004A8F"/>
                </a:solidFill>
                <a:latin typeface="Calibri"/>
              </a:rPr>
              <a:t> de classes: 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poucas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ocorrências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certos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tipos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crime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tornam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pior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justamente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nas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categorias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raras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(e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às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vezes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graves).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dirty="0" err="1">
                <a:solidFill>
                  <a:srgbClr val="262626"/>
                </a:solidFill>
                <a:latin typeface="Calibri"/>
              </a:rPr>
              <a:t>Lição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para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projeto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: antes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melhorar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invista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um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processo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claro 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consistente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000" dirty="0" err="1">
                <a:solidFill>
                  <a:srgbClr val="262626"/>
                </a:solidFill>
                <a:latin typeface="Calibri"/>
              </a:rPr>
              <a:t>rotulagem</a:t>
            </a:r>
            <a:r>
              <a:rPr sz="4000" dirty="0">
                <a:solidFill>
                  <a:srgbClr val="262626"/>
                </a:solidFill>
                <a:latin typeface="Calibri"/>
              </a:rPr>
              <a:t> dos dados.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868307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6200" y="2063750"/>
            <a:ext cx="19170650" cy="7823200"/>
          </a:xfr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sz="11500" b="1" i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11500" b="1" i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11500" b="1" i="1" dirty="0">
                <a:solidFill>
                  <a:srgbClr val="004A8F"/>
                </a:solidFill>
                <a:latin typeface="Calibri"/>
              </a:rPr>
              <a:t> é DevOps?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>
            <a:normAutofit/>
          </a:bodyPr>
          <a:lstStyle/>
          <a:p>
            <a:pPr algn="ctr">
              <a:buNone/>
            </a:pPr>
            <a:r>
              <a:rPr sz="19900" b="1" i="1">
                <a:solidFill>
                  <a:srgbClr val="004A8F"/>
                </a:solidFill>
                <a:latin typeface="Calibri"/>
              </a:rPr>
              <a:t>O que é MLOps?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397" y="12520000"/>
            <a:ext cx="122341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000" b="1">
                <a:solidFill>
                  <a:srgbClr val="0070C0"/>
                </a:solidFill>
                <a:latin typeface="Calibri"/>
              </a:rPr>
              <a:t>MLOps — Definição e Motivação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>
                <a:solidFill>
                  <a:srgbClr val="262626"/>
                </a:solidFill>
                <a:latin typeface="Calibri"/>
              </a:rPr>
              <a:t>MLOps aplica os princípios de DevOps ao ciclo de vida de Machine Learning, que tem etapas adicionais que o software tradicional não tem: dados e modelos, além de código.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Ciclo coberto:  </a:t>
            </a:r>
            <a:r>
              <a:rPr sz="4000">
                <a:solidFill>
                  <a:srgbClr val="262626"/>
                </a:solidFill>
                <a:latin typeface="Calibri"/>
              </a:rPr>
              <a:t>coleta de dados → treino → validação → deploy → monitoramento → retreino.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Objetivo:  </a:t>
            </a:r>
            <a:r>
              <a:rPr sz="4000">
                <a:solidFill>
                  <a:srgbClr val="262626"/>
                </a:solidFill>
                <a:latin typeface="Calibri"/>
              </a:rPr>
              <a:t>tornar modelos de ML reprodutíveis, testáveis e confiáveis em produção.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Sem MLOps:  </a:t>
            </a:r>
            <a:r>
              <a:rPr sz="4000">
                <a:solidFill>
                  <a:srgbClr val="262626"/>
                </a:solidFill>
                <a:latin typeface="Calibri"/>
              </a:rPr>
              <a:t>modelos ficam "presos" no notebook do cientista de dados, difíceis de atualizar ou auditar.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Exemplo prático:  </a:t>
            </a:r>
            <a:r>
              <a:rPr sz="4000">
                <a:solidFill>
                  <a:srgbClr val="262626"/>
                </a:solidFill>
                <a:latin typeface="Calibri"/>
              </a:rPr>
              <a:t>um modelo de classificação de BOs treinado uma única vez e nunca retreinado, perdendo precisão quando surgem novos tipos de ocorrência.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4025" y="12520000"/>
            <a:ext cx="550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>
                <a:solidFill>
                  <a:srgbClr val="0070C0"/>
                </a:solidFill>
                <a:latin typeface="Calibri"/>
              </a:rPr>
              <a:t>MLOps x DevOps x DataOps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>
                <a:solidFill>
                  <a:srgbClr val="262626"/>
                </a:solidFill>
                <a:latin typeface="Calibri"/>
              </a:rPr>
              <a:t>Agora que vimos DevOps e MLOps separadamente, veja como os três conceitos se relacionam: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DevOps:  </a:t>
            </a:r>
            <a:r>
              <a:rPr sz="4400">
                <a:solidFill>
                  <a:srgbClr val="262626"/>
                </a:solidFill>
                <a:latin typeface="Calibri"/>
              </a:rPr>
              <a:t>automação de build, teste e deploy de software.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DataOps:  </a:t>
            </a:r>
            <a:r>
              <a:rPr sz="4400">
                <a:solidFill>
                  <a:srgbClr val="262626"/>
                </a:solidFill>
                <a:latin typeface="Calibri"/>
              </a:rPr>
              <a:t>qualidade, governança e fluxo confiável de dados.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b="1">
                <a:solidFill>
                  <a:srgbClr val="004A8F"/>
                </a:solidFill>
                <a:latin typeface="Calibri"/>
              </a:rPr>
              <a:t>MLOps:  </a:t>
            </a:r>
            <a:r>
              <a:rPr sz="4400">
                <a:solidFill>
                  <a:srgbClr val="262626"/>
                </a:solidFill>
                <a:latin typeface="Calibri"/>
              </a:rPr>
              <a:t>soma dos dois + versionamento de modelos, experimentos e retraining contínuo (CT).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>
                <a:solidFill>
                  <a:srgbClr val="262626"/>
                </a:solidFill>
                <a:latin typeface="Calibri"/>
              </a:rPr>
              <a:t>MLOps herda ferramentas de DevOps (CI/CD, containers) e adiciona práticas específicas de 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8378" y="12520000"/>
            <a:ext cx="6014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595959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7200" b="1">
                <a:solidFill>
                  <a:srgbClr val="0070C0"/>
                </a:solidFill>
                <a:latin typeface="Calibri"/>
              </a:rPr>
              <a:t>Níveis de Maturidade MLOps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Nível 0: processo manual — notebook, treino manual, deploy manual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Nível 1: pipeline de ML automatizado, mas deploy ainda manual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Nível 2: pipeline completo de CI/CD/CT — treino, validação e deploy automatizados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Modelo de referência: Google Cloud MLOps maturity model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800">
                <a:solidFill>
                  <a:srgbClr val="262626"/>
                </a:solidFill>
                <a:latin typeface="Calibri"/>
              </a:rPr>
              <a:t>Ao longo deste curso, vamos construir um projeto rumo ao Nível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2730" y="12520000"/>
            <a:ext cx="6527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595959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>
                <a:solidFill>
                  <a:srgbClr val="0070C0"/>
                </a:solidFill>
                <a:latin typeface="Calibri"/>
              </a:rPr>
              <a:t>Manutenção do Modelo em Produção: O Que Fazer em Cada Caso?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Modelo errando por dados "sujos" na entrada:  </a:t>
            </a:r>
            <a:r>
              <a:rPr sz="4000">
                <a:solidFill>
                  <a:srgbClr val="262626"/>
                </a:solidFill>
                <a:latin typeface="Calibri"/>
              </a:rPr>
              <a:t>ajustar apenas o pipeline de limpeza/pré-processamento (ex.: normalizar texto, tratar campos vazios). Não é preciso retreinar o modelo em si.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Modelo errando por mudança no padrão dos dados (data drift):  </a:t>
            </a:r>
            <a:r>
              <a:rPr sz="4000">
                <a:solidFill>
                  <a:srgbClr val="262626"/>
                </a:solidFill>
                <a:latin typeface="Calibri"/>
              </a:rPr>
              <a:t>é preciso retreinar o modelo com dados novos e representativos do cenário atual.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Novo tipo de ocorrência que não existia no treino:  </a:t>
            </a:r>
            <a:r>
              <a:rPr sz="4000">
                <a:solidFill>
                  <a:srgbClr val="262626"/>
                </a:solidFill>
                <a:latin typeface="Calibri"/>
              </a:rPr>
              <a:t>retreinar incluindo exemplos rotulados da nova categoria — sem isso, o modelo nunca vai prever essa classe.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Métricas caindo lentamente ao longo do tempo:  </a:t>
            </a:r>
            <a:r>
              <a:rPr sz="4000">
                <a:solidFill>
                  <a:srgbClr val="262626"/>
                </a:solidFill>
                <a:latin typeface="Calibri"/>
              </a:rPr>
              <a:t>sinal clássico de "concept drift" — agendar retreinamento periódico (Continuous Training) e monitorar com Prometheus/Grafana (Aula 7).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FCEC3-CD5E-7460-6393-BFACB4F5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4AAA-0476-1D79-EA53-7D1395EE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>
                <a:solidFill>
                  <a:srgbClr val="0070C0"/>
                </a:solidFill>
                <a:latin typeface="Calibri"/>
              </a:rPr>
              <a:t>Manutenção do Modelo em Produção: O Que Fazer em Cada Caso?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524F8-C0A2-5D6F-F210-4994F5836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Modelo errando por dados "sujos" na entrada:  </a:t>
            </a:r>
            <a:r>
              <a:rPr sz="4000">
                <a:solidFill>
                  <a:srgbClr val="262626"/>
                </a:solidFill>
                <a:latin typeface="Calibri"/>
              </a:rPr>
              <a:t>ajustar apenas o pipeline de limpeza/pré-processamento (ex.: normalizar texto, tratar campos vazios). Não é preciso retreinar o modelo em si.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Modelo errando por mudança no padrão dos dados (data drift):  </a:t>
            </a:r>
            <a:r>
              <a:rPr sz="4000">
                <a:solidFill>
                  <a:srgbClr val="262626"/>
                </a:solidFill>
                <a:latin typeface="Calibri"/>
              </a:rPr>
              <a:t>é preciso retreinar o modelo com dados novos e representativos do cenário atual.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Novo tipo de ocorrência que não existia no treino:  </a:t>
            </a:r>
            <a:r>
              <a:rPr sz="4000">
                <a:solidFill>
                  <a:srgbClr val="262626"/>
                </a:solidFill>
                <a:latin typeface="Calibri"/>
              </a:rPr>
              <a:t>retreinar incluindo exemplos rotulados da nova categoria — sem isso, o modelo nunca vai prever essa classe.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004A8F"/>
                </a:solidFill>
                <a:latin typeface="Calibri"/>
              </a:rPr>
              <a:t>Métricas caindo lentamente ao longo do tempo:  </a:t>
            </a:r>
            <a:r>
              <a:rPr sz="4000">
                <a:solidFill>
                  <a:srgbClr val="262626"/>
                </a:solidFill>
                <a:latin typeface="Calibri"/>
              </a:rPr>
              <a:t>sinal clássico de "concept drift" — agendar retreinamento periódico (Continuous Training) e monitorar com Prometheus/Grafana (Aula 7).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F3C28-070E-68FA-3B7D-5FA5AD613BC4}"/>
              </a:ext>
            </a:extLst>
          </p:cNvPr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28864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>
                <a:solidFill>
                  <a:srgbClr val="0070C0"/>
                </a:solidFill>
                <a:latin typeface="Calibri"/>
              </a:rPr>
              <a:t>Retreinar e Subir um Novo Modelo: E as Previsões Antigas?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Previsões já feitas NÃO mudam retroativamente:  </a:t>
            </a:r>
            <a:r>
              <a:rPr sz="3600">
                <a:solidFill>
                  <a:srgbClr val="262626"/>
                </a:solidFill>
                <a:latin typeface="Calibri"/>
              </a:rPr>
              <a:t>um BO já classificado com o modelo v1 mantém aquele resultado registrado — trocar o modelo não reescreve o passado.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Versionamento do modelo:  </a:t>
            </a:r>
            <a:r>
              <a:rPr sz="3600">
                <a:solidFill>
                  <a:srgbClr val="262626"/>
                </a:solidFill>
                <a:latin typeface="Calibri"/>
              </a:rPr>
              <a:t>o novo modelo deve subir como uma NOVA VERSÃO (ex.: v2), nunca sobrescrevendo a v1 — assim é possível auditar qual modelo gerou qual previsão.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Reprocessamento opcional:  </a:t>
            </a:r>
            <a:r>
              <a:rPr sz="3600">
                <a:solidFill>
                  <a:srgbClr val="262626"/>
                </a:solidFill>
                <a:latin typeface="Calibri"/>
              </a:rPr>
              <a:t>se for crítico, pode-se rodar um job específico para reclassificar casos antigos com o modelo novo — mas isso é uma decisão de negócio, não automática.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Deploy gradual:  </a:t>
            </a:r>
            <a:r>
              <a:rPr sz="3600">
                <a:solidFill>
                  <a:srgbClr val="262626"/>
                </a:solidFill>
                <a:latin typeface="Calibri"/>
              </a:rPr>
              <a:t>em produção real, o ideal é validar o novo modelo em paralelo (shadow deployment) ou com uma fração do tráfego (canary) antes de substituí-lo por completo.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Neste curso:  </a:t>
            </a:r>
            <a:r>
              <a:rPr sz="3600">
                <a:solidFill>
                  <a:srgbClr val="262626"/>
                </a:solidFill>
                <a:latin typeface="Calibri"/>
              </a:rPr>
              <a:t>essa lógica de deploy e versionamento é construída na Aula 7 (Kubernetes/Helm) e monitorada com Prometheus/Grafana.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8378" y="12520000"/>
            <a:ext cx="6014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05B38-02A9-4D4B-61BB-E6B8C7E96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0C85-495D-61DA-47EF-F7CB51CD6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6600" b="1">
                <a:solidFill>
                  <a:srgbClr val="0070C0"/>
                </a:solidFill>
                <a:latin typeface="Calibri"/>
              </a:rPr>
              <a:t>Retreinar e Subir um Novo Modelo: E as Previsões Antigas?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1FF63-06E8-F273-6911-AEDC4D9A8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Previsões já feitas NÃO mudam retroativamente:  </a:t>
            </a:r>
            <a:r>
              <a:rPr sz="3600">
                <a:solidFill>
                  <a:srgbClr val="262626"/>
                </a:solidFill>
                <a:latin typeface="Calibri"/>
              </a:rPr>
              <a:t>um BO já classificado com o modelo v1 mantém aquele resultado registrado — trocar o modelo não reescreve o passado.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Versionamento do modelo:  </a:t>
            </a:r>
            <a:r>
              <a:rPr sz="3600">
                <a:solidFill>
                  <a:srgbClr val="262626"/>
                </a:solidFill>
                <a:latin typeface="Calibri"/>
              </a:rPr>
              <a:t>o novo modelo deve subir como uma NOVA VERSÃO (ex.: v2), nunca sobrescrevendo a v1 — assim é possível auditar qual modelo gerou qual previsão.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Reprocessamento opcional:  </a:t>
            </a:r>
            <a:r>
              <a:rPr sz="3600">
                <a:solidFill>
                  <a:srgbClr val="262626"/>
                </a:solidFill>
                <a:latin typeface="Calibri"/>
              </a:rPr>
              <a:t>se for crítico, pode-se rodar um job específico para reclassificar casos antigos com o modelo novo — mas isso é uma decisão de negócio, não automática.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Deploy gradual:  </a:t>
            </a:r>
            <a:r>
              <a:rPr sz="3600">
                <a:solidFill>
                  <a:srgbClr val="262626"/>
                </a:solidFill>
                <a:latin typeface="Calibri"/>
              </a:rPr>
              <a:t>em produção real, o ideal é validar o novo modelo em paralelo (shadow deployment) ou com uma fração do tráfego (canary) antes de substituí-lo por completo.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004A8F"/>
                </a:solidFill>
                <a:latin typeface="Calibri"/>
              </a:rPr>
              <a:t>Neste curso:  </a:t>
            </a:r>
            <a:r>
              <a:rPr sz="3600">
                <a:solidFill>
                  <a:srgbClr val="262626"/>
                </a:solidFill>
                <a:latin typeface="Calibri"/>
              </a:rPr>
              <a:t>essa lógica de deploy e versionamento é construída na Aula 7 (Kubernetes/Helm) e monitorada com Prometheus/Grafana.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D4720-4E62-A09E-3B3D-86888812117C}"/>
              </a:ext>
            </a:extLst>
          </p:cNvPr>
          <p:cNvSpPr txBox="1"/>
          <p:nvPr/>
        </p:nvSpPr>
        <p:spPr>
          <a:xfrm>
            <a:off x="1838378" y="12520000"/>
            <a:ext cx="6014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063788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Papéis Envolvidos no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1276" y="12520000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28</a:t>
            </a:r>
          </a:p>
        </p:txBody>
      </p:sp>
      <p:sp>
        <p:nvSpPr>
          <p:cNvPr id="5" name="Oval 4"/>
          <p:cNvSpPr/>
          <p:nvPr/>
        </p:nvSpPr>
        <p:spPr>
          <a:xfrm>
            <a:off x="4384208" y="4406900"/>
            <a:ext cx="1000000" cy="1000000"/>
          </a:xfrm>
          <a:prstGeom prst="ellipse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5556900"/>
            <a:ext cx="6390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4A8F"/>
                </a:solidFill>
                <a:latin typeface="Calibri"/>
              </a:rPr>
              <a:t>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9100" y="6056900"/>
            <a:ext cx="60902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262626"/>
                </a:solidFill>
                <a:latin typeface="Calibri"/>
              </a:rPr>
              <a:t>Explora os dados, testa hipóteses e constrói o modelo de Machine Learning (ex.: o classificador de natureza do BO). Foco em experimentação e métricas de qualidade do modelo.</a:t>
            </a:r>
          </a:p>
        </p:txBody>
      </p:sp>
      <p:sp>
        <p:nvSpPr>
          <p:cNvPr id="8" name="Oval 7"/>
          <p:cNvSpPr/>
          <p:nvPr/>
        </p:nvSpPr>
        <p:spPr>
          <a:xfrm>
            <a:off x="10774424" y="4406900"/>
            <a:ext cx="1000000" cy="100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9316" y="5556900"/>
            <a:ext cx="6390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4A8F"/>
                </a:solidFill>
                <a:latin typeface="Calibri"/>
              </a:rPr>
              <a:t>ML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316" y="6056900"/>
            <a:ext cx="60902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262626"/>
                </a:solidFill>
                <a:latin typeface="Calibri"/>
              </a:rPr>
              <a:t>Transforma o trabalho do Data Scientist em pipelines de treino e inferência robustos, versionados e reprodutíveis. Faz a ponte entre experimentação e produção.</a:t>
            </a:r>
          </a:p>
        </p:txBody>
      </p:sp>
      <p:sp>
        <p:nvSpPr>
          <p:cNvPr id="11" name="Oval 10"/>
          <p:cNvSpPr/>
          <p:nvPr/>
        </p:nvSpPr>
        <p:spPr>
          <a:xfrm>
            <a:off x="17164640" y="4406900"/>
            <a:ext cx="1000000" cy="100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69532" y="5556900"/>
            <a:ext cx="6390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4A8F"/>
                </a:solidFill>
                <a:latin typeface="Calibri"/>
              </a:rPr>
              <a:t>DevOps / Platform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19532" y="6056900"/>
            <a:ext cx="60902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262626"/>
                </a:solidFill>
                <a:latin typeface="Calibri"/>
              </a:rPr>
              <a:t>Constrói e mantém a infraestrutura (Terraform/Pulumi), os pipelines de CI/CD e a observabilidade que sustentam o projeto em produção.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5400" b="1">
                <a:solidFill>
                  <a:srgbClr val="0070C0"/>
                </a:solidFill>
                <a:latin typeface="Calibri"/>
              </a:rPr>
              <a:t>Ferramentas e Stack Utilizada no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4A8F"/>
                </a:solidFill>
                <a:latin typeface="Calibri"/>
              </a:rPr>
              <a:t>Infraestrutura como Código — Terraform e Pulumi:  </a:t>
            </a:r>
            <a:r>
              <a:rPr sz="2800">
                <a:solidFill>
                  <a:srgbClr val="262626"/>
                </a:solidFill>
                <a:latin typeface="Calibri"/>
              </a:rPr>
              <a:t>escrevem a infraestrutura Azure como código versionado. Ex.: criar um Storage Account com um arquivo .tf em vez de clicar no Portal.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4A8F"/>
                </a:solidFill>
                <a:latin typeface="Calibri"/>
              </a:rPr>
              <a:t>Orquestração — Apache Airflow e Kubeflow Pipelines:  </a:t>
            </a:r>
            <a:r>
              <a:rPr sz="2800">
                <a:solidFill>
                  <a:srgbClr val="262626"/>
                </a:solidFill>
                <a:latin typeface="Calibri"/>
              </a:rPr>
              <a:t>agendam e encadeiam tarefas de dados e de ML. Ex.: um DAG do Airflow que baixa, limpa e carrega os BOs todos os dias às 6h.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4A8F"/>
                </a:solidFill>
                <a:latin typeface="Calibri"/>
              </a:rPr>
              <a:t>CI/CD — GitHub Actions:  </a:t>
            </a:r>
            <a:r>
              <a:rPr sz="2800">
                <a:solidFill>
                  <a:srgbClr val="262626"/>
                </a:solidFill>
                <a:latin typeface="Calibri"/>
              </a:rPr>
              <a:t>automatiza testes, build e deploy a cada push. Ex.: rodar os testes e publicar a imagem no ACR quando o código é mesclado na main.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4A8F"/>
                </a:solidFill>
                <a:latin typeface="Calibri"/>
              </a:rPr>
              <a:t>Containers — Docker, Kubernetes, Helm, Operators:  </a:t>
            </a:r>
            <a:r>
              <a:rPr sz="2800">
                <a:solidFill>
                  <a:srgbClr val="262626"/>
                </a:solidFill>
                <a:latin typeface="Calibri"/>
              </a:rPr>
              <a:t>empacotam e executam a aplicação de forma isolada e escalável. Ex.: a API do classificador de BOs rodando em um Pod do Kubernetes.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4A8F"/>
                </a:solidFill>
                <a:latin typeface="Calibri"/>
              </a:rPr>
              <a:t>Observabilidade — Prometheus e Grafana:  </a:t>
            </a:r>
            <a:r>
              <a:rPr sz="2800">
                <a:solidFill>
                  <a:srgbClr val="262626"/>
                </a:solidFill>
                <a:latin typeface="Calibri"/>
              </a:rPr>
              <a:t>coletam métricas e as exibem em dashboards. Ex.: acompanhar a latência da API e o percentual de BOs classificados com baixa confiança.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04A8F"/>
                </a:solidFill>
                <a:latin typeface="Calibri"/>
              </a:rPr>
              <a:t>Nuvem — Microsoft Azure:  </a:t>
            </a:r>
            <a:r>
              <a:rPr sz="2800">
                <a:solidFill>
                  <a:srgbClr val="262626"/>
                </a:solidFill>
                <a:latin typeface="Calibri"/>
              </a:rPr>
              <a:t>hospeda toda a infraestrutura do curso (Azure for Students ou Free Account).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1276" y="12520000"/>
            <a:ext cx="495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595959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1206500"/>
          </a:xfrm>
        </p:spPr>
        <p:txBody>
          <a:bodyPr/>
          <a:lstStyle/>
          <a:p>
            <a:pPr algn="l"/>
            <a:r>
              <a:rPr sz="3600" b="1" dirty="0" err="1">
                <a:solidFill>
                  <a:srgbClr val="0070C0"/>
                </a:solidFill>
                <a:latin typeface="Calibri"/>
              </a:rPr>
              <a:t>Diagrama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do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Projeto-guia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— </a:t>
            </a:r>
            <a:r>
              <a:rPr sz="3600" b="1" dirty="0" err="1">
                <a:solidFill>
                  <a:srgbClr val="0070C0"/>
                </a:solidFill>
                <a:latin typeface="Calibri"/>
              </a:rPr>
              <a:t>Visão</a:t>
            </a:r>
            <a:r>
              <a:rPr sz="3600" b="1" dirty="0">
                <a:solidFill>
                  <a:srgbClr val="0070C0"/>
                </a:solidFill>
                <a:latin typeface="Calibri"/>
              </a:rPr>
              <a:t> de Ponta a Ponta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30</a:t>
            </a:r>
          </a:p>
        </p:txBody>
      </p:sp>
      <p:pic>
        <p:nvPicPr>
          <p:cNvPr id="5" name="Picture 4" descr="img_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012" y="2499233"/>
            <a:ext cx="12636667" cy="960386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800" b="1">
                <a:solidFill>
                  <a:srgbClr val="0070C0"/>
                </a:solidFill>
                <a:latin typeface="Calibri"/>
              </a:rPr>
              <a:t>Como Ler o Diagrama do Projeto-guia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>
                <a:solidFill>
                  <a:srgbClr val="262626"/>
                </a:solidFill>
                <a:latin typeface="Calibri"/>
              </a:rPr>
              <a:t>O diagrama representa o pipeline de ponta a ponta que construiremos ao longo das 8 aulas, camada por camada.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>
                <a:solidFill>
                  <a:srgbClr val="262626"/>
                </a:solidFill>
                <a:latin typeface="Calibri"/>
              </a:rPr>
              <a:t>O fluxo principal segue a ordem: dados → infraestrutura → orquestração → CI/CD → deploy → observabilidade.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>
                <a:solidFill>
                  <a:srgbClr val="262626"/>
                </a:solidFill>
                <a:latin typeface="Calibri"/>
              </a:rPr>
              <a:t>Cada bloco do diagrama corresponde a uma ou mais aulas do curso, indicado entre parênteses.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>
                <a:solidFill>
                  <a:srgbClr val="262626"/>
                </a:solidFill>
                <a:latin typeface="Calibri"/>
              </a:rPr>
              <a:t>O laço tracejado (retroalimentação) representa o Continuous Training (CT): o monitoramento em produção informa quando o modelo precisa ser retreinado.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>
                <a:solidFill>
                  <a:srgbClr val="262626"/>
                </a:solidFill>
                <a:latin typeface="Calibri"/>
              </a:rPr>
              <a:t>Este mesmo projeto — com o tema PCDF — é construído incrementalmente: cada aula adiciona uma nova camada ao repositório pcdf-bo-triagem.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6924" y="12520000"/>
            <a:ext cx="4443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95959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Bloco 1 — Fonte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32</a:t>
            </a:r>
          </a:p>
        </p:txBody>
      </p:sp>
      <p:sp>
        <p:nvSpPr>
          <p:cNvPr id="5" name="Oval 4"/>
          <p:cNvSpPr/>
          <p:nvPr/>
        </p:nvSpPr>
        <p:spPr>
          <a:xfrm>
            <a:off x="1689100" y="4406900"/>
            <a:ext cx="750000" cy="75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5356900"/>
            <a:ext cx="9809480" cy="31547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 dirty="0">
                <a:solidFill>
                  <a:srgbClr val="004A8F"/>
                </a:solidFill>
                <a:latin typeface="Calibri"/>
              </a:rPr>
              <a:t>Aula:  </a:t>
            </a:r>
            <a:r>
              <a:rPr sz="2200" dirty="0">
                <a:solidFill>
                  <a:srgbClr val="262626"/>
                </a:solidFill>
                <a:latin typeface="Calibri"/>
              </a:rPr>
              <a:t>PCDF (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contexto</a:t>
            </a:r>
            <a:r>
              <a:rPr sz="2200" dirty="0">
                <a:solidFill>
                  <a:srgbClr val="262626"/>
                </a:solidFill>
                <a:latin typeface="Calibri"/>
              </a:rPr>
              <a:t>)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 dirty="0">
                <a:solidFill>
                  <a:srgbClr val="004A8F"/>
                </a:solidFill>
                <a:latin typeface="Calibri"/>
              </a:rPr>
              <a:t>O </a:t>
            </a:r>
            <a:r>
              <a:rPr sz="22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2200" b="1" dirty="0">
                <a:solidFill>
                  <a:srgbClr val="004A8F"/>
                </a:solidFill>
                <a:latin typeface="Calibri"/>
              </a:rPr>
              <a:t> é: 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os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Boletins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Ocorrência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(BOs) da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Delegacia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Eletrônica</a:t>
            </a:r>
            <a:r>
              <a:rPr sz="2200" dirty="0">
                <a:solidFill>
                  <a:srgbClr val="262626"/>
                </a:solidFill>
                <a:latin typeface="Calibri"/>
              </a:rPr>
              <a:t>, com o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relato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textual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estruturado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do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comunicante</a:t>
            </a:r>
            <a:r>
              <a:rPr sz="22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 dirty="0">
                <a:solidFill>
                  <a:srgbClr val="004A8F"/>
                </a:solidFill>
                <a:latin typeface="Calibri"/>
              </a:rPr>
              <a:t>Por </a:t>
            </a:r>
            <a:r>
              <a:rPr sz="2200" b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22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004A8F"/>
                </a:solidFill>
                <a:latin typeface="Calibri"/>
              </a:rPr>
              <a:t>importa</a:t>
            </a:r>
            <a:r>
              <a:rPr sz="22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2200" dirty="0">
                <a:solidFill>
                  <a:srgbClr val="262626"/>
                </a:solidFill>
                <a:latin typeface="Calibri"/>
              </a:rPr>
              <a:t>é a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matéria</a:t>
            </a:r>
            <a:r>
              <a:rPr sz="2200" dirty="0">
                <a:solidFill>
                  <a:srgbClr val="262626"/>
                </a:solidFill>
                <a:latin typeface="Calibri"/>
              </a:rPr>
              <a:t>-prima de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todo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o pipeline —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dados de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qualidade</a:t>
            </a:r>
            <a:r>
              <a:rPr sz="2200" dirty="0">
                <a:solidFill>
                  <a:srgbClr val="262626"/>
                </a:solidFill>
                <a:latin typeface="Calibri"/>
              </a:rPr>
              <a:t>,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nenhum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modelo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funciona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bem</a:t>
            </a:r>
            <a:r>
              <a:rPr sz="22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 dirty="0">
                <a:solidFill>
                  <a:srgbClr val="004A8F"/>
                </a:solidFill>
                <a:latin typeface="Calibri"/>
              </a:rPr>
              <a:t>Ferramentas:  </a:t>
            </a:r>
            <a:r>
              <a:rPr sz="2200" dirty="0">
                <a:solidFill>
                  <a:srgbClr val="262626"/>
                </a:solidFill>
                <a:latin typeface="Calibri"/>
              </a:rPr>
              <a:t>Neste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curso</a:t>
            </a:r>
            <a:r>
              <a:rPr sz="2200" dirty="0">
                <a:solidFill>
                  <a:srgbClr val="262626"/>
                </a:solidFill>
                <a:latin typeface="Calibri"/>
              </a:rPr>
              <a:t>: dados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sintéticos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(data/bos_sinteticos.csv) — </a:t>
            </a:r>
            <a:r>
              <a:rPr sz="2200" dirty="0" err="1">
                <a:solidFill>
                  <a:srgbClr val="262626"/>
                </a:solidFill>
                <a:latin typeface="Calibri"/>
              </a:rPr>
              <a:t>nunca</a:t>
            </a:r>
            <a:r>
              <a:rPr sz="2200" dirty="0">
                <a:solidFill>
                  <a:srgbClr val="262626"/>
                </a:solidFill>
                <a:latin typeface="Calibri"/>
              </a:rPr>
              <a:t> BOs reais.</a:t>
            </a:r>
          </a:p>
        </p:txBody>
      </p:sp>
      <p:pic>
        <p:nvPicPr>
          <p:cNvPr id="9" name="Picture 4" descr="img_diagrama.png">
            <a:extLst>
              <a:ext uri="{FF2B5EF4-FFF2-40B4-BE49-F238E27FC236}">
                <a16:creationId xmlns:a16="http://schemas.microsoft.com/office/drawing/2014/main" id="{3E9545CD-EE77-8B58-18D0-96525525B0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24" t="7539" r="26170" b="81591"/>
          <a:stretch>
            <a:fillRect/>
          </a:stretch>
        </p:blipFill>
        <p:spPr>
          <a:xfrm>
            <a:off x="9918065" y="3134970"/>
            <a:ext cx="10525834" cy="19278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Bloco 2 — Infraestrutura como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33</a:t>
            </a:r>
          </a:p>
        </p:txBody>
      </p:sp>
      <p:sp>
        <p:nvSpPr>
          <p:cNvPr id="5" name="Oval 4"/>
          <p:cNvSpPr/>
          <p:nvPr/>
        </p:nvSpPr>
        <p:spPr>
          <a:xfrm>
            <a:off x="1689100" y="4406900"/>
            <a:ext cx="750000" cy="75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5356900"/>
            <a:ext cx="19170650" cy="6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Aula:  </a:t>
            </a:r>
            <a:r>
              <a:rPr sz="2200">
                <a:solidFill>
                  <a:srgbClr val="262626"/>
                </a:solidFill>
                <a:latin typeface="Calibri"/>
              </a:rPr>
              <a:t>Aulas 2 e 3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2200">
                <a:solidFill>
                  <a:srgbClr val="262626"/>
                </a:solidFill>
                <a:latin typeface="Calibri"/>
              </a:rPr>
              <a:t>provisionar recursos Azure (Storage, Resource Group etc.) via código versionado, em vez de cliques manuais no Portal.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Por que importa:  </a:t>
            </a:r>
            <a:r>
              <a:rPr sz="2200">
                <a:solidFill>
                  <a:srgbClr val="262626"/>
                </a:solidFill>
                <a:latin typeface="Calibri"/>
              </a:rPr>
              <a:t>garante que o ambiente possa ser recriado, revisado e auditado como qualquer outro código.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Ferramentas:  </a:t>
            </a:r>
            <a:r>
              <a:rPr sz="2200">
                <a:solidFill>
                  <a:srgbClr val="262626"/>
                </a:solidFill>
                <a:latin typeface="Calibri"/>
              </a:rPr>
              <a:t>Terraform (Aula 2) e Pulumi em Python (Aula 3) — duas abordagens para o mesmo objetivo.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Bloco 3 — Orquestração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34</a:t>
            </a:r>
          </a:p>
        </p:txBody>
      </p:sp>
      <p:sp>
        <p:nvSpPr>
          <p:cNvPr id="5" name="Oval 4"/>
          <p:cNvSpPr/>
          <p:nvPr/>
        </p:nvSpPr>
        <p:spPr>
          <a:xfrm>
            <a:off x="1689100" y="4406900"/>
            <a:ext cx="750000" cy="75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5356900"/>
            <a:ext cx="19170650" cy="6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Aula:  </a:t>
            </a:r>
            <a:r>
              <a:rPr sz="2200">
                <a:solidFill>
                  <a:srgbClr val="262626"/>
                </a:solidFill>
                <a:latin typeface="Calibri"/>
              </a:rPr>
              <a:t>Aula 4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2200">
                <a:solidFill>
                  <a:srgbClr val="262626"/>
                </a:solidFill>
                <a:latin typeface="Calibri"/>
              </a:rPr>
              <a:t>automatizar a ingestão, limpeza e carga dos BOs em um pipeline agendado.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Por que importa:  </a:t>
            </a:r>
            <a:r>
              <a:rPr sz="2200">
                <a:solidFill>
                  <a:srgbClr val="262626"/>
                </a:solidFill>
                <a:latin typeface="Calibri"/>
              </a:rPr>
              <a:t>dados chegam continuamente — o pipeline precisa rodar sem intervenção manual.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Ferramentas:  </a:t>
            </a:r>
            <a:r>
              <a:rPr sz="2200">
                <a:solidFill>
                  <a:srgbClr val="262626"/>
                </a:solidFill>
                <a:latin typeface="Calibri"/>
              </a:rPr>
              <a:t>Apache Airflow, com DAGs que definem a ordem e dependência das tarefas.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Bloco 4 — Orquestração de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35</a:t>
            </a:r>
          </a:p>
        </p:txBody>
      </p:sp>
      <p:sp>
        <p:nvSpPr>
          <p:cNvPr id="5" name="Oval 4"/>
          <p:cNvSpPr/>
          <p:nvPr/>
        </p:nvSpPr>
        <p:spPr>
          <a:xfrm>
            <a:off x="1689100" y="4406900"/>
            <a:ext cx="750000" cy="75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5356900"/>
            <a:ext cx="19170650" cy="6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Aula:  </a:t>
            </a:r>
            <a:r>
              <a:rPr sz="2200">
                <a:solidFill>
                  <a:srgbClr val="262626"/>
                </a:solidFill>
                <a:latin typeface="Calibri"/>
              </a:rPr>
              <a:t>Aula 5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2200">
                <a:solidFill>
                  <a:srgbClr val="262626"/>
                </a:solidFill>
                <a:latin typeface="Calibri"/>
              </a:rPr>
              <a:t>o pipeline de treino, validação e avaliação do modelo de classificação de BOs.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Por que importa:  </a:t>
            </a:r>
            <a:r>
              <a:rPr sz="2200">
                <a:solidFill>
                  <a:srgbClr val="262626"/>
                </a:solidFill>
                <a:latin typeface="Calibri"/>
              </a:rPr>
              <a:t>automatiza e versiona o processo de treinar e comparar modelos, tornando-o reprodutível.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Ferramentas:  </a:t>
            </a:r>
            <a:r>
              <a:rPr sz="2200">
                <a:solidFill>
                  <a:srgbClr val="262626"/>
                </a:solidFill>
                <a:latin typeface="Calibri"/>
              </a:rPr>
              <a:t>Kubeflow Pipelines.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Bloco 5 —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36</a:t>
            </a:r>
          </a:p>
        </p:txBody>
      </p:sp>
      <p:sp>
        <p:nvSpPr>
          <p:cNvPr id="5" name="Oval 4"/>
          <p:cNvSpPr/>
          <p:nvPr/>
        </p:nvSpPr>
        <p:spPr>
          <a:xfrm>
            <a:off x="1689100" y="4406900"/>
            <a:ext cx="750000" cy="75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5356900"/>
            <a:ext cx="19170650" cy="6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Aula:  </a:t>
            </a:r>
            <a:r>
              <a:rPr sz="2200">
                <a:solidFill>
                  <a:srgbClr val="262626"/>
                </a:solidFill>
                <a:latin typeface="Calibri"/>
              </a:rPr>
              <a:t>Aula 6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2200">
                <a:solidFill>
                  <a:srgbClr val="262626"/>
                </a:solidFill>
                <a:latin typeface="Calibri"/>
              </a:rPr>
              <a:t>automação de lint, testes, build e deploy a cada alteração no código.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Por que importa:  </a:t>
            </a:r>
            <a:r>
              <a:rPr sz="2200">
                <a:solidFill>
                  <a:srgbClr val="262626"/>
                </a:solidFill>
                <a:latin typeface="Calibri"/>
              </a:rPr>
              <a:t>garante que só código testado e validado chegue à produção.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Ferramentas:  </a:t>
            </a:r>
            <a:r>
              <a:rPr sz="2200">
                <a:solidFill>
                  <a:srgbClr val="262626"/>
                </a:solidFill>
                <a:latin typeface="Calibri"/>
              </a:rPr>
              <a:t>GitHub Actions, com autenticação segura ao Azure via OIDC.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Bloco 6 — Registro de Imagem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37</a:t>
            </a:r>
          </a:p>
        </p:txBody>
      </p:sp>
      <p:sp>
        <p:nvSpPr>
          <p:cNvPr id="5" name="Oval 4"/>
          <p:cNvSpPr/>
          <p:nvPr/>
        </p:nvSpPr>
        <p:spPr>
          <a:xfrm>
            <a:off x="1689100" y="4406900"/>
            <a:ext cx="750000" cy="75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5356900"/>
            <a:ext cx="19170650" cy="6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Aula:  </a:t>
            </a:r>
            <a:r>
              <a:rPr sz="2200">
                <a:solidFill>
                  <a:srgbClr val="262626"/>
                </a:solidFill>
                <a:latin typeface="Calibri"/>
              </a:rPr>
              <a:t>Aula 7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2200">
                <a:solidFill>
                  <a:srgbClr val="262626"/>
                </a:solidFill>
                <a:latin typeface="Calibri"/>
              </a:rPr>
              <a:t>o armazenamento versionado da imagem Docker da aplicação (API do classificador).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Por que importa:  </a:t>
            </a:r>
            <a:r>
              <a:rPr sz="2200">
                <a:solidFill>
                  <a:srgbClr val="262626"/>
                </a:solidFill>
                <a:latin typeface="Calibri"/>
              </a:rPr>
              <a:t>permite rastrear exatamente qual versão do código está rodando em produção.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Ferramentas:  </a:t>
            </a:r>
            <a:r>
              <a:rPr sz="2200">
                <a:solidFill>
                  <a:srgbClr val="262626"/>
                </a:solidFill>
                <a:latin typeface="Calibri"/>
              </a:rPr>
              <a:t>Azure Container Registry (ACR).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Bloco 7 —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38</a:t>
            </a:r>
          </a:p>
        </p:txBody>
      </p:sp>
      <p:sp>
        <p:nvSpPr>
          <p:cNvPr id="5" name="Oval 4"/>
          <p:cNvSpPr/>
          <p:nvPr/>
        </p:nvSpPr>
        <p:spPr>
          <a:xfrm>
            <a:off x="1689100" y="4406900"/>
            <a:ext cx="750000" cy="75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5356900"/>
            <a:ext cx="19170650" cy="6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Aula:  </a:t>
            </a:r>
            <a:r>
              <a:rPr sz="2200">
                <a:solidFill>
                  <a:srgbClr val="262626"/>
                </a:solidFill>
                <a:latin typeface="Calibri"/>
              </a:rPr>
              <a:t>Aula 7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2200">
                <a:solidFill>
                  <a:srgbClr val="262626"/>
                </a:solidFill>
                <a:latin typeface="Calibri"/>
              </a:rPr>
              <a:t>colocar a aplicação em execução em produção, de forma escalável.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Por que importa:  </a:t>
            </a:r>
            <a:r>
              <a:rPr sz="2200">
                <a:solidFill>
                  <a:srgbClr val="262626"/>
                </a:solidFill>
                <a:latin typeface="Calibri"/>
              </a:rPr>
              <a:t>é aqui que o modelo passa a atender requisições reais (ou, no curso, simuladas).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Ferramentas:  </a:t>
            </a:r>
            <a:r>
              <a:rPr sz="2200">
                <a:solidFill>
                  <a:srgbClr val="262626"/>
                </a:solidFill>
                <a:latin typeface="Calibri"/>
              </a:rPr>
              <a:t>Azure Kubernetes Service (AKS) + Helm.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Bloco 8 — Observabilidade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39</a:t>
            </a:r>
          </a:p>
        </p:txBody>
      </p:sp>
      <p:sp>
        <p:nvSpPr>
          <p:cNvPr id="5" name="Oval 4"/>
          <p:cNvSpPr/>
          <p:nvPr/>
        </p:nvSpPr>
        <p:spPr>
          <a:xfrm>
            <a:off x="1689100" y="4406900"/>
            <a:ext cx="750000" cy="750000"/>
          </a:xfrm>
          <a:prstGeom prst="ellipse">
            <a:avLst/>
          </a:prstGeom>
          <a:solidFill>
            <a:srgbClr val="F5A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" y="5356900"/>
            <a:ext cx="19170650" cy="6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Aula:  </a:t>
            </a:r>
            <a:r>
              <a:rPr sz="2200">
                <a:solidFill>
                  <a:srgbClr val="262626"/>
                </a:solidFill>
                <a:latin typeface="Calibri"/>
              </a:rPr>
              <a:t>Aula 7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O que é:  </a:t>
            </a:r>
            <a:r>
              <a:rPr sz="2200">
                <a:solidFill>
                  <a:srgbClr val="262626"/>
                </a:solidFill>
                <a:latin typeface="Calibri"/>
              </a:rPr>
              <a:t>monitorar métricas de uso, latência e comportamento do modelo em produção.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Por que importa:  </a:t>
            </a:r>
            <a:r>
              <a:rPr sz="2200">
                <a:solidFill>
                  <a:srgbClr val="262626"/>
                </a:solidFill>
                <a:latin typeface="Calibri"/>
              </a:rPr>
              <a:t>possibilita o laço de retroalimentação — saber QUANDO retreinar o modelo.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Ferramentas:  </a:t>
            </a:r>
            <a:r>
              <a:rPr sz="2200">
                <a:solidFill>
                  <a:srgbClr val="262626"/>
                </a:solidFill>
                <a:latin typeface="Calibri"/>
              </a:rPr>
              <a:t>Prometheus (coleta de métricas) e Grafana (dashboards).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Projeto-guia: PCDF —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2600" b="1">
                <a:solidFill>
                  <a:srgbClr val="004A8F"/>
                </a:solidFill>
                <a:latin typeface="Calibri"/>
              </a:rPr>
              <a:t>Cliente de referência:  </a:t>
            </a:r>
            <a:r>
              <a:rPr sz="2600">
                <a:solidFill>
                  <a:srgbClr val="262626"/>
                </a:solidFill>
                <a:latin typeface="Calibri"/>
              </a:rPr>
              <a:t>Polícia Civil do Distrito Federal (PCDF) — escolhido por ser um caso de uso realista, com dados textuais e necessidade real de triagem rápida.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2600" b="1">
                <a:solidFill>
                  <a:srgbClr val="004A8F"/>
                </a:solidFill>
                <a:latin typeface="Calibri"/>
              </a:rPr>
              <a:t>Problema a resolver:  </a:t>
            </a:r>
            <a:r>
              <a:rPr sz="2600">
                <a:solidFill>
                  <a:srgbClr val="262626"/>
                </a:solidFill>
                <a:latin typeface="Calibri"/>
              </a:rPr>
              <a:t>a partir do relato textual de um Boletim de Ocorrência, sugerir automaticamente a natureza (ex.: furto, roubo, estelionato) e a urgência da ocorrência.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Projeto-guia: PCDF — Classificação e Priorização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2600" b="1">
                <a:solidFill>
                  <a:srgbClr val="004A8F"/>
                </a:solidFill>
                <a:latin typeface="Calibri"/>
              </a:rPr>
              <a:t>Objetivo:  </a:t>
            </a:r>
            <a:r>
              <a:rPr sz="2600">
                <a:solidFill>
                  <a:srgbClr val="262626"/>
                </a:solidFill>
                <a:latin typeface="Calibri"/>
              </a:rPr>
              <a:t>apoiar a triagem e o roteamento mais rápido à unidade responsável, reduzindo o tempo entre o registro do BO e o atendimento.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2600" b="1">
                <a:solidFill>
                  <a:srgbClr val="004A8F"/>
                </a:solidFill>
                <a:latin typeface="Calibri"/>
              </a:rPr>
              <a:t>Decisão final:  </a:t>
            </a:r>
            <a:r>
              <a:rPr sz="2600">
                <a:solidFill>
                  <a:srgbClr val="262626"/>
                </a:solidFill>
                <a:latin typeface="Calibri"/>
              </a:rPr>
              <a:t>continua sendo humana — o modelo apenas prioriza a fila de trabalho; o delegado/atendente decide.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2600" b="1">
                <a:solidFill>
                  <a:srgbClr val="004A8F"/>
                </a:solidFill>
                <a:latin typeface="Calibri"/>
              </a:rPr>
              <a:t>Nome do repositório:  </a:t>
            </a:r>
            <a:r>
              <a:rPr sz="2600">
                <a:solidFill>
                  <a:srgbClr val="262626"/>
                </a:solidFill>
                <a:latin typeface="Calibri"/>
              </a:rPr>
              <a:t>pcdf-bo-triagem — usado em todas as 8 aulas do curso.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800" b="1">
                <a:solidFill>
                  <a:srgbClr val="0070C0"/>
                </a:solidFill>
                <a:latin typeface="Calibri"/>
              </a:rPr>
              <a:t>Considerações Éticas e LGPD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400" b="1">
                <a:solidFill>
                  <a:srgbClr val="004A8F"/>
                </a:solidFill>
                <a:latin typeface="Calibri"/>
              </a:rPr>
              <a:t>Dados sintéticos em sala:  </a:t>
            </a:r>
            <a:r>
              <a:rPr sz="2400">
                <a:solidFill>
                  <a:srgbClr val="262626"/>
                </a:solidFill>
                <a:latin typeface="Calibri"/>
              </a:rPr>
              <a:t>usaremos apenas dados fictícios — nunca BOs reais com dados pessoais.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400" b="1">
                <a:solidFill>
                  <a:srgbClr val="004A8F"/>
                </a:solidFill>
                <a:latin typeface="Calibri"/>
              </a:rPr>
              <a:t>Base legal — LGPD:  </a:t>
            </a:r>
            <a:r>
              <a:rPr sz="2400">
                <a:solidFill>
                  <a:srgbClr val="262626"/>
                </a:solidFill>
                <a:latin typeface="Calibri"/>
              </a:rPr>
              <a:t>Lei nº 13.709/2018 — proteção de dados pessoais.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400" b="1">
                <a:solidFill>
                  <a:srgbClr val="004A8F"/>
                </a:solidFill>
                <a:latin typeface="Calibri"/>
              </a:rPr>
              <a:t>Escopo administrativo:  </a:t>
            </a:r>
            <a:r>
              <a:rPr sz="2400">
                <a:solidFill>
                  <a:srgbClr val="262626"/>
                </a:solidFill>
                <a:latin typeface="Calibri"/>
              </a:rPr>
              <a:t>triagem de documentos, não perfilamento de pessoas ou bairros.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400" b="1">
                <a:solidFill>
                  <a:srgbClr val="004A8F"/>
                </a:solidFill>
                <a:latin typeface="Calibri"/>
              </a:rPr>
              <a:t>Supervisão humana obrigatória:  </a:t>
            </a:r>
            <a:r>
              <a:rPr sz="2400">
                <a:solidFill>
                  <a:srgbClr val="262626"/>
                </a:solidFill>
                <a:latin typeface="Calibri"/>
              </a:rPr>
              <a:t>em qualquer decisão que afete pessoas.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400" b="1">
                <a:solidFill>
                  <a:srgbClr val="004A8F"/>
                </a:solidFill>
                <a:latin typeface="Calibri"/>
              </a:rPr>
              <a:t>Cuidado com viés algorítmico:  </a:t>
            </a:r>
            <a:r>
              <a:rPr sz="2400">
                <a:solidFill>
                  <a:srgbClr val="262626"/>
                </a:solidFill>
                <a:latin typeface="Calibri"/>
              </a:rPr>
              <a:t>o dataset de treino deve ser auditado antes de qualquer uso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Estudo de Caso: Classificação de BOs com PLN (Piauí)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Sousa, R. F.; Moura, R. S. (2025) — pesquisa com a Secretaria de Segurança Pública do Piauí (SSP/PI).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Compararam 3 modelos para classificar a natureza de BOs a partir do texto — veremos cada um em detalhe nos próximos slides.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Principal gargalo identificado: qualidade e consistência dos rótulos, não só o modelo.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Fonte: Anais do ENUCOMPI/SBC, 2025.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Riscos e Dívida Técnica em Projetos de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400"/>
              </a:spcAft>
              <a:buNone/>
            </a:pPr>
            <a:r>
              <a:rPr sz="3600" dirty="0">
                <a:solidFill>
                  <a:srgbClr val="262626"/>
                </a:solidFill>
                <a:latin typeface="Calibri"/>
              </a:rPr>
              <a:t>Assim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como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dívida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financeira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"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dívida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técnica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" é um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atalho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que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parece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economizar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tempo agora, mas cobra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juros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depois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bugs,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retrabalho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lentidão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 Em ML,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ela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aparece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formas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específicas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: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Glue code:  </a:t>
            </a:r>
            <a:r>
              <a:rPr sz="3600" dirty="0">
                <a:solidFill>
                  <a:srgbClr val="262626"/>
                </a:solidFill>
                <a:latin typeface="Calibri"/>
              </a:rPr>
              <a:t>scripts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soltos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"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colando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"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etapas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do pipeline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padronização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—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funcionam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mas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ninguém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entende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consegue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manter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Pipeline jungles: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múltiplos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pipelines de dados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sobrepostos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clareza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dependência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entre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eles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b="1" dirty="0">
                <a:solidFill>
                  <a:srgbClr val="004A8F"/>
                </a:solidFill>
                <a:latin typeface="Calibri"/>
              </a:rPr>
              <a:t>Configuration debt: 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parâmetros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credenciais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configurações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espalhados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vários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lugares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não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versionados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nem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documentados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  <a:endParaRPr lang="en-US" sz="36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endParaRPr sz="36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600" dirty="0" err="1">
                <a:solidFill>
                  <a:srgbClr val="262626"/>
                </a:solidFill>
                <a:latin typeface="Calibri"/>
              </a:rPr>
              <a:t>Referência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: Sculley et al. (2015), "Hidden Technical Debt in Machine Learning Systems" (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NeurIPS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) — um dos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artigos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mais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citados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da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área</a:t>
            </a:r>
            <a:r>
              <a:rPr sz="36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600" dirty="0" err="1">
                <a:solidFill>
                  <a:srgbClr val="262626"/>
                </a:solidFill>
                <a:latin typeface="Calibri"/>
              </a:rPr>
              <a:t>MLOps</a:t>
            </a:r>
            <a:r>
              <a:rPr sz="360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0" y="2711450"/>
            <a:ext cx="19170650" cy="7823200"/>
          </a:xfrm>
        </p:spPr>
        <p:txBody>
          <a:bodyPr wrap="square" anchor="ctr"/>
          <a:lstStyle/>
          <a:p>
            <a:pPr algn="ctr">
              <a:buNone/>
            </a:pPr>
            <a:r>
              <a:rPr sz="3400" b="1" i="1" dirty="0">
                <a:solidFill>
                  <a:srgbClr val="004A8F"/>
                </a:solidFill>
                <a:latin typeface="Calibri"/>
              </a:rPr>
              <a:t>Uma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organização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fictícia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treina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seus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modelos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manualmente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em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notebook e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envia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o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arquivo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por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e-mail para o time de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produção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colocar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no ar. Em qual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nível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de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maturidade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MLOps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(0, 1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ou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2)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essa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organização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está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? Por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quê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600" y="2946400"/>
            <a:ext cx="19170650" cy="7823200"/>
          </a:xfrm>
        </p:spPr>
        <p:txBody>
          <a:bodyPr wrap="square" anchor="ctr"/>
          <a:lstStyle/>
          <a:p>
            <a:pPr algn="ctr">
              <a:buNone/>
            </a:pPr>
            <a:r>
              <a:rPr sz="3400" b="1" i="1" dirty="0">
                <a:solidFill>
                  <a:srgbClr val="004A8F"/>
                </a:solidFill>
                <a:latin typeface="Calibri"/>
              </a:rPr>
              <a:t>Pense no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projeto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você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vai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construir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neste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curso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. Cite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três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riscos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de "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dívida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técnica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"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que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podem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aparecer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se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você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não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planejar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bem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o pipeline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desde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 o </a:t>
            </a:r>
            <a:r>
              <a:rPr sz="3400" b="1" i="1" dirty="0" err="1">
                <a:solidFill>
                  <a:srgbClr val="004A8F"/>
                </a:solidFill>
                <a:latin typeface="Calibri"/>
              </a:rPr>
              <a:t>início</a:t>
            </a:r>
            <a:r>
              <a:rPr sz="3400" b="1" i="1" dirty="0">
                <a:solidFill>
                  <a:srgbClr val="004A8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Temas Sugeridos para os Projetos dos Alunos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 err="1">
                <a:solidFill>
                  <a:srgbClr val="262626"/>
                </a:solidFill>
                <a:latin typeface="Calibri"/>
              </a:rPr>
              <a:t>Classificação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denúncias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do Disque-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Denúncia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por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tipo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/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urgência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 err="1">
                <a:solidFill>
                  <a:srgbClr val="262626"/>
                </a:solidFill>
                <a:latin typeface="Calibri"/>
              </a:rPr>
              <a:t>Detecção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duplicidade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entre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Boletins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Ocorrência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 err="1">
                <a:solidFill>
                  <a:srgbClr val="262626"/>
                </a:solidFill>
                <a:latin typeface="Calibri"/>
              </a:rPr>
              <a:t>Reconhecimento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placas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veiculares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(ALPR) x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veículos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furtados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 err="1">
                <a:solidFill>
                  <a:srgbClr val="262626"/>
                </a:solidFill>
                <a:latin typeface="Calibri"/>
              </a:rPr>
              <a:t>Extração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dados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laudos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periciais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digitalizados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(OCR + NLP)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 err="1">
                <a:solidFill>
                  <a:srgbClr val="262626"/>
                </a:solidFill>
                <a:latin typeface="Calibri"/>
              </a:rPr>
              <a:t>Previsão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do tempo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médio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atendimento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ocorrências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 err="1">
                <a:solidFill>
                  <a:srgbClr val="262626"/>
                </a:solidFill>
                <a:latin typeface="Calibri"/>
              </a:rPr>
              <a:t>Manutenção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preditiva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da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frota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viaturas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>
                <a:solidFill>
                  <a:srgbClr val="262626"/>
                </a:solidFill>
                <a:latin typeface="Calibri"/>
              </a:rPr>
              <a:t>Chatbot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atendimento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na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Delegacia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Eletrônica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 err="1">
                <a:solidFill>
                  <a:srgbClr val="262626"/>
                </a:solidFill>
                <a:latin typeface="Calibri"/>
              </a:rPr>
              <a:t>Detecção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anomalias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em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processos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administrativos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internos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 err="1">
                <a:solidFill>
                  <a:srgbClr val="262626"/>
                </a:solidFill>
                <a:latin typeface="Calibri"/>
              </a:rPr>
              <a:t>Correspondência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entre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pessoas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desaparecidas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boletins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localização</a:t>
            </a:r>
            <a:endParaRPr sz="32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dirty="0" err="1">
                <a:solidFill>
                  <a:srgbClr val="262626"/>
                </a:solidFill>
                <a:latin typeface="Calibri"/>
              </a:rPr>
              <a:t>Previsão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demanda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da fila de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exames</a:t>
            </a:r>
            <a:r>
              <a:rPr sz="3200" dirty="0">
                <a:solidFill>
                  <a:srgbClr val="262626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262626"/>
                </a:solidFill>
                <a:latin typeface="Calibri"/>
              </a:rPr>
              <a:t>periciais</a:t>
            </a:r>
            <a:endParaRPr sz="320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Agora Vamos Para a Prática: Setup do Ambiente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dirty="0" err="1">
                <a:solidFill>
                  <a:srgbClr val="262626"/>
                </a:solidFill>
                <a:latin typeface="Calibri"/>
              </a:rPr>
              <a:t>Partimos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um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computador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zerado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sem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nenhum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software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instalado</a:t>
            </a:r>
            <a:endParaRPr sz="440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dirty="0" err="1">
                <a:solidFill>
                  <a:srgbClr val="262626"/>
                </a:solidFill>
                <a:latin typeface="Calibri"/>
              </a:rPr>
              <a:t>Softwares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instalar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hoje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: Git, Python 3.11+, VS Code, Docker Desktop, Azure CLI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dirty="0">
                <a:solidFill>
                  <a:srgbClr val="262626"/>
                </a:solidFill>
                <a:latin typeface="Calibri"/>
              </a:rPr>
              <a:t>Contas 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criar</a:t>
            </a:r>
            <a:r>
              <a:rPr sz="4400" dirty="0">
                <a:solidFill>
                  <a:srgbClr val="262626"/>
                </a:solidFill>
                <a:latin typeface="Calibri"/>
              </a:rPr>
              <a:t>: GitHub e Microsoft Azure (Azure for Students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ou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Free Account)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dirty="0">
                <a:solidFill>
                  <a:srgbClr val="262626"/>
                </a:solidFill>
                <a:latin typeface="Calibri"/>
              </a:rPr>
              <a:t>Ao final,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aluno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terá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ambiente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pronto para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todas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as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próximas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7 aulas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b="1" dirty="0" err="1">
                <a:solidFill>
                  <a:srgbClr val="004A8F"/>
                </a:solidFill>
                <a:latin typeface="Calibri"/>
              </a:rPr>
              <a:t>Referência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004A8F"/>
                </a:solidFill>
                <a:latin typeface="Calibri"/>
              </a:rPr>
              <a:t>detalhada</a:t>
            </a:r>
            <a:r>
              <a:rPr sz="4400" b="1" dirty="0">
                <a:solidFill>
                  <a:srgbClr val="004A8F"/>
                </a:solidFill>
                <a:latin typeface="Calibri"/>
              </a:rPr>
              <a:t>:  </a:t>
            </a:r>
            <a:r>
              <a:rPr sz="4400" dirty="0">
                <a:solidFill>
                  <a:srgbClr val="262626"/>
                </a:solidFill>
                <a:latin typeface="Calibri"/>
              </a:rPr>
              <a:t>use o Manual do Professor (MANUAL DO PROFESSOR - Aula 1_FINAL.PDF) para o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passo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a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passo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completo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de </a:t>
            </a:r>
            <a:r>
              <a:rPr sz="4400" dirty="0" err="1">
                <a:solidFill>
                  <a:srgbClr val="262626"/>
                </a:solidFill>
                <a:latin typeface="Calibri"/>
              </a:rPr>
              <a:t>cada</a:t>
            </a:r>
            <a:r>
              <a:rPr sz="4400" dirty="0">
                <a:solidFill>
                  <a:srgbClr val="262626"/>
                </a:solidFill>
                <a:latin typeface="Calibri"/>
              </a:rPr>
              <a:t> item.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Instalação: Git 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Verificação no terminal: git --version  e  python --version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Depois de instalar, configure a identidade do Git: git config --global user.name / user.email</a:t>
            </a:r>
          </a:p>
        </p:txBody>
      </p:sp>
      <p:pic>
        <p:nvPicPr>
          <p:cNvPr id="6" name="Picture 5" descr="img_git_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67" y="8480292"/>
            <a:ext cx="9683115" cy="179641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VS Code — Extensões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Extensões instaladas: Python, Docker, Kubernetes, HashiCorp Terraform, YAML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Essas extensões serão usadas a partir da Aula 2 (Terraform) e ao longo de todo o curso</a:t>
            </a:r>
          </a:p>
        </p:txBody>
      </p:sp>
      <p:pic>
        <p:nvPicPr>
          <p:cNvPr id="6" name="Picture 5" descr="img_vscode_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055" y="8261217"/>
            <a:ext cx="17350740" cy="223456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Docker Desktop — Kubernetes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7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Settings → Kubernetes → Enable Kubernetes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Método de provisionamento: kind (cluster multi-nó) — padrão atual do Docker Desktop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Necessário para as Aulas 4, 5 e 7 (Kubernetes local antes do AKS)</a:t>
            </a:r>
          </a:p>
        </p:txBody>
      </p:sp>
      <p:pic>
        <p:nvPicPr>
          <p:cNvPr id="6" name="Picture 5" descr="img_docker_k8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040" y="6376900"/>
            <a:ext cx="6104770" cy="58532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Azure CLI Instalado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Windows: instalador MSI — aka.ms/installazurecliwindows  |  Mac: brew install azure-cli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Verificação: az --version</a:t>
            </a:r>
          </a:p>
        </p:txBody>
      </p:sp>
      <p:pic>
        <p:nvPicPr>
          <p:cNvPr id="6" name="Picture 5" descr="img_azc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855" y="6526900"/>
            <a:ext cx="14681140" cy="57032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Login no Azure (az login)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7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Comando: az login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Contas com MFA/Conditional Access: use az login --tenant &lt;TENANT_ID&gt; após concluir o MFA no portal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Resultado esperado: assinatura ativa listada no terminal (az account show)</a:t>
            </a:r>
          </a:p>
        </p:txBody>
      </p:sp>
      <p:pic>
        <p:nvPicPr>
          <p:cNvPr id="6" name="Picture 5" descr="img_az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362" y="6376900"/>
            <a:ext cx="9654125" cy="58532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Resource Group Criado no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Comando: az group create --name rg-pcdf-demo --location brazilsouth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Todo recurso Azure criado no curso ficará dentro deste Resource Group</a:t>
            </a:r>
          </a:p>
        </p:txBody>
      </p:sp>
      <p:pic>
        <p:nvPicPr>
          <p:cNvPr id="6" name="Picture 5" descr="img_resource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6860696"/>
            <a:ext cx="19170650" cy="503560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Construindo o Projeto-guia: Repositório no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Nome do repositório: pcdf-bo-triagem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Este repositório será usado em todas as próximas 7 aulas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Cada aula adiciona uma nova camada (IaC → orquestração → CI/CD → deploy → monitoramento)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Repositório pcdf-bo-triagem Criado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Criado via GitHub Desktop (ou github.com/new) e clonado localmente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A pasta .git confirma que o repositório está inicializado</a:t>
            </a:r>
          </a:p>
        </p:txBody>
      </p:sp>
      <p:pic>
        <p:nvPicPr>
          <p:cNvPr id="6" name="Picture 5" descr="img_repo_cri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499" y="6782461"/>
            <a:ext cx="13297852" cy="5192077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Estrutura de Pastas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Comando: mkdir -p data scripts terraform pulumi airflow/dags kubeflow app k8s .github/workflows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No Windows/PowerShell, prefira o Git Bash para comandos no padrão Unix usados no curso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Estrutura-alvo ao final das 8 aulas — hoje criamos apenas as pastas vazias</a:t>
            </a:r>
          </a:p>
        </p:txBody>
      </p:sp>
      <p:pic>
        <p:nvPicPr>
          <p:cNvPr id="6" name="Picture 5" descr="img_estrutura_pas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307" y="6526900"/>
            <a:ext cx="8442236" cy="57032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Dataset Sintético de BOs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Arquivo: data/bos_sinteticos.csv — dados 100% fictícios, sem informação real/pessoal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Colunas: id, texto_relato, natureza, bairro, turno, dia_semana, houve_violencia, valor_prejuizo_reais, idade_vitima, reincidencia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9100" y="6056900"/>
            <a:ext cx="19170650" cy="617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150000" rtlCol="0" anchor="ctr"/>
          <a:lstStyle/>
          <a:p>
            <a:pPr algn="ctr"/>
            <a:r>
              <a:rPr sz="1900">
                <a:solidFill>
                  <a:srgbClr val="E8E8E8"/>
                </a:solidFill>
                <a:latin typeface="Consolas"/>
              </a:rPr>
              <a:t>id,texto_relato,natureza,bairro,turno,dia_semana,houve_violencia,</a:t>
            </a:r>
          </a:p>
          <a:p>
            <a:r>
              <a:rPr sz="1900">
                <a:solidFill>
                  <a:srgbClr val="E8E8E8"/>
                </a:solidFill>
                <a:latin typeface="Consolas"/>
              </a:rPr>
              <a:t>   valor_prejuizo_reais,idade_vitima,reincidencia</a:t>
            </a:r>
          </a:p>
          <a:p>
            <a:r>
              <a:rPr sz="1900">
                <a:solidFill>
                  <a:srgbClr val="E8E8E8"/>
                </a:solidFill>
                <a:latin typeface="Consolas"/>
              </a:rPr>
              <a:t>1,"Comunicante relata que teve celular subtraido sem uso de</a:t>
            </a:r>
          </a:p>
          <a:p>
            <a:r>
              <a:rPr sz="1900">
                <a:solidFill>
                  <a:srgbClr val="E8E8E8"/>
                </a:solidFill>
                <a:latin typeface="Consolas"/>
              </a:rPr>
              <a:t> violencia na parada de onibus",Furto,Ceilândia,Tarde,Sexta,</a:t>
            </a:r>
          </a:p>
          <a:p>
            <a:r>
              <a:rPr sz="1900">
                <a:solidFill>
                  <a:srgbClr val="E8E8E8"/>
                </a:solidFill>
                <a:latin typeface="Consolas"/>
              </a:rPr>
              <a:t> False,1200.0,34,False</a:t>
            </a:r>
          </a:p>
          <a:p>
            <a:r>
              <a:rPr sz="1900">
                <a:solidFill>
                  <a:srgbClr val="E8E8E8"/>
                </a:solidFill>
                <a:latin typeface="Consolas"/>
              </a:rPr>
              <a:t>2,"Vitima informa que foi abordada por individuo armado que</a:t>
            </a:r>
          </a:p>
          <a:p>
            <a:r>
              <a:rPr sz="1900">
                <a:solidFill>
                  <a:srgbClr val="E8E8E8"/>
                </a:solidFill>
                <a:latin typeface="Consolas"/>
              </a:rPr>
              <a:t> levou sua carteira",Roubo,Guará,Noite,Sábado,True,2500.0,,False</a:t>
            </a:r>
          </a:p>
          <a:p>
            <a:r>
              <a:rPr sz="1900">
                <a:solidFill>
                  <a:srgbClr val="E8E8E8"/>
                </a:solidFill>
                <a:latin typeface="Consolas"/>
              </a:rPr>
              <a:t>...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Encoding de Variáveis Categóricas: Label x One-Hot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100" b="1">
                <a:solidFill>
                  <a:srgbClr val="004A8F"/>
                </a:solidFill>
                <a:latin typeface="Calibri"/>
              </a:rPr>
              <a:t>O problema:  </a:t>
            </a:r>
            <a:r>
              <a:rPr sz="2100">
                <a:solidFill>
                  <a:srgbClr val="262626"/>
                </a:solidFill>
                <a:latin typeface="Calibri"/>
              </a:rPr>
              <a:t>modelos de ML trabalham com números — variáveis categóricas (texto) precisam ser convertidas antes do treino.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100" b="1">
                <a:solidFill>
                  <a:srgbClr val="004A8F"/>
                </a:solidFill>
                <a:latin typeface="Calibri"/>
              </a:rPr>
              <a:t>Label Encoding:  </a:t>
            </a:r>
            <a:r>
              <a:rPr sz="2100">
                <a:solidFill>
                  <a:srgbClr val="262626"/>
                </a:solidFill>
                <a:latin typeface="Calibri"/>
              </a:rPr>
              <a:t>atribui um número inteiro a cada categoria (ex.: Madrugada=0, Manhã=1, Tarde=2, Noite=3). Correto para variáveis ORDINAIS, onde existe uma ordem natural.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100" b="1">
                <a:solidFill>
                  <a:srgbClr val="004A8F"/>
                </a:solidFill>
                <a:latin typeface="Calibri"/>
              </a:rPr>
              <a:t>One-Hot Encoding:  </a:t>
            </a:r>
            <a:r>
              <a:rPr sz="2100">
                <a:solidFill>
                  <a:srgbClr val="262626"/>
                </a:solidFill>
                <a:latin typeface="Calibri"/>
              </a:rPr>
              <a:t>cria uma coluna binária (0/1) para cada categoria. Correto para variáveis NOMINAIS, sem ordem — evita que o modelo invente uma relação de grandeza que não existe.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100" b="1">
                <a:solidFill>
                  <a:srgbClr val="004A8F"/>
                </a:solidFill>
                <a:latin typeface="Calibri"/>
              </a:rPr>
              <a:t>No nosso dataset:  </a:t>
            </a:r>
            <a:r>
              <a:rPr sz="2100">
                <a:solidFill>
                  <a:srgbClr val="262626"/>
                </a:solidFill>
                <a:latin typeface="Calibri"/>
              </a:rPr>
              <a:t>"turno" é ordinal → Label Encoding com a ordem certa. "bairro" é nominal → One-Hot Encoding (usar Label Encoding aqui seria um erro, como veremos na demonstração prática).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Scripts de Demonstração: Onde Ficam no Repositório?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04A8F"/>
                </a:solidFill>
                <a:latin typeface="Calibri"/>
              </a:rPr>
              <a:t>Pasta scripts/:  </a:t>
            </a:r>
            <a:r>
              <a:rPr sz="1900">
                <a:solidFill>
                  <a:srgbClr val="262626"/>
                </a:solidFill>
                <a:latin typeface="Calibri"/>
              </a:rPr>
              <a:t>guarda código exploratório e de demonstração — não é o código que vai para produção (esse fica em app/).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04A8F"/>
                </a:solidFill>
                <a:latin typeface="Calibri"/>
              </a:rPr>
              <a:t>scripts/demo_ml_1_sem_preprocessamento.py:  </a:t>
            </a:r>
            <a:r>
              <a:rPr sz="1900">
                <a:solidFill>
                  <a:srgbClr val="262626"/>
                </a:solidFill>
                <a:latin typeface="Calibri"/>
              </a:rPr>
              <a:t>roda o classificador sem nenhum tratamento dos dados. Resultado medido: Acurácia 50,00% | Precisão 47,92% | Revocação 50,00% | F1-Score 46,67%.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04A8F"/>
                </a:solidFill>
                <a:latin typeface="Calibri"/>
              </a:rPr>
              <a:t>scripts/demo_ml_2_com_preprocessamento.py:  </a:t>
            </a:r>
            <a:r>
              <a:rPr sz="1900">
                <a:solidFill>
                  <a:srgbClr val="262626"/>
                </a:solidFill>
                <a:latin typeface="Calibri"/>
              </a:rPr>
              <a:t>mesmo modelo, mesmos dados, agora com limpeza, encoding correto e tratamento de outliers. Resultado medido: Acurácia 66,67% | Precisão 73,61% | Revocação 66,67% | F1-Score 63,89%.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04A8F"/>
                </a:solidFill>
                <a:latin typeface="Calibri"/>
              </a:rPr>
              <a:t>Por que essa comparação importa:  </a:t>
            </a:r>
            <a:r>
              <a:rPr sz="1900">
                <a:solidFill>
                  <a:srgbClr val="262626"/>
                </a:solidFill>
                <a:latin typeface="Calibri"/>
              </a:rPr>
              <a:t>mostra, com números reais, que a qualidade do pré-processamento pode valer mais do que a escolha do algoritmo — o mesmo DecisionTreeClassifier, só com dados tratados corretamente.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README Inicial do Projeto-guia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README.md documenta objetivo, dados, roadmap por aula e estrutura do repositório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Serve de guia para o próprio aluno acompanhar sua evolução ao longo do curso</a:t>
            </a:r>
          </a:p>
        </p:txBody>
      </p:sp>
      <p:pic>
        <p:nvPicPr>
          <p:cNvPr id="6" name="Picture 5" descr="img_read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774" y="6126900"/>
            <a:ext cx="4479302" cy="61032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Commit e Push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" y="4406900"/>
            <a:ext cx="1917065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Comandos: git add .  →  git commit -m "setup inicial do projeto-guia"  →  git push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Pelo GitHub Desktop: os mesmos passos via botões Commit e Push</a:t>
            </a:r>
          </a:p>
        </p:txBody>
      </p:sp>
      <p:pic>
        <p:nvPicPr>
          <p:cNvPr id="6" name="Picture 5" descr="img_commit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602" y="6526900"/>
            <a:ext cx="15771645" cy="57032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Atividade Prática de Hoje (Aluno)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Criar o repositório do seu projeto individual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Escolher um tema (um dos 10 sugeridos, ou propor um tema próprio)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Definir o dataset a ser usado (sintético, anonimizado ou público)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Escrever um README inicial com o escopo do projeto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>
                <a:solidFill>
                  <a:srgbClr val="262626"/>
                </a:solidFill>
                <a:latin typeface="Calibri"/>
              </a:rPr>
              <a:t>Fazer o primeiro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Entregáveis da Aula 1 — Trabalho Individual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>
                <a:solidFill>
                  <a:srgbClr val="262626"/>
                </a:solidFill>
                <a:latin typeface="Calibri"/>
              </a:rPr>
              <a:t>Produza um PDF individual com os prints (capturas de tela) de cada passo equivalente do Manual do Professor, executado por você.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Capa:  </a:t>
            </a:r>
            <a:r>
              <a:rPr sz="2200">
                <a:solidFill>
                  <a:srgbClr val="262626"/>
                </a:solidFill>
                <a:latin typeface="Calibri"/>
              </a:rPr>
              <a:t>inclua seu nome completo na capa do PDF.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Nome do arquivo:  </a:t>
            </a:r>
            <a:r>
              <a:rPr sz="2200">
                <a:solidFill>
                  <a:srgbClr val="262626"/>
                </a:solidFill>
                <a:latin typeface="Calibri"/>
              </a:rPr>
              <a:t>NOME_ALUNO_AULA01_IBMEC.PDF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Envio:  </a:t>
            </a:r>
            <a:r>
              <a:rPr sz="2200">
                <a:solidFill>
                  <a:srgbClr val="262626"/>
                </a:solidFill>
                <a:latin typeface="Calibri"/>
              </a:rPr>
              <a:t>por e-mail para andre.luiz.braga2000@gmail.com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004A8F"/>
                </a:solidFill>
                <a:latin typeface="Calibri"/>
              </a:rPr>
              <a:t>Assunto do e-mail:  </a:t>
            </a:r>
            <a:r>
              <a:rPr sz="2200">
                <a:solidFill>
                  <a:srgbClr val="262626"/>
                </a:solidFill>
                <a:latin typeface="Calibri"/>
              </a:rPr>
              <a:t>AULA01a-IBMEC-ENTREGAVEIS - NOME do ALUNO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Entregáveis da Aula 1 — Trabalho em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Produza um PDF do grupo (o envio pode ser feito apenas pelo líder do grupo) contendo: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Nome de todos os membros do grupo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Nome do projeto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Objetivos do projeto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Escopo do projeto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Resultados desejados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004A8F"/>
                </a:solidFill>
                <a:latin typeface="Calibri"/>
              </a:rPr>
              <a:t>Nome do arquivo:  </a:t>
            </a:r>
            <a:r>
              <a:rPr sz="1900">
                <a:solidFill>
                  <a:srgbClr val="262626"/>
                </a:solidFill>
                <a:latin typeface="Calibri"/>
              </a:rPr>
              <a:t>GRUPO_XX_AULA01_IBMEC.PDF (substitua XX pelo número do grupo)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004A8F"/>
                </a:solidFill>
                <a:latin typeface="Calibri"/>
              </a:rPr>
              <a:t>Envio:  </a:t>
            </a:r>
            <a:r>
              <a:rPr sz="1900">
                <a:solidFill>
                  <a:srgbClr val="262626"/>
                </a:solidFill>
                <a:latin typeface="Calibri"/>
              </a:rPr>
              <a:t>por e-mail para andre.luiz.braga2000@gmail.com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004A8F"/>
                </a:solidFill>
                <a:latin typeface="Calibri"/>
              </a:rPr>
              <a:t>Assunto do e-mail:  </a:t>
            </a:r>
            <a:r>
              <a:rPr sz="1900">
                <a:solidFill>
                  <a:srgbClr val="262626"/>
                </a:solidFill>
                <a:latin typeface="Calibri"/>
              </a:rPr>
              <a:t>AULA01b-IBMEC-ENTREGAVEIS - GRUPO_XX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070C0"/>
                </a:solidFill>
                <a:latin typeface="Calibri"/>
              </a:rPr>
              <a:t>Próxima Aula: Terraform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600">
                <a:solidFill>
                  <a:srgbClr val="262626"/>
                </a:solidFill>
                <a:latin typeface="Calibri"/>
              </a:rPr>
              <a:t>Aula 2 — Infraestrutura como Código com Terraform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600">
                <a:solidFill>
                  <a:srgbClr val="262626"/>
                </a:solidFill>
                <a:latin typeface="Calibri"/>
              </a:rPr>
              <a:t>Vamos provisionar, via código, a primeira infraestrutura real no Azure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600">
                <a:solidFill>
                  <a:srgbClr val="262626"/>
                </a:solidFill>
                <a:latin typeface="Calibri"/>
              </a:rPr>
              <a:t>Traga o ambiente de hoje já configurado e funcionando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9100" y="12520000"/>
            <a:ext cx="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m 6" descr="Uma imagem contendo Gráfico&#10;&#10;Descrição gerada automaticamente">
            <a:extLst>
              <a:ext uri="{FF2B5EF4-FFF2-40B4-BE49-F238E27FC236}">
                <a16:creationId xmlns:a16="http://schemas.microsoft.com/office/drawing/2014/main" id="{123C0F18-1F99-4AFB-BADE-BEF12CAF9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C9E5B6CA2FF774BAC2C469BEFBF993E" ma:contentTypeVersion="14" ma:contentTypeDescription="Crie um novo documento." ma:contentTypeScope="" ma:versionID="dc976a3d313a1884427fd4a25d2cee27">
  <xsd:schema xmlns:xsd="http://www.w3.org/2001/XMLSchema" xmlns:xs="http://www.w3.org/2001/XMLSchema" xmlns:p="http://schemas.microsoft.com/office/2006/metadata/properties" xmlns:ns1="http://schemas.microsoft.com/sharepoint/v3" xmlns:ns2="ca9a7d42-d7cc-4acf-9ced-5a6d605f5bb5" xmlns:ns3="de2f6f28-cd42-4609-bf66-4e8286a5a335" targetNamespace="http://schemas.microsoft.com/office/2006/metadata/properties" ma:root="true" ma:fieldsID="36c23cd9085cefcfd0c57ebeef0d5511" ns1:_="" ns2:_="" ns3:_="">
    <xsd:import namespace="http://schemas.microsoft.com/sharepoint/v3"/>
    <xsd:import namespace="ca9a7d42-d7cc-4acf-9ced-5a6d605f5bb5"/>
    <xsd:import namespace="de2f6f28-cd42-4609-bf66-4e8286a5a3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9a7d42-d7cc-4acf-9ced-5a6d605f5b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2f6f28-cd42-4609-bf66-4e8286a5a33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4036CB-9748-436C-A1A1-F4D69768EB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a9a7d42-d7cc-4acf-9ced-5a6d605f5bb5"/>
    <ds:schemaRef ds:uri="de2f6f28-cd42-4609-bf66-4e8286a5a3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2B0F66-32D8-4318-9FAE-9EACF69D7379}">
  <ds:schemaRefs>
    <ds:schemaRef ds:uri="http://schemas.microsoft.com/office/2006/metadata/properties"/>
    <ds:schemaRef ds:uri="http://schemas.microsoft.com/office/infopath/2007/PartnerControls"/>
    <ds:schemaRef ds:uri="4620a0fb-8c8e-452c-99f9-831cb1282a4d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5A8ECF9-7567-461A-B635-D7A1660AA2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5954</Words>
  <Application>Microsoft Office PowerPoint</Application>
  <PresentationFormat>Personalizar</PresentationFormat>
  <Paragraphs>491</Paragraphs>
  <Slides>83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83</vt:i4>
      </vt:variant>
    </vt:vector>
  </HeadingPairs>
  <TitlesOfParts>
    <vt:vector size="92" baseType="lpstr">
      <vt:lpstr>Arial</vt:lpstr>
      <vt:lpstr>Calibri</vt:lpstr>
      <vt:lpstr>Comic Sans MS</vt:lpstr>
      <vt:lpstr>Consolas</vt:lpstr>
      <vt:lpstr>Helvetica Light</vt:lpstr>
      <vt:lpstr>Helvetica Neue</vt:lpstr>
      <vt:lpstr>Helvetica Neue Light</vt:lpstr>
      <vt:lpstr>Helvetica Neue Medium</vt:lpstr>
      <vt:lpstr>White</vt:lpstr>
      <vt:lpstr>MLOps &amp; CI/CD</vt:lpstr>
      <vt:lpstr>Agenda de Hoje</vt:lpstr>
      <vt:lpstr>Metodologia do Curso</vt:lpstr>
      <vt:lpstr>Visão Geral das 8 Aulas</vt:lpstr>
      <vt:lpstr> Machine Learning Revisão Rápida </vt:lpstr>
      <vt:lpstr>O Que É Machine Learning?</vt:lpstr>
      <vt:lpstr>ML x LLM: Qual a Diferença?</vt:lpstr>
      <vt:lpstr>Modelos de ML São Determinísticos?</vt:lpstr>
      <vt:lpstr>Tipos de Modelos de Regressão</vt:lpstr>
      <vt:lpstr>Tipos de Modelos de Regressão</vt:lpstr>
      <vt:lpstr>Tipos de Modelos de Regressão - Polinomial</vt:lpstr>
      <vt:lpstr>Tipos de Modelos de Regressão</vt:lpstr>
      <vt:lpstr>Tipos de Modelos de Regressão</vt:lpstr>
      <vt:lpstr>Tipos de Modelos de Regressão</vt:lpstr>
      <vt:lpstr>Tipos de Modelos de Regressão</vt:lpstr>
      <vt:lpstr>Maldição da Dimensionalidade e PCA</vt:lpstr>
      <vt:lpstr>Maldição da Dimensionalidade e PCA</vt:lpstr>
      <vt:lpstr>Maldição da Dimensionalidade e PCA</vt:lpstr>
      <vt:lpstr>Maldição da Dimensionalidade e PCA</vt:lpstr>
      <vt:lpstr>Maldição da Dimensionalidade e PCA</vt:lpstr>
      <vt:lpstr>Tipos de Modelos de Regressão / Classificação</vt:lpstr>
      <vt:lpstr>AutoML — Automatizando a Escolha do Modelo</vt:lpstr>
      <vt:lpstr>Encoding de Variáveis Categóricas</vt:lpstr>
      <vt:lpstr>Apresentação do PowerPoint</vt:lpstr>
      <vt:lpstr>O Modelo CRISP-DM</vt:lpstr>
      <vt:lpstr>O Modelo CRISP-DM</vt:lpstr>
      <vt:lpstr>Overfitting e Underfitting</vt:lpstr>
      <vt:lpstr>Outliers: O Que São e Como Tratar</vt:lpstr>
      <vt:lpstr>Apresentação do PowerPoint</vt:lpstr>
      <vt:lpstr>Métricas de Avaliação: Acurácia, Precisão, Revocação, F1</vt:lpstr>
      <vt:lpstr>Métricas de Avaliação: Acurácia, Precisão, Revocação, F1</vt:lpstr>
      <vt:lpstr>Métricas de Avaliação: Acurácia, Precisão, Revocação, F1</vt:lpstr>
      <vt:lpstr>Os Modelos do Estudo de Caso</vt:lpstr>
      <vt:lpstr>O Gargalo Real: Qualidade dos Rótulos</vt:lpstr>
      <vt:lpstr>Apresentação do PowerPoint</vt:lpstr>
      <vt:lpstr>Apresentação do PowerPoint</vt:lpstr>
      <vt:lpstr>MLOps — Definição e Motivação</vt:lpstr>
      <vt:lpstr>MLOps x DevOps x DataOps</vt:lpstr>
      <vt:lpstr>Níveis de Maturidade MLOps</vt:lpstr>
      <vt:lpstr>Manutenção do Modelo em Produção: O Que Fazer em Cada Caso?</vt:lpstr>
      <vt:lpstr>Manutenção do Modelo em Produção: O Que Fazer em Cada Caso?</vt:lpstr>
      <vt:lpstr>Retreinar e Subir um Novo Modelo: E as Previsões Antigas?</vt:lpstr>
      <vt:lpstr>Retreinar e Subir um Novo Modelo: E as Previsões Antigas?</vt:lpstr>
      <vt:lpstr>Papéis Envolvidos no Curso</vt:lpstr>
      <vt:lpstr>Ferramentas e Stack Utilizada no Curso</vt:lpstr>
      <vt:lpstr>Diagrama do Projeto-guia — Visão de Ponta a Ponta</vt:lpstr>
      <vt:lpstr>Como Ler o Diagrama do Projeto-guia</vt:lpstr>
      <vt:lpstr>Bloco 1 — Fonte de Dados</vt:lpstr>
      <vt:lpstr>Bloco 2 — Infraestrutura como Código</vt:lpstr>
      <vt:lpstr>Bloco 3 — Orquestração de Dados</vt:lpstr>
      <vt:lpstr>Bloco 4 — Orquestração de ML</vt:lpstr>
      <vt:lpstr>Bloco 5 — CI/CD</vt:lpstr>
      <vt:lpstr>Bloco 6 — Registro de Imagem</vt:lpstr>
      <vt:lpstr>Bloco 7 — Deploy</vt:lpstr>
      <vt:lpstr>Bloco 8 — Observabilidade</vt:lpstr>
      <vt:lpstr>Projeto-guia: PCDF — Contexto</vt:lpstr>
      <vt:lpstr>Projeto-guia: PCDF — Classificação e Priorização</vt:lpstr>
      <vt:lpstr>Considerações Éticas e LGPD</vt:lpstr>
      <vt:lpstr>Estudo de Caso: Classificação de BOs com PLN (Piauí)</vt:lpstr>
      <vt:lpstr>Riscos e Dívida Técnica em Projetos de ML</vt:lpstr>
      <vt:lpstr>Apresentação do PowerPoint</vt:lpstr>
      <vt:lpstr>Apresentação do PowerPoint</vt:lpstr>
      <vt:lpstr>Temas Sugeridos para os Projetos dos Alunos</vt:lpstr>
      <vt:lpstr>Agora Vamos Para a Prática: Setup do Ambiente</vt:lpstr>
      <vt:lpstr>Instalação: Git e Python</vt:lpstr>
      <vt:lpstr>VS Code — Extensões do Curso</vt:lpstr>
      <vt:lpstr>Docker Desktop — Kubernetes Local</vt:lpstr>
      <vt:lpstr>Azure CLI Instalado</vt:lpstr>
      <vt:lpstr>Login no Azure (az login)</vt:lpstr>
      <vt:lpstr>Resource Group Criado no Azure</vt:lpstr>
      <vt:lpstr>Construindo o Projeto-guia: Repositório no GitHub</vt:lpstr>
      <vt:lpstr>Repositório pcdf-bo-triagem Criado</vt:lpstr>
      <vt:lpstr>Estrutura de Pastas do Projeto</vt:lpstr>
      <vt:lpstr>Dataset Sintético de BOs</vt:lpstr>
      <vt:lpstr>Encoding de Variáveis Categóricas: Label x One-Hot</vt:lpstr>
      <vt:lpstr>Scripts de Demonstração: Onde Ficam no Repositório?</vt:lpstr>
      <vt:lpstr>README Inicial do Projeto-guia</vt:lpstr>
      <vt:lpstr>Commit e Push Inicial</vt:lpstr>
      <vt:lpstr>Atividade Prática de Hoje (Aluno)</vt:lpstr>
      <vt:lpstr>Entregáveis da Aula 1 — Trabalho Individual</vt:lpstr>
      <vt:lpstr>Entregáveis da Aula 1 — Trabalho em Grupo</vt:lpstr>
      <vt:lpstr>Próxima Aula: Terraform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 Braga</dc:creator>
  <cp:lastModifiedBy>ANDRÉ LUIZ BRAGA</cp:lastModifiedBy>
  <cp:revision>26</cp:revision>
  <dcterms:modified xsi:type="dcterms:W3CDTF">2026-08-06T15:54:15Z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0x010100BC9E5B6CA2FF774BAC2C469BEFBF993E</vt:lpwstr>
  </property>
</Properties>
</file>