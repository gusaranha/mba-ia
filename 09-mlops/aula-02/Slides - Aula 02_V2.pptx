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85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344" r:id="rId13"/>
    <p:sldId id="342" r:id="rId14"/>
    <p:sldId id="265" r:id="rId15"/>
    <p:sldId id="266" r:id="rId16"/>
    <p:sldId id="296" r:id="rId17"/>
    <p:sldId id="269" r:id="rId18"/>
    <p:sldId id="270" r:id="rId19"/>
    <p:sldId id="345" r:id="rId20"/>
    <p:sldId id="343" r:id="rId21"/>
    <p:sldId id="271" r:id="rId22"/>
    <p:sldId id="272" r:id="rId23"/>
    <p:sldId id="273" r:id="rId24"/>
    <p:sldId id="268" r:id="rId25"/>
    <p:sldId id="267" r:id="rId26"/>
    <p:sldId id="347" r:id="rId27"/>
    <p:sldId id="348" r:id="rId28"/>
    <p:sldId id="297" r:id="rId29"/>
    <p:sldId id="298" r:id="rId30"/>
    <p:sldId id="299" r:id="rId31"/>
    <p:sldId id="300" r:id="rId32"/>
    <p:sldId id="301" r:id="rId33"/>
    <p:sldId id="302" r:id="rId34"/>
    <p:sldId id="349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51" r:id="rId77"/>
    <p:sldId id="350" r:id="rId78"/>
    <p:sldId id="337" r:id="rId79"/>
    <p:sldId id="338" r:id="rId80"/>
    <p:sldId id="339" r:id="rId81"/>
    <p:sldId id="340" r:id="rId82"/>
    <p:sldId id="341" r:id="rId83"/>
    <p:sldId id="258" r:id="rId8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632" autoAdjust="0"/>
    <p:restoredTop sz="94660"/>
  </p:normalViewPr>
  <p:slideViewPr>
    <p:cSldViewPr snapToGrid="0">
      <p:cViewPr varScale="1">
        <p:scale>
          <a:sx n="57" d="100"/>
          <a:sy n="57" d="100"/>
        </p:scale>
        <p:origin x="144" y="2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0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2286000"/>
          </a:xfrm>
        </p:spPr>
        <p:txBody>
          <a:bodyPr/>
          <a:lstStyle/>
          <a:p>
            <a:r>
              <a:rPr lang="pt-BR" dirty="0"/>
              <a:t>Clique para editar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89100" y="4406900"/>
            <a:ext cx="19170650" cy="7823200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137B-F694-7B4C-8D60-520B530DFBC4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886690" y="13081000"/>
            <a:ext cx="597921" cy="471924"/>
          </a:xfrm>
        </p:spPr>
        <p:txBody>
          <a:bodyPr/>
          <a:lstStyle/>
          <a:p>
            <a:fld id="{85C2E139-75F7-E84C-B376-8E7902EEBD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32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hashicorp.com/terraform/downloads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A8A4EE0-71B7-4C3A-9B31-B940838B0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83999" cy="13716000"/>
          </a:xfrm>
          <a:prstGeom prst="rect">
            <a:avLst/>
          </a:prstGeom>
        </p:spPr>
      </p:pic>
      <p:sp>
        <p:nvSpPr>
          <p:cNvPr id="120" name="Title"/>
          <p:cNvSpPr txBox="1">
            <a:spLocks noGrp="1"/>
          </p:cNvSpPr>
          <p:nvPr>
            <p:ph type="ctrTitle"/>
          </p:nvPr>
        </p:nvSpPr>
        <p:spPr>
          <a:xfrm>
            <a:off x="1692939" y="4614632"/>
            <a:ext cx="19029265" cy="15875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BR" sz="6600" b="1" i="1" dirty="0">
                <a:solidFill>
                  <a:srgbClr val="0070C0"/>
                </a:solidFill>
              </a:rPr>
              <a:t>MLOps &amp; CI/CD</a:t>
            </a:r>
          </a:p>
        </p:txBody>
      </p:sp>
      <p:sp>
        <p:nvSpPr>
          <p:cNvPr id="121" name="Body"/>
          <p:cNvSpPr txBox="1">
            <a:spLocks noGrp="1"/>
          </p:cNvSpPr>
          <p:nvPr>
            <p:ph type="subTitle" sz="quarter" idx="1"/>
          </p:nvPr>
        </p:nvSpPr>
        <p:spPr>
          <a:xfrm>
            <a:off x="1692939" y="7102707"/>
            <a:ext cx="19029265" cy="1587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Disciplina/Tema:  Aula 2 — Infraestrutura como Código com Terraform</a:t>
            </a:r>
          </a:p>
          <a:p>
            <a:pPr algn="l"/>
            <a:r>
              <a:rPr lang="pt-BR" sz="4400" dirty="0"/>
              <a:t>Professor(a):  André Luiz Braga</a:t>
            </a:r>
          </a:p>
          <a:p>
            <a:pPr algn="l"/>
            <a:r>
              <a:rPr sz="2800" i="1">
                <a:solidFill>
                  <a:srgbClr val="595959"/>
                </a:solidFill>
                <a:latin typeface="Calibri"/>
              </a:rPr>
              <a:t>MBA em BI &amp; Data Science  •  Carga horária da aula: 5h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0C0"/>
                </a:solidFill>
                <a:latin typeface="Calibri"/>
              </a:rPr>
              <a:t>Agenda de Hoje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Fundamentos: IaC, declarativo, idempotência</a:t>
            </a:r>
            <a:endParaRPr lang="pt-BR" dirty="0"/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Setup do ambiente: Terraform CLI + Azure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Terraform 100% local — 4 exercícios sem nuvem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Fluxo de trabalho: init, plan, apply, destroy (+ prática)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Blocos da linguagem e vocabulário do HCL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Estado (state), multi-cloud e boas práticas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Ferramentas de visualização e geração de HCL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Demonstração ao vivo: infraestrutura do projeto-guia PCDF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Exercícios práticos e depuração de erros, em cima da demo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Estudo de caso: environment parity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Atividade prática individual, no seu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045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7200" b="1" dirty="0" err="1">
                <a:solidFill>
                  <a:srgbClr val="0070C0"/>
                </a:solidFill>
                <a:latin typeface="Calibri"/>
              </a:rPr>
              <a:t>Objetivos</a:t>
            </a:r>
            <a:r>
              <a:rPr sz="72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7200" b="1" dirty="0" err="1">
                <a:solidFill>
                  <a:srgbClr val="0070C0"/>
                </a:solidFill>
                <a:latin typeface="Calibri"/>
              </a:rPr>
              <a:t>Aprendizagem</a:t>
            </a:r>
            <a:endParaRPr sz="72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5400" b="1">
                <a:solidFill>
                  <a:srgbClr val="004A8F"/>
                </a:solidFill>
                <a:latin typeface="Calibri"/>
              </a:rPr>
              <a:t>Compreender os princípios de Infraestrutura como Código (IaC)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5400" b="1">
                <a:solidFill>
                  <a:srgbClr val="004A8F"/>
                </a:solidFill>
                <a:latin typeface="Calibri"/>
              </a:rPr>
              <a:t>Provisionar infraestrutura em nuvem de forma declarativa com Terraform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9748" y="12520000"/>
            <a:ext cx="4187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O Que Você Já Tem Pronto (Vindo da Aula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600">
                <a:solidFill>
                  <a:srgbClr val="262626"/>
                </a:solidFill>
                <a:latin typeface="Calibri"/>
              </a:rPr>
              <a:t>✅ Git, Python 3.11+, VS Code (+ extensão HashiCorp Terraform), Docker Desktop, Azure CLI — instalados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600">
                <a:solidFill>
                  <a:srgbClr val="262626"/>
                </a:solidFill>
                <a:latin typeface="Calibri"/>
              </a:rPr>
              <a:t>✅ Conta Azure criada, az login já autenticado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600">
                <a:solidFill>
                  <a:srgbClr val="262626"/>
                </a:solidFill>
                <a:latin typeface="Calibri"/>
              </a:rPr>
              <a:t>✅ Resource Group rg-pcdf-demo já existe — criado via az group create, não via Terraform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600">
                <a:solidFill>
                  <a:srgbClr val="262626"/>
                </a:solidFill>
                <a:latin typeface="Calibri"/>
              </a:rPr>
              <a:t>✅ Repositório pcdf-bo-triagem clonado, com a pasta terraform/ vazia esperando o main.tf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600">
                <a:solidFill>
                  <a:srgbClr val="262626"/>
                </a:solidFill>
                <a:latin typeface="Calibri"/>
              </a:rPr>
              <a:t>❌ Terraform CLI — ainda não instalado (é o nosso primeiro passo hoje)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8221" y="11504000"/>
            <a:ext cx="3401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367" y="4445831"/>
            <a:ext cx="19170650" cy="2000000"/>
          </a:xfrm>
        </p:spPr>
        <p:txBody>
          <a:bodyPr wrap="square">
            <a:normAutofit/>
          </a:bodyPr>
          <a:lstStyle/>
          <a:p>
            <a:pPr algn="l"/>
            <a:r>
              <a:rPr sz="9600" b="1" dirty="0" err="1">
                <a:solidFill>
                  <a:srgbClr val="004A8F"/>
                </a:solidFill>
                <a:latin typeface="Calibri"/>
              </a:rPr>
              <a:t>Fundamentos</a:t>
            </a:r>
            <a:endParaRPr sz="9600" b="1" dirty="0">
              <a:solidFill>
                <a:srgbClr val="004A8F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2751557" y="7088666"/>
            <a:ext cx="16738710" cy="3964667"/>
          </a:xfrm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6000" dirty="0">
                <a:solidFill>
                  <a:srgbClr val="595959"/>
                </a:solidFill>
                <a:latin typeface="Calibri"/>
              </a:rPr>
              <a:t>Por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Infraestrutura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como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Código, e o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vocabulário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sustenta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tudo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o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vem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depois</a:t>
            </a:r>
            <a:r>
              <a:rPr sz="60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0524" y="2972000"/>
            <a:ext cx="228780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5AC00"/>
                </a:solidFill>
                <a:latin typeface="Calibri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353" y="2659123"/>
            <a:ext cx="19170650" cy="7823200"/>
          </a:xfr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sz="8000" b="1" i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8000" b="1" i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8000" b="1" i="1" dirty="0">
                <a:solidFill>
                  <a:srgbClr val="004A8F"/>
                </a:solidFill>
                <a:latin typeface="Calibri"/>
              </a:rPr>
              <a:t> é </a:t>
            </a:r>
            <a:r>
              <a:rPr sz="8000" b="1" i="1" dirty="0" err="1">
                <a:solidFill>
                  <a:srgbClr val="004A8F"/>
                </a:solidFill>
                <a:latin typeface="Calibri"/>
              </a:rPr>
              <a:t>Infraestrutura</a:t>
            </a:r>
            <a:r>
              <a:rPr sz="80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8000" b="1" i="1" dirty="0" err="1">
                <a:solidFill>
                  <a:srgbClr val="004A8F"/>
                </a:solidFill>
                <a:latin typeface="Calibri"/>
              </a:rPr>
              <a:t>como</a:t>
            </a:r>
            <a:r>
              <a:rPr sz="8000" b="1" i="1" dirty="0">
                <a:solidFill>
                  <a:srgbClr val="004A8F"/>
                </a:solidFill>
                <a:latin typeface="Calibri"/>
              </a:rPr>
              <a:t> Código (</a:t>
            </a:r>
            <a:r>
              <a:rPr sz="8000" b="1" i="1" dirty="0" err="1">
                <a:solidFill>
                  <a:srgbClr val="004A8F"/>
                </a:solidFill>
                <a:latin typeface="Calibri"/>
              </a:rPr>
              <a:t>IaC</a:t>
            </a:r>
            <a:r>
              <a:rPr sz="8000" b="1" i="1" dirty="0">
                <a:solidFill>
                  <a:srgbClr val="004A8F"/>
                </a:solidFill>
                <a:latin typeface="Calibri"/>
              </a:rPr>
              <a:t>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IaC: Reprodutibilidade, Versionamento, Idempotência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0" y="4406900"/>
            <a:ext cx="19170650" cy="6160786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4000" b="1" dirty="0" err="1">
                <a:solidFill>
                  <a:srgbClr val="004A8F"/>
                </a:solidFill>
                <a:latin typeface="Calibri"/>
              </a:rPr>
              <a:t>Infraestrutura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como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Código (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IaC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):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descrever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infraestrutura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arquivos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versionáveis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vez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clicar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no console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provedor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nuvem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4000" b="1" dirty="0" err="1">
                <a:solidFill>
                  <a:srgbClr val="004A8F"/>
                </a:solidFill>
                <a:latin typeface="Calibri"/>
              </a:rPr>
              <a:t>Reprodutibilidade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gera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ambiente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sempre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qualquer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máquina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por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qualquer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pessoa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time.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4000" b="1" dirty="0" err="1">
                <a:solidFill>
                  <a:srgbClr val="004A8F"/>
                </a:solidFill>
                <a:latin typeface="Calibri"/>
              </a:rPr>
              <a:t>Versionamento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infraestrutura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passa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viver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no Git, com histórico,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revisão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por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Pull Request e rollback,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igual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aplicação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4000" b="1" dirty="0" err="1">
                <a:solidFill>
                  <a:srgbClr val="004A8F"/>
                </a:solidFill>
                <a:latin typeface="Calibri"/>
              </a:rPr>
              <a:t>Idempotência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aplicar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Terraform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várias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vezes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produz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sempre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resultado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final,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duplicar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nada — é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essa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garantia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torna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terraform apply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seguro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rodar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novo.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980" y="1196000"/>
            <a:ext cx="19170650" cy="1219067"/>
          </a:xfrm>
        </p:spPr>
        <p:txBody>
          <a:bodyPr>
            <a:normAutofit/>
          </a:bodyPr>
          <a:lstStyle/>
          <a:p>
            <a:r>
              <a:rPr sz="5400" b="1" dirty="0">
                <a:solidFill>
                  <a:srgbClr val="0070C0"/>
                </a:solidFill>
                <a:latin typeface="Calibri"/>
              </a:rPr>
              <a:t>Terraform</a:t>
            </a:r>
            <a:r>
              <a:rPr lang="en-US" sz="5400" b="1" dirty="0">
                <a:solidFill>
                  <a:srgbClr val="0070C0"/>
                </a:solidFill>
                <a:latin typeface="Calibri"/>
              </a:rPr>
              <a:t> - </a:t>
            </a:r>
            <a:r>
              <a:rPr lang="en-US" sz="5400" b="1" dirty="0" err="1">
                <a:solidFill>
                  <a:srgbClr val="0070C0"/>
                </a:solidFill>
                <a:latin typeface="Calibri"/>
              </a:rPr>
              <a:t>Arquitetura</a:t>
            </a:r>
            <a:endParaRPr sz="54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9E02EE-A555-67C5-DD26-E37ACBDB5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3" b="5805"/>
          <a:stretch>
            <a:fillRect/>
          </a:stretch>
        </p:blipFill>
        <p:spPr>
          <a:xfrm>
            <a:off x="3507029" y="2218265"/>
            <a:ext cx="15870965" cy="100076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9E005-60DA-0E73-B851-8FBCD35B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397C-1063-30CD-38E7-BBFAA2411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980" y="796000"/>
            <a:ext cx="19170650" cy="2286000"/>
          </a:xfrm>
        </p:spPr>
        <p:txBody>
          <a:bodyPr/>
          <a:lstStyle/>
          <a:p>
            <a:r>
              <a:rPr lang="en-US" sz="3600" b="1" dirty="0" err="1">
                <a:solidFill>
                  <a:srgbClr val="0070C0"/>
                </a:solidFill>
                <a:latin typeface="Calibri"/>
              </a:rPr>
              <a:t>Visão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Calibri"/>
              </a:rPr>
              <a:t>Funcional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do Terraform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08FF1-E01E-70BC-DA9F-B1127F49576D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BE5D2C6-BAB9-32B4-39B0-07159A19E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54" y="2488556"/>
            <a:ext cx="11259854" cy="94872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6081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992E-D2DE-2D0C-A07C-178FE8264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E975-E1F5-9B0B-39A3-9B746DBB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 err="1">
                <a:solidFill>
                  <a:srgbClr val="0070C0"/>
                </a:solidFill>
                <a:latin typeface="Calibri"/>
              </a:rPr>
              <a:t>Os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Fundamentos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do Terraform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CFA365-ED7D-56D5-F3EA-5EA4C92F2D90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01-fundamentos.png">
            <a:extLst>
              <a:ext uri="{FF2B5EF4-FFF2-40B4-BE49-F238E27FC236}">
                <a16:creationId xmlns:a16="http://schemas.microsoft.com/office/drawing/2014/main" id="{8B00A81C-4141-0179-F365-6FB011DA6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466" y="3446200"/>
            <a:ext cx="11010286" cy="854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2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>
                <a:solidFill>
                  <a:srgbClr val="0070C0"/>
                </a:solidFill>
                <a:latin typeface="Calibri"/>
              </a:rPr>
              <a:t>Declarativo x Imperativo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dirty="0" err="1">
                <a:solidFill>
                  <a:srgbClr val="004A8F"/>
                </a:solidFill>
                <a:latin typeface="Calibri"/>
              </a:rPr>
              <a:t>Declarativo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(Terraform): 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você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descreve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resultado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desejado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— "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quero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um Storage Account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assim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" — e o Terraform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calcula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sozinho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passos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chegar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lá</a:t>
            </a:r>
            <a:r>
              <a:rPr sz="4400" dirty="0">
                <a:solidFill>
                  <a:srgbClr val="262626"/>
                </a:solidFill>
                <a:latin typeface="Calibri"/>
              </a:rPr>
              <a:t>.</a:t>
            </a:r>
            <a:r>
              <a:rPr lang="en-US" sz="4400" dirty="0">
                <a:solidFill>
                  <a:srgbClr val="262626"/>
                </a:solidFill>
                <a:latin typeface="Calibri"/>
              </a:rPr>
              <a:t>  </a:t>
            </a:r>
            <a:r>
              <a:rPr lang="en-US" sz="4400" b="1" dirty="0">
                <a:solidFill>
                  <a:srgbClr val="262626"/>
                </a:solidFill>
                <a:latin typeface="Calibri"/>
              </a:rPr>
              <a:t>“</a:t>
            </a:r>
            <a:r>
              <a:rPr lang="en-US" sz="4400" b="1" dirty="0" err="1">
                <a:solidFill>
                  <a:srgbClr val="262626"/>
                </a:solidFill>
                <a:latin typeface="Calibri"/>
              </a:rPr>
              <a:t>Configuração</a:t>
            </a:r>
            <a:r>
              <a:rPr lang="en-US" sz="4400" b="1" dirty="0">
                <a:solidFill>
                  <a:srgbClr val="262626"/>
                </a:solidFill>
                <a:latin typeface="Calibri"/>
              </a:rPr>
              <a:t>”</a:t>
            </a:r>
            <a:endParaRPr sz="4400" b="1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dirty="0" err="1">
                <a:solidFill>
                  <a:srgbClr val="004A8F"/>
                </a:solidFill>
                <a:latin typeface="Calibri"/>
              </a:rPr>
              <a:t>Imperativo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(um script bash,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por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exemplo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): 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você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escreve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passo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passo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chegar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resultado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ordem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exata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deve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acontecer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.</a:t>
            </a:r>
            <a:r>
              <a:rPr lang="en-US"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4400" b="1" dirty="0">
                <a:solidFill>
                  <a:srgbClr val="262626"/>
                </a:solidFill>
                <a:latin typeface="Calibri"/>
              </a:rPr>
              <a:t>“Código”</a:t>
            </a:r>
            <a:endParaRPr sz="4400" b="1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dirty="0">
                <a:solidFill>
                  <a:srgbClr val="004A8F"/>
                </a:solidFill>
                <a:latin typeface="Calibri"/>
              </a:rPr>
              <a:t>Por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isso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importa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o modo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declarativo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é 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permite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Terraform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comparar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"o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existe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" com "o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pede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" 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calcular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diferença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— é a base do terraform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2572" y="12520000"/>
            <a:ext cx="3930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>
                <a:solidFill>
                  <a:srgbClr val="0070C0"/>
                </a:solidFill>
                <a:latin typeface="Calibri"/>
              </a:rPr>
              <a:t>Como Ler o Código Terraform de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Hoje</a:t>
            </a:r>
            <a:endParaRPr sz="54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3600" dirty="0">
                <a:solidFill>
                  <a:srgbClr val="262626"/>
                </a:solidFill>
                <a:latin typeface="Calibri"/>
              </a:rPr>
              <a:t>Todo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exemplo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HCL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segue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mesma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convenção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cores —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régua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mental é sempre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mesma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pergunta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: "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é do Terraform, é de um provider,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fui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eu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inventei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esse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nome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5" name="Oval 4"/>
          <p:cNvSpPr/>
          <p:nvPr/>
        </p:nvSpPr>
        <p:spPr>
          <a:xfrm>
            <a:off x="1689100" y="6630000"/>
            <a:ext cx="140000" cy="14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1948923" y="6600000"/>
            <a:ext cx="19383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595959"/>
                </a:solidFill>
                <a:latin typeface="Calibri"/>
              </a:rPr>
              <a:t>núcleo do Terraform</a:t>
            </a:r>
          </a:p>
        </p:txBody>
      </p:sp>
      <p:sp>
        <p:nvSpPr>
          <p:cNvPr id="7" name="Oval 6"/>
          <p:cNvSpPr/>
          <p:nvPr/>
        </p:nvSpPr>
        <p:spPr>
          <a:xfrm>
            <a:off x="4077100" y="6630000"/>
            <a:ext cx="140000" cy="140000"/>
          </a:xfrm>
          <a:prstGeom prst="ellipse">
            <a:avLst/>
          </a:prstGeom>
          <a:solidFill>
            <a:srgbClr val="218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4465386" y="6600000"/>
            <a:ext cx="31534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595959"/>
                </a:solidFill>
                <a:latin typeface="Calibri"/>
              </a:rPr>
              <a:t>vocabulário fixo (provider/backend)</a:t>
            </a:r>
          </a:p>
        </p:txBody>
      </p:sp>
      <p:sp>
        <p:nvSpPr>
          <p:cNvPr id="9" name="Oval 8"/>
          <p:cNvSpPr/>
          <p:nvPr/>
        </p:nvSpPr>
        <p:spPr>
          <a:xfrm>
            <a:off x="7937100" y="6630000"/>
            <a:ext cx="140000" cy="14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8273807" y="6600000"/>
            <a:ext cx="2704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595959"/>
                </a:solidFill>
                <a:latin typeface="Calibri"/>
              </a:rPr>
              <a:t>escolhido livremente por você</a:t>
            </a:r>
          </a:p>
        </p:txBody>
      </p:sp>
      <p:sp>
        <p:nvSpPr>
          <p:cNvPr id="11" name="Oval 10"/>
          <p:cNvSpPr/>
          <p:nvPr/>
        </p:nvSpPr>
        <p:spPr>
          <a:xfrm>
            <a:off x="11245100" y="6630000"/>
            <a:ext cx="140000" cy="140000"/>
          </a:xfrm>
          <a:prstGeom prst="ellipse">
            <a:avLst/>
          </a:prstGeom>
          <a:solidFill>
            <a:srgbClr val="C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11559773" y="6600000"/>
            <a:ext cx="14606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 dirty="0" err="1">
                <a:solidFill>
                  <a:srgbClr val="595959"/>
                </a:solidFill>
                <a:latin typeface="Calibri"/>
              </a:rPr>
              <a:t>erro</a:t>
            </a:r>
            <a:r>
              <a:rPr sz="1600" b="1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595959"/>
                </a:solidFill>
                <a:latin typeface="Calibri"/>
              </a:rPr>
              <a:t>proposital</a:t>
            </a:r>
            <a:endParaRPr sz="1600" b="1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89100" y="7150000"/>
            <a:ext cx="19170650" cy="36418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800" b="1" dirty="0" err="1">
                <a:solidFill>
                  <a:srgbClr val="004A8F"/>
                </a:solidFill>
                <a:latin typeface="Calibri"/>
              </a:rPr>
              <a:t>núcleo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do Terraform: 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palavras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própria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linguagem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reserva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: resource, provider, variable, count, var., entre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outras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800" b="1" dirty="0" err="1">
                <a:solidFill>
                  <a:srgbClr val="004A8F"/>
                </a:solidFill>
                <a:latin typeface="Calibri"/>
              </a:rPr>
              <a:t>vocabulário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fixo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do provider/backend: 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nomes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definidos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por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quem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mantém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provider (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azurerm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aws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google...)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tipo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backend —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inventados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por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você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mas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também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do Terraform core.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800" b="1" dirty="0" err="1">
                <a:solidFill>
                  <a:srgbClr val="004A8F"/>
                </a:solidFill>
                <a:latin typeface="Calibri"/>
              </a:rPr>
              <a:t>escolhido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livremente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por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você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nomes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recursos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variáveis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valores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— a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parte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você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decide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escrever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800" b="1" dirty="0" err="1">
                <a:solidFill>
                  <a:srgbClr val="004A8F"/>
                </a:solidFill>
                <a:latin typeface="Calibri"/>
              </a:rPr>
              <a:t>erro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04A8F"/>
                </a:solidFill>
                <a:latin typeface="Calibri"/>
              </a:rPr>
              <a:t>proposital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usado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exercícios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depuração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para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destacar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onde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está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problema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400000"/>
          </a:xfrm>
        </p:spPr>
        <p:txBody>
          <a:bodyPr>
            <a:normAutofit fontScale="90000"/>
          </a:bodyPr>
          <a:lstStyle/>
          <a:p>
            <a:r>
              <a:rPr sz="3200" b="1" dirty="0" err="1">
                <a:solidFill>
                  <a:srgbClr val="0070C0"/>
                </a:solidFill>
                <a:latin typeface="Calibri"/>
              </a:rPr>
              <a:t>Anatomia</a:t>
            </a:r>
            <a:r>
              <a:rPr sz="3200" b="1" dirty="0">
                <a:solidFill>
                  <a:srgbClr val="0070C0"/>
                </a:solidFill>
                <a:latin typeface="Calibri"/>
              </a:rPr>
              <a:t> de um </a:t>
            </a:r>
            <a:r>
              <a:rPr sz="3200" b="1" dirty="0" err="1">
                <a:solidFill>
                  <a:srgbClr val="0070C0"/>
                </a:solidFill>
                <a:latin typeface="Calibri"/>
              </a:rPr>
              <a:t>Arquivo</a:t>
            </a:r>
            <a:r>
              <a:rPr sz="3200" b="1" dirty="0">
                <a:solidFill>
                  <a:srgbClr val="0070C0"/>
                </a:solidFill>
                <a:latin typeface="Calibri"/>
              </a:rPr>
              <a:t> Terraform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40</a:t>
            </a:r>
          </a:p>
        </p:txBody>
      </p:sp>
      <p:pic>
        <p:nvPicPr>
          <p:cNvPr id="5" name="Picture 4" descr="07-anatomia-codigo-anotado.png"/>
          <p:cNvPicPr>
            <a:picLocks noChangeAspect="1"/>
          </p:cNvPicPr>
          <p:nvPr/>
        </p:nvPicPr>
        <p:blipFill>
          <a:blip r:embed="rId2"/>
          <a:srcRect t="5810"/>
          <a:stretch>
            <a:fillRect/>
          </a:stretch>
        </p:blipFill>
        <p:spPr>
          <a:xfrm>
            <a:off x="1749680" y="2222337"/>
            <a:ext cx="18990312" cy="97921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098" y="4536399"/>
            <a:ext cx="19271663" cy="2186667"/>
          </a:xfrm>
        </p:spPr>
        <p:txBody>
          <a:bodyPr wrap="square">
            <a:normAutofit/>
          </a:bodyPr>
          <a:lstStyle/>
          <a:p>
            <a:r>
              <a:rPr sz="6000" b="1" dirty="0">
                <a:solidFill>
                  <a:srgbClr val="004A8F"/>
                </a:solidFill>
                <a:latin typeface="Calibri"/>
              </a:rPr>
              <a:t>Setup do </a:t>
            </a:r>
            <a:r>
              <a:rPr sz="6000" b="1" dirty="0" err="1">
                <a:solidFill>
                  <a:srgbClr val="004A8F"/>
                </a:solidFill>
                <a:latin typeface="Calibri"/>
              </a:rPr>
              <a:t>Ambiente</a:t>
            </a:r>
            <a:endParaRPr sz="6000" b="1" dirty="0">
              <a:solidFill>
                <a:srgbClr val="004A8F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3009416" y="7549999"/>
            <a:ext cx="16159116" cy="3101068"/>
          </a:xfrm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buNone/>
            </a:pPr>
            <a:r>
              <a:rPr sz="6000" dirty="0">
                <a:solidFill>
                  <a:srgbClr val="595959"/>
                </a:solidFill>
                <a:latin typeface="Calibri"/>
              </a:rPr>
              <a:t>Primeiro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passo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prático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do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dia</a:t>
            </a:r>
            <a:r>
              <a:rPr sz="6000" dirty="0">
                <a:solidFill>
                  <a:srgbClr val="595959"/>
                </a:solidFill>
                <a:latin typeface="Calibri"/>
              </a:rPr>
              <a:t>: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instalar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o Terraform CLI e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confirmar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a </a:t>
            </a:r>
            <a:r>
              <a:rPr sz="6000" dirty="0" err="1">
                <a:solidFill>
                  <a:srgbClr val="595959"/>
                </a:solidFill>
                <a:latin typeface="Calibri"/>
              </a:rPr>
              <a:t>autenticação</a:t>
            </a:r>
            <a:r>
              <a:rPr sz="6000" dirty="0">
                <a:solidFill>
                  <a:srgbClr val="595959"/>
                </a:solidFill>
                <a:latin typeface="Calibri"/>
              </a:rPr>
              <a:t> no Azure.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0722" y="3309336"/>
            <a:ext cx="28284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dirty="0">
                <a:solidFill>
                  <a:srgbClr val="F5AC00"/>
                </a:solidFill>
                <a:latin typeface="Calibri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6924" y="12520000"/>
            <a:ext cx="446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80601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>
                <a:solidFill>
                  <a:srgbClr val="0070C0"/>
                </a:solidFill>
                <a:latin typeface="Calibri"/>
              </a:rPr>
              <a:t>Instalar o Terraform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6167" y="10636108"/>
            <a:ext cx="9961033" cy="16466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Windows (Chocolatey) e Mac (Homebrew) — link: </a:t>
            </a:r>
            <a:br>
              <a:rPr lang="en-US" sz="3200" dirty="0">
                <a:solidFill>
                  <a:srgbClr val="262626"/>
                </a:solidFill>
                <a:latin typeface="Calibri"/>
              </a:rPr>
            </a:br>
            <a:r>
              <a:rPr lang="en-US" sz="3200" dirty="0">
                <a:solidFill>
                  <a:srgbClr val="262626"/>
                </a:solidFill>
                <a:latin typeface="Calibri"/>
                <a:hlinkClick r:id="rId2"/>
              </a:rPr>
              <a:t>http://</a:t>
            </a:r>
            <a:r>
              <a:rPr sz="3200" dirty="0">
                <a:solidFill>
                  <a:srgbClr val="262626"/>
                </a:solidFill>
                <a:latin typeface="Calibri"/>
                <a:hlinkClick r:id="rId2"/>
              </a:rPr>
              <a:t>developer.hashicorp.com/terraform/downloads</a:t>
            </a:r>
            <a:endParaRPr lang="en-US"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320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536701" y="3656234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3200" dirty="0">
                <a:solidFill>
                  <a:srgbClr val="E8E8E8"/>
                </a:solidFill>
                <a:latin typeface="Consolas"/>
              </a:rPr>
              <a:t># Windows:</a:t>
            </a:r>
          </a:p>
          <a:p>
            <a:pPr algn="l"/>
            <a:r>
              <a:rPr lang="de-DE" sz="3200" dirty="0" err="1">
                <a:solidFill>
                  <a:srgbClr val="E8E8E8"/>
                </a:solidFill>
                <a:latin typeface="Consolas"/>
              </a:rPr>
              <a:t>winget</a:t>
            </a:r>
            <a:r>
              <a:rPr lang="de-DE" sz="3200" dirty="0">
                <a:solidFill>
                  <a:srgbClr val="E8E8E8"/>
                </a:solidFill>
                <a:latin typeface="Consolas"/>
              </a:rPr>
              <a:t> </a:t>
            </a:r>
            <a:r>
              <a:rPr lang="de-DE" sz="3200" dirty="0" err="1">
                <a:solidFill>
                  <a:srgbClr val="E8E8E8"/>
                </a:solidFill>
                <a:latin typeface="Consolas"/>
              </a:rPr>
              <a:t>install</a:t>
            </a:r>
            <a:r>
              <a:rPr lang="de-DE" sz="3200" dirty="0">
                <a:solidFill>
                  <a:srgbClr val="E8E8E8"/>
                </a:solidFill>
                <a:latin typeface="Consolas"/>
              </a:rPr>
              <a:t> -e --</a:t>
            </a:r>
            <a:r>
              <a:rPr lang="de-DE" sz="3200" dirty="0" err="1">
                <a:solidFill>
                  <a:srgbClr val="E8E8E8"/>
                </a:solidFill>
                <a:latin typeface="Consolas"/>
              </a:rPr>
              <a:t>id</a:t>
            </a:r>
            <a:r>
              <a:rPr lang="de-DE" sz="3200" dirty="0">
                <a:solidFill>
                  <a:srgbClr val="E8E8E8"/>
                </a:solidFill>
                <a:latin typeface="Consolas"/>
              </a:rPr>
              <a:t> </a:t>
            </a:r>
            <a:r>
              <a:rPr lang="de-DE" sz="3200" dirty="0" err="1">
                <a:solidFill>
                  <a:srgbClr val="E8E8E8"/>
                </a:solidFill>
                <a:latin typeface="Consolas"/>
              </a:rPr>
              <a:t>Hashicorp.Terraform</a:t>
            </a:r>
            <a:endParaRPr lang="de-DE" sz="3200" dirty="0">
              <a:solidFill>
                <a:srgbClr val="E8E8E8"/>
              </a:solidFill>
              <a:latin typeface="Consolas"/>
            </a:endParaRPr>
          </a:p>
          <a:p>
            <a:pPr algn="l"/>
            <a:endParaRPr sz="3200" dirty="0">
              <a:solidFill>
                <a:srgbClr val="E8E8E8"/>
              </a:solidFill>
              <a:latin typeface="Consolas"/>
            </a:endParaRPr>
          </a:p>
          <a:p>
            <a:pPr algn="l"/>
            <a:r>
              <a:rPr sz="3200" dirty="0">
                <a:solidFill>
                  <a:srgbClr val="E8E8E8"/>
                </a:solidFill>
                <a:latin typeface="Consolas"/>
              </a:rPr>
              <a:t># Mac (Homebrew):</a:t>
            </a:r>
          </a:p>
          <a:p>
            <a:pPr algn="l"/>
            <a:r>
              <a:rPr sz="3200" dirty="0">
                <a:solidFill>
                  <a:srgbClr val="E8E8E8"/>
                </a:solidFill>
                <a:latin typeface="Consolas"/>
              </a:rPr>
              <a:t>brew tap </a:t>
            </a:r>
            <a:r>
              <a:rPr sz="3200" dirty="0" err="1">
                <a:solidFill>
                  <a:srgbClr val="E8E8E8"/>
                </a:solidFill>
                <a:latin typeface="Consolas"/>
              </a:rPr>
              <a:t>hashicorp</a:t>
            </a:r>
            <a:r>
              <a:rPr sz="3200" dirty="0">
                <a:solidFill>
                  <a:srgbClr val="E8E8E8"/>
                </a:solidFill>
                <a:latin typeface="Consolas"/>
              </a:rPr>
              <a:t>/tap &amp;&amp; brew install </a:t>
            </a:r>
            <a:r>
              <a:rPr sz="3200" dirty="0" err="1">
                <a:solidFill>
                  <a:srgbClr val="E8E8E8"/>
                </a:solidFill>
                <a:latin typeface="Consolas"/>
              </a:rPr>
              <a:t>hashicorp</a:t>
            </a:r>
            <a:r>
              <a:rPr sz="3200" dirty="0">
                <a:solidFill>
                  <a:srgbClr val="E8E8E8"/>
                </a:solidFill>
                <a:latin typeface="Consolas"/>
              </a:rPr>
              <a:t>/tap/terraform</a:t>
            </a:r>
          </a:p>
          <a:p>
            <a:pPr algn="l"/>
            <a:r>
              <a:rPr sz="32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3200" dirty="0">
                <a:solidFill>
                  <a:srgbClr val="E8E8E8"/>
                </a:solidFill>
                <a:latin typeface="Consolas"/>
              </a:rPr>
              <a:t># </a:t>
            </a:r>
            <a:r>
              <a:rPr sz="3200" dirty="0" err="1">
                <a:solidFill>
                  <a:srgbClr val="E8E8E8"/>
                </a:solidFill>
                <a:latin typeface="Consolas"/>
              </a:rPr>
              <a:t>resultado</a:t>
            </a:r>
            <a:r>
              <a:rPr sz="3200" dirty="0">
                <a:solidFill>
                  <a:srgbClr val="E8E8E8"/>
                </a:solidFill>
                <a:latin typeface="Consolas"/>
              </a:rPr>
              <a:t> </a:t>
            </a:r>
            <a:r>
              <a:rPr sz="3200" dirty="0" err="1">
                <a:solidFill>
                  <a:srgbClr val="E8E8E8"/>
                </a:solidFill>
                <a:latin typeface="Consolas"/>
              </a:rPr>
              <a:t>esperado</a:t>
            </a:r>
            <a:r>
              <a:rPr sz="3200" dirty="0">
                <a:solidFill>
                  <a:srgbClr val="E8E8E8"/>
                </a:solidFill>
                <a:latin typeface="Consolas"/>
              </a:rPr>
              <a:t>:</a:t>
            </a:r>
          </a:p>
          <a:p>
            <a:pPr algn="l"/>
            <a:r>
              <a:rPr sz="3200" dirty="0">
                <a:solidFill>
                  <a:srgbClr val="E8E8E8"/>
                </a:solidFill>
                <a:latin typeface="Consolas"/>
              </a:rPr>
              <a:t>terraform -version</a:t>
            </a:r>
          </a:p>
        </p:txBody>
      </p:sp>
    </p:spTree>
    <p:extLst>
      <p:ext uri="{BB962C8B-B14F-4D97-AF65-F5344CB8AC3E}">
        <p14:creationId xmlns:p14="http://schemas.microsoft.com/office/powerpoint/2010/main" val="783698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94095-5823-5796-4972-F2389A4C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32AE-7363-46C3-EB65-52118D1A7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4" y="469900"/>
            <a:ext cx="19170650" cy="2286000"/>
          </a:xfrm>
        </p:spPr>
        <p:txBody>
          <a:bodyPr>
            <a:normAutofit/>
          </a:bodyPr>
          <a:lstStyle/>
          <a:p>
            <a:r>
              <a:rPr sz="4800" b="1" dirty="0" err="1">
                <a:solidFill>
                  <a:srgbClr val="0070C0"/>
                </a:solidFill>
                <a:latin typeface="Calibri"/>
              </a:rPr>
              <a:t>Instalar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o Terraform CLI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8F0464-FC36-9174-4173-CB11B446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816" y="2082938"/>
            <a:ext cx="13290550" cy="562159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4409D9D-3FA2-2781-E12A-C9FDBB953F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87"/>
          <a:stretch>
            <a:fillRect/>
          </a:stretch>
        </p:blipFill>
        <p:spPr>
          <a:xfrm>
            <a:off x="5323611" y="8822267"/>
            <a:ext cx="11452895" cy="322929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2E5A54E-88D7-BA5F-B2E9-B240B8938DC8}"/>
              </a:ext>
            </a:extLst>
          </p:cNvPr>
          <p:cNvSpPr txBox="1"/>
          <p:nvPr/>
        </p:nvSpPr>
        <p:spPr>
          <a:xfrm>
            <a:off x="4496859" y="8001787"/>
            <a:ext cx="12192000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262626"/>
                </a:solidFill>
                <a:latin typeface="Calibri"/>
              </a:rPr>
              <a:t>Feche e abra de novo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6806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0148-77D7-EFA9-5278-74D5856F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25A2-8403-5265-A4AE-C883C101C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234" y="647700"/>
            <a:ext cx="19170650" cy="2286000"/>
          </a:xfrm>
        </p:spPr>
        <p:txBody>
          <a:bodyPr>
            <a:normAutofit/>
          </a:bodyPr>
          <a:lstStyle/>
          <a:p>
            <a:r>
              <a:rPr sz="4800" b="1" dirty="0" err="1">
                <a:solidFill>
                  <a:srgbClr val="0070C0"/>
                </a:solidFill>
                <a:latin typeface="Calibri"/>
              </a:rPr>
              <a:t>Instalar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o Terraform CLI</a:t>
            </a:r>
            <a:r>
              <a:rPr lang="en-US" sz="4800" b="1" dirty="0">
                <a:solidFill>
                  <a:srgbClr val="0070C0"/>
                </a:solidFill>
                <a:latin typeface="Calibri"/>
              </a:rPr>
              <a:t> – A </a:t>
            </a:r>
            <a:r>
              <a:rPr lang="en-US" sz="4800" b="1" dirty="0" err="1">
                <a:solidFill>
                  <a:srgbClr val="0070C0"/>
                </a:solidFill>
                <a:latin typeface="Calibri"/>
              </a:rPr>
              <a:t>partir</a:t>
            </a:r>
            <a:r>
              <a:rPr lang="en-US" sz="4800" b="1" dirty="0">
                <a:solidFill>
                  <a:srgbClr val="0070C0"/>
                </a:solidFill>
                <a:latin typeface="Calibri"/>
              </a:rPr>
              <a:t> do zip</a:t>
            </a:r>
            <a:endParaRPr sz="48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54AB5-CF08-58EB-01EB-BF04CF4CED4B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E38A436-A89C-434B-E716-8636F148D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2442945"/>
            <a:ext cx="10412688" cy="96394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F996398-96F4-11D6-1F0A-A60A100F6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8588" y="4043077"/>
            <a:ext cx="9235174" cy="32196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99ACF229-F299-0051-057A-34B1C5548F2C}"/>
              </a:ext>
            </a:extLst>
          </p:cNvPr>
          <p:cNvCxnSpPr/>
          <p:nvPr/>
        </p:nvCxnSpPr>
        <p:spPr>
          <a:xfrm flipH="1">
            <a:off x="6895444" y="4301067"/>
            <a:ext cx="5206344" cy="557106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663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 dirty="0" err="1">
                <a:solidFill>
                  <a:srgbClr val="0070C0"/>
                </a:solidFill>
                <a:latin typeface="Calibri"/>
              </a:rPr>
              <a:t>Confirmar</a:t>
            </a:r>
            <a:r>
              <a:rPr sz="66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6600" b="1" dirty="0" err="1">
                <a:solidFill>
                  <a:srgbClr val="0070C0"/>
                </a:solidFill>
                <a:latin typeface="Calibri"/>
              </a:rPr>
              <a:t>Autenticação</a:t>
            </a:r>
            <a:r>
              <a:rPr sz="6600" b="1" dirty="0">
                <a:solidFill>
                  <a:srgbClr val="0070C0"/>
                </a:solidFill>
                <a:latin typeface="Calibri"/>
              </a:rPr>
              <a:t> no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0" y="3274409"/>
            <a:ext cx="1917065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dirty="0">
                <a:solidFill>
                  <a:srgbClr val="262626"/>
                </a:solidFill>
                <a:latin typeface="Calibri"/>
              </a:rPr>
              <a:t>Pule se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executou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az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login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recentemente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(Aula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36700" y="4260923"/>
            <a:ext cx="19170650" cy="1788509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ctr"/>
            <a:r>
              <a:rPr sz="4400" dirty="0" err="1">
                <a:solidFill>
                  <a:srgbClr val="E8E8E8"/>
                </a:solidFill>
                <a:latin typeface="Consolas"/>
              </a:rPr>
              <a:t>az</a:t>
            </a:r>
            <a:r>
              <a:rPr sz="4400" dirty="0">
                <a:solidFill>
                  <a:srgbClr val="E8E8E8"/>
                </a:solidFill>
                <a:latin typeface="Consolas"/>
              </a:rPr>
              <a:t> account show --output table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E271CF-DC1F-73FC-CAB6-ECD0D7B60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6648521"/>
            <a:ext cx="19015520" cy="47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47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rmAutofit/>
          </a:bodyPr>
          <a:lstStyle/>
          <a:p>
            <a:pPr algn="l"/>
            <a:r>
              <a:rPr sz="7200" b="1">
                <a:solidFill>
                  <a:srgbClr val="004A8F"/>
                </a:solidFill>
                <a:latin typeface="Calibri"/>
              </a:rPr>
              <a:t>Primeiros Passos — 100% Local, Sem Nuvem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2890846" y="7550000"/>
            <a:ext cx="15269832" cy="2000000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4400" dirty="0">
                <a:solidFill>
                  <a:srgbClr val="595959"/>
                </a:solidFill>
                <a:latin typeface="Calibri"/>
              </a:rPr>
              <a:t>Terraform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já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instalado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— agora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vamos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treinar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o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ciclo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completo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sem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depender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nuvem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nenhuma</a:t>
            </a:r>
            <a:r>
              <a:rPr sz="44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53679" y="3803450"/>
            <a:ext cx="4041491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0" b="1" dirty="0">
                <a:solidFill>
                  <a:srgbClr val="F5AC00"/>
                </a:solidFill>
                <a:latin typeface="Calibri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07673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Por Que Começar Sem Nuvem?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Zero fricção:  </a:t>
            </a:r>
            <a:r>
              <a:rPr sz="3600">
                <a:solidFill>
                  <a:srgbClr val="262626"/>
                </a:solidFill>
                <a:latin typeface="Calibri"/>
              </a:rPr>
              <a:t>sem credencial, sem conta, sem custo — só terraform init e apply.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Foco na sintaxe:  </a:t>
            </a:r>
            <a:r>
              <a:rPr sz="3600">
                <a:solidFill>
                  <a:srgbClr val="262626"/>
                </a:solidFill>
                <a:latin typeface="Calibri"/>
              </a:rPr>
              <a:t>erra-se rápido e barato enquanto o vocabulário do HCL ainda está fresco.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O ciclo é o mesmo:  </a:t>
            </a:r>
            <a:r>
              <a:rPr sz="3600">
                <a:solidFill>
                  <a:srgbClr val="262626"/>
                </a:solidFill>
                <a:latin typeface="Calibri"/>
              </a:rPr>
              <a:t>init → plan → apply → destroy funciona exatamente igual, seja o provider local, random, docker ou azurerm.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Progressão de hoje:  </a:t>
            </a:r>
            <a:r>
              <a:rPr sz="3600">
                <a:solidFill>
                  <a:srgbClr val="262626"/>
                </a:solidFill>
                <a:latin typeface="Calibri"/>
              </a:rPr>
              <a:t>4 exemplos locais, cada um introduzindo um provider novo, até chegarmos preparados para o Azure.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1276" y="12520000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74384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Exercício Rápido 1: Reproduza o 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4992" y="4034366"/>
            <a:ext cx="9859433" cy="7823200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Pré-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requisito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nenhum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Terraform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instalado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(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próximo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passo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 setup).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1.: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salve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anterior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local/main.tf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2.: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terraform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init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 →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baixa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provider local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3.: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terraform apply  →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cria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arquivo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ola.txt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4.: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abra ola.txt 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confira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conteúdo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"Olá, Terraform!"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Por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este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exemplo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primeiro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zero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custo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zero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credencial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nuvem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sintaxe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ciclo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básico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82B664E-E533-45AC-56BE-49B30EF14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225" y="4280284"/>
            <a:ext cx="10216922" cy="40678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8000" b="1" dirty="0">
                <a:solidFill>
                  <a:srgbClr val="0070C0"/>
                </a:solidFill>
                <a:latin typeface="Calibri"/>
              </a:rPr>
              <a:t>Hello World, </a:t>
            </a:r>
            <a:r>
              <a:rPr sz="8000" b="1" dirty="0" err="1">
                <a:solidFill>
                  <a:srgbClr val="0070C0"/>
                </a:solidFill>
                <a:latin typeface="Calibri"/>
              </a:rPr>
              <a:t>Anotado</a:t>
            </a:r>
            <a:endParaRPr sz="80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01-hello-world-anotado.png"/>
          <p:cNvPicPr>
            <a:picLocks noChangeAspect="1"/>
          </p:cNvPicPr>
          <p:nvPr/>
        </p:nvPicPr>
        <p:blipFill>
          <a:blip r:embed="rId2"/>
          <a:srcRect l="4490" t="16184" r="4749"/>
          <a:stretch>
            <a:fillRect/>
          </a:stretch>
        </p:blipFill>
        <p:spPr>
          <a:xfrm>
            <a:off x="1473200" y="3746499"/>
            <a:ext cx="19418833" cy="79713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3054303-D40D-FB88-2DC4-DE3859E99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482" y="8904618"/>
            <a:ext cx="9789268" cy="29656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4DA4-C2EA-9473-C108-D4506288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FECA7-D866-7110-50EE-CC4A4433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796000"/>
            <a:ext cx="19170650" cy="1625467"/>
          </a:xfrm>
        </p:spPr>
        <p:txBody>
          <a:bodyPr>
            <a:normAutofit/>
          </a:bodyPr>
          <a:lstStyle/>
          <a:p>
            <a:r>
              <a:rPr sz="8000" b="1" dirty="0">
                <a:solidFill>
                  <a:srgbClr val="0070C0"/>
                </a:solidFill>
                <a:latin typeface="Calibri"/>
              </a:rPr>
              <a:t>Hello World</a:t>
            </a:r>
            <a:r>
              <a:rPr lang="en-US" sz="8000" b="1" dirty="0">
                <a:solidFill>
                  <a:srgbClr val="0070C0"/>
                </a:solidFill>
                <a:latin typeface="Calibri"/>
              </a:rPr>
              <a:t> Terraform</a:t>
            </a:r>
            <a:endParaRPr sz="80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B9915-47BC-E1DF-6396-A6E988B88261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3704109-DBDF-E225-13BF-961D0A75B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2421467"/>
            <a:ext cx="12406841" cy="834209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0DDFBA8-7175-498F-45E4-646C00FF3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3475" y="4477465"/>
            <a:ext cx="7456275" cy="7342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8977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CBA6C-EFEB-5951-F08B-E7734326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6F17-2505-3DEC-C041-9357CA5FE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931467"/>
            <a:ext cx="19170650" cy="1625467"/>
          </a:xfrm>
        </p:spPr>
        <p:txBody>
          <a:bodyPr>
            <a:normAutofit/>
          </a:bodyPr>
          <a:lstStyle/>
          <a:p>
            <a:r>
              <a:rPr sz="8000" b="1" dirty="0">
                <a:solidFill>
                  <a:srgbClr val="0070C0"/>
                </a:solidFill>
                <a:latin typeface="Calibri"/>
              </a:rPr>
              <a:t>Hello World</a:t>
            </a:r>
            <a:r>
              <a:rPr lang="en-US" sz="8000" b="1" dirty="0">
                <a:solidFill>
                  <a:srgbClr val="0070C0"/>
                </a:solidFill>
                <a:latin typeface="Calibri"/>
              </a:rPr>
              <a:t> Terraform</a:t>
            </a:r>
            <a:endParaRPr sz="80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0508D7-272E-87BE-C3BF-C4B3A8B3784D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5A426C-43B1-4450-ED4B-508C7BE8C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100" y="2556934"/>
            <a:ext cx="8165370" cy="93472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F9BC1C3-A4C3-03AA-0730-21ABB7F55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99" y="2277877"/>
            <a:ext cx="8619868" cy="58800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1D931A2-D50F-394F-03A5-B9B1C6BAE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493" y="8462733"/>
            <a:ext cx="5618821" cy="32551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Balão de Fala: Retângulo com Cantos Arredondados 11">
            <a:extLst>
              <a:ext uri="{FF2B5EF4-FFF2-40B4-BE49-F238E27FC236}">
                <a16:creationId xmlns:a16="http://schemas.microsoft.com/office/drawing/2014/main" id="{D80EBDD3-99A1-A272-DF16-CA66F678BC48}"/>
              </a:ext>
            </a:extLst>
          </p:cNvPr>
          <p:cNvSpPr/>
          <p:nvPr/>
        </p:nvSpPr>
        <p:spPr>
          <a:xfrm>
            <a:off x="19693466" y="8902488"/>
            <a:ext cx="3132667" cy="1634490"/>
          </a:xfrm>
          <a:prstGeom prst="wedgeRoundRectCallout">
            <a:avLst>
              <a:gd name="adj1" fmla="val -101914"/>
              <a:gd name="adj2" fmla="val -113620"/>
              <a:gd name="adj3" fmla="val 16667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Estado para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futuras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mudanças</a:t>
            </a: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Balão de Fala: Retângulo com Cantos Arredondados 12">
            <a:extLst>
              <a:ext uri="{FF2B5EF4-FFF2-40B4-BE49-F238E27FC236}">
                <a16:creationId xmlns:a16="http://schemas.microsoft.com/office/drawing/2014/main" id="{36BED1D0-CBE0-9140-22AA-F665D91C6C58}"/>
              </a:ext>
            </a:extLst>
          </p:cNvPr>
          <p:cNvSpPr/>
          <p:nvPr/>
        </p:nvSpPr>
        <p:spPr>
          <a:xfrm>
            <a:off x="20336933" y="3859318"/>
            <a:ext cx="3623734" cy="544830"/>
          </a:xfrm>
          <a:prstGeom prst="wedgeRoundRectCallout">
            <a:avLst>
              <a:gd name="adj1" fmla="val -105880"/>
              <a:gd name="adj2" fmla="val 423028"/>
              <a:gd name="adj3" fmla="val 16667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Uso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Interno</a:t>
            </a: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6" name="Balão de Fala: Retângulo com Cantos Arredondados 15">
            <a:extLst>
              <a:ext uri="{FF2B5EF4-FFF2-40B4-BE49-F238E27FC236}">
                <a16:creationId xmlns:a16="http://schemas.microsoft.com/office/drawing/2014/main" id="{9D03336B-BD58-72FB-AF5D-A4FE7E964E30}"/>
              </a:ext>
            </a:extLst>
          </p:cNvPr>
          <p:cNvSpPr/>
          <p:nvPr/>
        </p:nvSpPr>
        <p:spPr>
          <a:xfrm>
            <a:off x="20413133" y="3859318"/>
            <a:ext cx="3623734" cy="544830"/>
          </a:xfrm>
          <a:prstGeom prst="wedgeRoundRectCallout">
            <a:avLst>
              <a:gd name="adj1" fmla="val -129712"/>
              <a:gd name="adj2" fmla="val 351544"/>
              <a:gd name="adj3" fmla="val 16667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Uso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Interno</a:t>
            </a: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8404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376" y="3976314"/>
            <a:ext cx="19170650" cy="2000000"/>
          </a:xfrm>
        </p:spPr>
        <p:txBody>
          <a:bodyPr wrap="square">
            <a:noAutofit/>
          </a:bodyPr>
          <a:lstStyle/>
          <a:p>
            <a:r>
              <a:rPr sz="16600" b="1" dirty="0">
                <a:solidFill>
                  <a:srgbClr val="004A8F"/>
                </a:solidFill>
                <a:latin typeface="Calibri"/>
              </a:rPr>
              <a:t>Estado (State)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3865945" y="6276785"/>
            <a:ext cx="16192982" cy="2000000"/>
          </a:xfrm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buNone/>
            </a:pPr>
            <a:r>
              <a:rPr sz="8000" dirty="0">
                <a:solidFill>
                  <a:srgbClr val="595959"/>
                </a:solidFill>
                <a:latin typeface="Calibri"/>
              </a:rPr>
              <a:t>A "</a:t>
            </a:r>
            <a:r>
              <a:rPr sz="8000" dirty="0" err="1">
                <a:solidFill>
                  <a:srgbClr val="595959"/>
                </a:solidFill>
                <a:latin typeface="Calibri"/>
              </a:rPr>
              <a:t>memória</a:t>
            </a:r>
            <a:r>
              <a:rPr sz="8000" dirty="0">
                <a:solidFill>
                  <a:srgbClr val="595959"/>
                </a:solidFill>
                <a:latin typeface="Calibri"/>
              </a:rPr>
              <a:t>" do Terraform — e </a:t>
            </a:r>
            <a:r>
              <a:rPr sz="800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8000" dirty="0">
                <a:solidFill>
                  <a:srgbClr val="595959"/>
                </a:solidFill>
                <a:latin typeface="Calibri"/>
              </a:rPr>
              <a:t> </a:t>
            </a:r>
            <a:r>
              <a:rPr sz="80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8000" dirty="0">
                <a:solidFill>
                  <a:srgbClr val="595959"/>
                </a:solidFill>
                <a:latin typeface="Calibri"/>
              </a:rPr>
              <a:t> </a:t>
            </a:r>
            <a:r>
              <a:rPr sz="8000" dirty="0" err="1">
                <a:solidFill>
                  <a:srgbClr val="595959"/>
                </a:solidFill>
                <a:latin typeface="Calibri"/>
              </a:rPr>
              <a:t>ela</a:t>
            </a:r>
            <a:r>
              <a:rPr sz="8000" dirty="0">
                <a:solidFill>
                  <a:srgbClr val="595959"/>
                </a:solidFill>
                <a:latin typeface="Calibri"/>
              </a:rPr>
              <a:t> é a </a:t>
            </a:r>
            <a:r>
              <a:rPr sz="8000" dirty="0" err="1">
                <a:solidFill>
                  <a:srgbClr val="595959"/>
                </a:solidFill>
                <a:latin typeface="Calibri"/>
              </a:rPr>
              <a:t>peça</a:t>
            </a:r>
            <a:r>
              <a:rPr sz="8000" dirty="0">
                <a:solidFill>
                  <a:srgbClr val="595959"/>
                </a:solidFill>
                <a:latin typeface="Calibri"/>
              </a:rPr>
              <a:t> </a:t>
            </a:r>
            <a:r>
              <a:rPr sz="8000" dirty="0" err="1">
                <a:solidFill>
                  <a:srgbClr val="595959"/>
                </a:solidFill>
                <a:latin typeface="Calibri"/>
              </a:rPr>
              <a:t>mais</a:t>
            </a:r>
            <a:r>
              <a:rPr sz="8000" dirty="0">
                <a:solidFill>
                  <a:srgbClr val="595959"/>
                </a:solidFill>
                <a:latin typeface="Calibri"/>
              </a:rPr>
              <a:t> </a:t>
            </a:r>
            <a:r>
              <a:rPr sz="8000" dirty="0" err="1">
                <a:solidFill>
                  <a:srgbClr val="595959"/>
                </a:solidFill>
                <a:latin typeface="Calibri"/>
              </a:rPr>
              <a:t>delicada</a:t>
            </a:r>
            <a:r>
              <a:rPr sz="800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8000" dirty="0" err="1">
                <a:solidFill>
                  <a:srgbClr val="595959"/>
                </a:solidFill>
                <a:latin typeface="Calibri"/>
              </a:rPr>
              <a:t>todo</a:t>
            </a:r>
            <a:r>
              <a:rPr sz="8000" dirty="0">
                <a:solidFill>
                  <a:srgbClr val="595959"/>
                </a:solidFill>
                <a:latin typeface="Calibri"/>
              </a:rPr>
              <a:t> o </a:t>
            </a:r>
            <a:r>
              <a:rPr sz="8000" dirty="0" err="1">
                <a:solidFill>
                  <a:srgbClr val="595959"/>
                </a:solidFill>
                <a:latin typeface="Calibri"/>
              </a:rPr>
              <a:t>sistema</a:t>
            </a:r>
            <a:r>
              <a:rPr sz="80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01459" y="2567847"/>
            <a:ext cx="3076484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 dirty="0">
                <a:solidFill>
                  <a:srgbClr val="F5AC00"/>
                </a:solidFill>
                <a:latin typeface="Calibri"/>
              </a:rPr>
              <a:t>PARTE </a:t>
            </a:r>
            <a:r>
              <a:rPr lang="en-US" sz="6600" b="1" dirty="0">
                <a:solidFill>
                  <a:srgbClr val="F5AC00"/>
                </a:solidFill>
                <a:latin typeface="Calibri"/>
              </a:rPr>
              <a:t>4</a:t>
            </a:r>
            <a:endParaRPr sz="6600" b="1" dirty="0">
              <a:solidFill>
                <a:srgbClr val="F5AC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60988" y="11096314"/>
            <a:ext cx="88678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solidFill>
                  <a:srgbClr val="595959"/>
                </a:solidFill>
                <a:latin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116574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579055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rgbClr val="0070C0"/>
                </a:solidFill>
                <a:latin typeface="Calibri"/>
              </a:rPr>
              <a:t>O Estado (State)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42</a:t>
            </a:r>
          </a:p>
        </p:txBody>
      </p:sp>
      <p:pic>
        <p:nvPicPr>
          <p:cNvPr id="5" name="Picture 4" descr="04-e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224" y="2191955"/>
            <a:ext cx="11845702" cy="968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07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8710" y="2543376"/>
            <a:ext cx="19170650" cy="7823200"/>
          </a:xfr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sz="7200" b="1" i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7200" b="1" i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72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7200" b="1" i="1" dirty="0" err="1">
                <a:solidFill>
                  <a:srgbClr val="004A8F"/>
                </a:solidFill>
                <a:latin typeface="Calibri"/>
              </a:rPr>
              <a:t>Acontece</a:t>
            </a:r>
            <a:r>
              <a:rPr sz="7200" b="1" i="1" dirty="0">
                <a:solidFill>
                  <a:srgbClr val="004A8F"/>
                </a:solidFill>
                <a:latin typeface="Calibri"/>
              </a:rPr>
              <a:t> se Eu </a:t>
            </a:r>
            <a:r>
              <a:rPr sz="7200" b="1" i="1" dirty="0" err="1">
                <a:solidFill>
                  <a:srgbClr val="004A8F"/>
                </a:solidFill>
                <a:latin typeface="Calibri"/>
              </a:rPr>
              <a:t>Perder</a:t>
            </a:r>
            <a:r>
              <a:rPr sz="7200" b="1" i="1" dirty="0">
                <a:solidFill>
                  <a:srgbClr val="004A8F"/>
                </a:solidFill>
                <a:latin typeface="Calibri"/>
              </a:rPr>
              <a:t> o </a:t>
            </a:r>
            <a:r>
              <a:rPr sz="7200" b="1" i="1" dirty="0" err="1">
                <a:solidFill>
                  <a:srgbClr val="004A8F"/>
                </a:solidFill>
                <a:latin typeface="Calibri"/>
              </a:rPr>
              <a:t>Arquivo</a:t>
            </a:r>
            <a:r>
              <a:rPr sz="7200" b="1" i="1" dirty="0">
                <a:solidFill>
                  <a:srgbClr val="004A8F"/>
                </a:solidFill>
                <a:latin typeface="Calibri"/>
              </a:rPr>
              <a:t> de State?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026262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 err="1">
                <a:solidFill>
                  <a:srgbClr val="0070C0"/>
                </a:solidFill>
                <a:latin typeface="Calibri"/>
              </a:rPr>
              <a:t>Resposta</a:t>
            </a:r>
            <a:endParaRPr sz="54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0" y="4406900"/>
            <a:ext cx="19170650" cy="6623773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recursos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continuam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existindo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verdade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nuvem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Terraform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perde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referência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ele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criou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600" dirty="0">
                <a:solidFill>
                  <a:srgbClr val="262626"/>
                </a:solidFill>
                <a:latin typeface="Calibri"/>
              </a:rPr>
              <a:t>Para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recuperar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controle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seria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preciso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importar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manualmente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(terraform import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bloco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import).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600" dirty="0">
                <a:solidFill>
                  <a:srgbClr val="262626"/>
                </a:solidFill>
                <a:latin typeface="Calibri"/>
              </a:rPr>
              <a:t>É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exatamente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por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backend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remoto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com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versionamento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(Azure Storage com versioning, S3 com versioning) é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considerado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essencial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opcional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6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state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fica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local (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terraform.tfstate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NÃO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deve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pro Git) —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partir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momento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pessoa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mexe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no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migra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para um backend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remoto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(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gancho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próximas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aulas).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2851" y="11538673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>
                <a:solidFill>
                  <a:srgbClr val="595959"/>
                </a:solidFill>
                <a:latin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931597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538" y="2265583"/>
            <a:ext cx="19170650" cy="7823200"/>
          </a:xfr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sz="6000" b="1" i="1" dirty="0">
                <a:solidFill>
                  <a:srgbClr val="004A8F"/>
                </a:solidFill>
                <a:latin typeface="Calibri"/>
              </a:rPr>
              <a:t>Por </a:t>
            </a:r>
            <a:r>
              <a:rPr sz="6000" b="1" i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60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6000" b="1" i="1" dirty="0" err="1">
                <a:solidFill>
                  <a:srgbClr val="004A8F"/>
                </a:solidFill>
                <a:latin typeface="Calibri"/>
              </a:rPr>
              <a:t>Não</a:t>
            </a:r>
            <a:r>
              <a:rPr sz="60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6000" b="1" i="1" dirty="0" err="1">
                <a:solidFill>
                  <a:srgbClr val="004A8F"/>
                </a:solidFill>
                <a:latin typeface="Calibri"/>
              </a:rPr>
              <a:t>Editar</a:t>
            </a:r>
            <a:r>
              <a:rPr sz="6000" b="1" i="1" dirty="0">
                <a:solidFill>
                  <a:srgbClr val="004A8F"/>
                </a:solidFill>
                <a:latin typeface="Calibri"/>
              </a:rPr>
              <a:t> o </a:t>
            </a:r>
            <a:r>
              <a:rPr sz="6000" b="1" i="1" dirty="0" err="1">
                <a:solidFill>
                  <a:srgbClr val="004A8F"/>
                </a:solidFill>
                <a:latin typeface="Calibri"/>
              </a:rPr>
              <a:t>terraform.tfstate</a:t>
            </a:r>
            <a:r>
              <a:rPr sz="60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6000" b="1" i="1" dirty="0" err="1">
                <a:solidFill>
                  <a:srgbClr val="004A8F"/>
                </a:solidFill>
                <a:latin typeface="Calibri"/>
              </a:rPr>
              <a:t>na</a:t>
            </a:r>
            <a:r>
              <a:rPr sz="6000" b="1" i="1" dirty="0">
                <a:solidFill>
                  <a:srgbClr val="004A8F"/>
                </a:solidFill>
                <a:latin typeface="Calibri"/>
              </a:rPr>
              <a:t> Mão?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042153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>
                <a:solidFill>
                  <a:srgbClr val="0070C0"/>
                </a:solidFill>
                <a:latin typeface="Calibri"/>
              </a:rPr>
              <a:t>Resposta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É um JSON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formato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interno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pode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mudar entre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versões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do Terraform —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editar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manualmente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arrisca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corromper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referências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entre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recursos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Para </a:t>
            </a:r>
            <a:r>
              <a:rPr sz="3200" b="1" dirty="0" err="1">
                <a:solidFill>
                  <a:srgbClr val="004A8F"/>
                </a:solidFill>
                <a:latin typeface="Calibri"/>
              </a:rPr>
              <a:t>ajustes</a:t>
            </a:r>
            <a:r>
              <a:rPr sz="3200" b="1" dirty="0">
                <a:solidFill>
                  <a:srgbClr val="004A8F"/>
                </a:solidFill>
                <a:latin typeface="Calibri"/>
              </a:rPr>
              <a:t>, use </a:t>
            </a:r>
            <a:r>
              <a:rPr sz="3200" b="1" dirty="0" err="1">
                <a:solidFill>
                  <a:srgbClr val="004A8F"/>
                </a:solidFill>
                <a:latin typeface="Calibri"/>
              </a:rPr>
              <a:t>os</a:t>
            </a:r>
            <a:r>
              <a:rPr sz="32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004A8F"/>
                </a:solidFill>
                <a:latin typeface="Calibri"/>
              </a:rPr>
              <a:t>comandos</a:t>
            </a:r>
            <a:r>
              <a:rPr sz="32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004A8F"/>
                </a:solidFill>
                <a:latin typeface="Calibri"/>
              </a:rPr>
              <a:t>próprios</a:t>
            </a:r>
            <a:r>
              <a:rPr sz="32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200" dirty="0">
                <a:solidFill>
                  <a:srgbClr val="262626"/>
                </a:solidFill>
                <a:latin typeface="Calibri"/>
              </a:rPr>
              <a:t>terraform state mv (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renomear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/mover) e terraform state rm (remover do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controle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destruir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verdade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).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State Locking: 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trava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o state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durante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um apply, para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dois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processos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rodarem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tempo 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corromper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tudo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Drift: 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quando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alguém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muda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algo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manualmente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fora do Terraform (ex.: no portal) — o terraform plan é 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jeito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descobrir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672188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3EBF-99BB-7A61-A45E-80A43DD7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E3A8-081B-CD61-8B70-3F5382B41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538" y="2265583"/>
            <a:ext cx="19170650" cy="1372967"/>
          </a:xfr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6000" b="1" i="1" dirty="0">
                <a:solidFill>
                  <a:srgbClr val="004A8F"/>
                </a:solidFill>
                <a:latin typeface="Calibri"/>
              </a:rPr>
              <a:t>OUTROS EXERCÍCIOS LOCAIS</a:t>
            </a:r>
            <a:endParaRPr sz="6000" b="1" i="1" dirty="0">
              <a:solidFill>
                <a:srgbClr val="004A8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71993-040E-5263-C42C-BBE1EAADB4B4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0C8644-BA54-260E-503B-03D0F1C92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30" y="4103312"/>
            <a:ext cx="7691207" cy="633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099" y="1215383"/>
            <a:ext cx="19170650" cy="2286000"/>
          </a:xfrm>
        </p:spPr>
        <p:txBody>
          <a:bodyPr>
            <a:normAutofit/>
          </a:bodyPr>
          <a:lstStyle/>
          <a:p>
            <a:r>
              <a:rPr sz="4400" b="1" dirty="0" err="1">
                <a:solidFill>
                  <a:srgbClr val="0070C0"/>
                </a:solidFill>
                <a:latin typeface="Calibri"/>
              </a:rPr>
              <a:t>Exemplo</a:t>
            </a:r>
            <a:r>
              <a:rPr sz="4400" b="1" dirty="0">
                <a:solidFill>
                  <a:srgbClr val="0070C0"/>
                </a:solidFill>
                <a:latin typeface="Calibri"/>
              </a:rPr>
              <a:t> 1a — Provedores </a:t>
            </a:r>
            <a:r>
              <a:rPr sz="4400" b="1" dirty="0" err="1">
                <a:solidFill>
                  <a:srgbClr val="0070C0"/>
                </a:solidFill>
                <a:latin typeface="Calibri"/>
              </a:rPr>
              <a:t>Necessários</a:t>
            </a:r>
            <a:endParaRPr sz="44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7485" y="3092141"/>
            <a:ext cx="86485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i="1" dirty="0">
                <a:solidFill>
                  <a:srgbClr val="595959"/>
                </a:solidFill>
                <a:latin typeface="Calibri"/>
              </a:rPr>
              <a:t>providers random e local — </a:t>
            </a:r>
            <a:r>
              <a:rPr sz="2800" i="1" dirty="0" err="1">
                <a:solidFill>
                  <a:srgbClr val="595959"/>
                </a:solidFill>
                <a:latin typeface="Calibri"/>
              </a:rPr>
              <a:t>sem</a:t>
            </a:r>
            <a:r>
              <a:rPr sz="28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2800" i="1" dirty="0" err="1">
                <a:solidFill>
                  <a:srgbClr val="595959"/>
                </a:solidFill>
                <a:latin typeface="Calibri"/>
              </a:rPr>
              <a:t>pré-requisitos</a:t>
            </a:r>
            <a:r>
              <a:rPr sz="2800" i="1" dirty="0">
                <a:solidFill>
                  <a:srgbClr val="595959"/>
                </a:solidFill>
                <a:latin typeface="Calibri"/>
              </a:rPr>
              <a:t> de </a:t>
            </a:r>
            <a:r>
              <a:rPr sz="2800" i="1" dirty="0" err="1">
                <a:solidFill>
                  <a:srgbClr val="595959"/>
                </a:solidFill>
                <a:latin typeface="Calibri"/>
              </a:rPr>
              <a:t>nuvem</a:t>
            </a:r>
            <a:endParaRPr sz="2800" i="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1689100" y="4550000"/>
            <a:ext cx="140000" cy="14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1919100" y="4520000"/>
            <a:ext cx="199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 err="1">
                <a:solidFill>
                  <a:srgbClr val="595959"/>
                </a:solidFill>
                <a:latin typeface="Calibri"/>
              </a:rPr>
              <a:t>núcleo</a:t>
            </a:r>
            <a:r>
              <a:rPr sz="1600" b="1" i="0" dirty="0">
                <a:solidFill>
                  <a:srgbClr val="595959"/>
                </a:solidFill>
                <a:latin typeface="Calibri"/>
              </a:rPr>
              <a:t> do Terraform</a:t>
            </a:r>
          </a:p>
        </p:txBody>
      </p:sp>
      <p:sp>
        <p:nvSpPr>
          <p:cNvPr id="8" name="Oval 7"/>
          <p:cNvSpPr/>
          <p:nvPr/>
        </p:nvSpPr>
        <p:spPr>
          <a:xfrm>
            <a:off x="4077100" y="4550000"/>
            <a:ext cx="140000" cy="140000"/>
          </a:xfrm>
          <a:prstGeom prst="ellipse">
            <a:avLst/>
          </a:prstGeom>
          <a:solidFill>
            <a:srgbClr val="218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4307100" y="4520000"/>
            <a:ext cx="347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95959"/>
                </a:solidFill>
                <a:latin typeface="Calibri"/>
              </a:rPr>
              <a:t>vocabulário fixo (provider/backend)</a:t>
            </a:r>
          </a:p>
        </p:txBody>
      </p:sp>
      <p:sp>
        <p:nvSpPr>
          <p:cNvPr id="10" name="Oval 9"/>
          <p:cNvSpPr/>
          <p:nvPr/>
        </p:nvSpPr>
        <p:spPr>
          <a:xfrm>
            <a:off x="7937100" y="4550000"/>
            <a:ext cx="140000" cy="14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8167100" y="4520000"/>
            <a:ext cx="291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95959"/>
                </a:solidFill>
                <a:latin typeface="Calibri"/>
              </a:rPr>
              <a:t>escolhido livremente por você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9100" y="5150000"/>
            <a:ext cx="19170650" cy="7080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89100" y="5150000"/>
            <a:ext cx="19170650" cy="440000"/>
          </a:xfrm>
          <a:prstGeom prst="roundRect">
            <a:avLst>
              <a:gd name="adj" fmla="val 18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9100" y="5360000"/>
            <a:ext cx="19170650" cy="23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09100" y="5300000"/>
            <a:ext cx="150000" cy="15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89100" y="5300000"/>
            <a:ext cx="150000" cy="15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69100" y="5300000"/>
            <a:ext cx="150000" cy="15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89100" y="5235000"/>
            <a:ext cx="1917065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95959"/>
                </a:solidFill>
                <a:latin typeface="Consolas"/>
              </a:rPr>
              <a:t>main1.tf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9100" y="5720000"/>
            <a:ext cx="18610650" cy="58272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5AC00"/>
                </a:solidFill>
                <a:latin typeface="Consolas"/>
              </a:rPr>
              <a:t>terraform</a:t>
            </a:r>
            <a:r>
              <a:rPr sz="2800" b="0" i="0">
                <a:solidFill>
                  <a:srgbClr val="262626"/>
                </a:solidFill>
                <a:latin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</a:t>
            </a:r>
            <a:r>
              <a:rPr sz="2800" b="1" i="0">
                <a:solidFill>
                  <a:srgbClr val="F5AC00"/>
                </a:solidFill>
                <a:latin typeface="Consolas"/>
              </a:rPr>
              <a:t>required_providers</a:t>
            </a:r>
            <a:r>
              <a:rPr sz="2800" b="0" i="0">
                <a:solidFill>
                  <a:srgbClr val="262626"/>
                </a:solidFill>
                <a:latin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  random = {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    </a:t>
            </a:r>
            <a:r>
              <a:rPr sz="2800" b="1" i="0">
                <a:solidFill>
                  <a:srgbClr val="F5AC00"/>
                </a:solidFill>
                <a:latin typeface="Consolas"/>
              </a:rPr>
              <a:t>source</a:t>
            </a:r>
            <a:r>
              <a:rPr sz="2800" b="0" i="0">
                <a:solidFill>
                  <a:srgbClr val="262626"/>
                </a:solidFill>
                <a:latin typeface="Consolas"/>
              </a:rPr>
              <a:t> = "hashicorp/random"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    </a:t>
            </a:r>
            <a:r>
              <a:rPr sz="2800" b="1" i="0">
                <a:solidFill>
                  <a:srgbClr val="F5AC00"/>
                </a:solidFill>
                <a:latin typeface="Consolas"/>
              </a:rPr>
              <a:t>version</a:t>
            </a:r>
            <a:r>
              <a:rPr sz="2800" b="0" i="0">
                <a:solidFill>
                  <a:srgbClr val="262626"/>
                </a:solidFill>
                <a:latin typeface="Consolas"/>
              </a:rPr>
              <a:t> = "~&gt; 3.0"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  local = {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    </a:t>
            </a:r>
            <a:r>
              <a:rPr sz="2800" b="1" i="0">
                <a:solidFill>
                  <a:srgbClr val="F5AC00"/>
                </a:solidFill>
                <a:latin typeface="Consolas"/>
              </a:rPr>
              <a:t>source</a:t>
            </a:r>
            <a:r>
              <a:rPr sz="2800" b="0" i="0">
                <a:solidFill>
                  <a:srgbClr val="262626"/>
                </a:solidFill>
                <a:latin typeface="Consolas"/>
              </a:rPr>
              <a:t> = "hashicorp/local"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    </a:t>
            </a:r>
            <a:r>
              <a:rPr sz="2800" b="1" i="0">
                <a:solidFill>
                  <a:srgbClr val="F5AC00"/>
                </a:solidFill>
                <a:latin typeface="Consolas"/>
              </a:rPr>
              <a:t>version</a:t>
            </a:r>
            <a:r>
              <a:rPr sz="2800" b="0" i="0">
                <a:solidFill>
                  <a:srgbClr val="262626"/>
                </a:solidFill>
                <a:latin typeface="Consolas"/>
              </a:rPr>
              <a:t> = "~&gt; 2.0"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>
                <a:solidFill>
                  <a:srgbClr val="0070C0"/>
                </a:solidFill>
                <a:latin typeface="Calibri"/>
              </a:rPr>
              <a:t>Exemplo 1b — Gerando as Credenciais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0583" y="3374125"/>
            <a:ext cx="86276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i="1" dirty="0" err="1">
                <a:solidFill>
                  <a:srgbClr val="595959"/>
                </a:solidFill>
                <a:latin typeface="Calibri"/>
              </a:rPr>
              <a:t>mesmo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arquivo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,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continuação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recursos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e output</a:t>
            </a:r>
          </a:p>
        </p:txBody>
      </p:sp>
      <p:sp>
        <p:nvSpPr>
          <p:cNvPr id="6" name="Oval 5"/>
          <p:cNvSpPr/>
          <p:nvPr/>
        </p:nvSpPr>
        <p:spPr>
          <a:xfrm>
            <a:off x="1689100" y="4550000"/>
            <a:ext cx="140000" cy="14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48925" y="4520000"/>
            <a:ext cx="19383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595959"/>
                </a:solidFill>
                <a:latin typeface="Calibri"/>
              </a:rPr>
              <a:t>núcleo do Terraform</a:t>
            </a:r>
          </a:p>
        </p:txBody>
      </p:sp>
      <p:sp>
        <p:nvSpPr>
          <p:cNvPr id="8" name="Oval 7"/>
          <p:cNvSpPr/>
          <p:nvPr/>
        </p:nvSpPr>
        <p:spPr>
          <a:xfrm>
            <a:off x="4077100" y="4550000"/>
            <a:ext cx="140000" cy="140000"/>
          </a:xfrm>
          <a:prstGeom prst="ellipse">
            <a:avLst/>
          </a:prstGeom>
          <a:solidFill>
            <a:srgbClr val="218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06924" y="4450723"/>
            <a:ext cx="31534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 dirty="0" err="1">
                <a:solidFill>
                  <a:srgbClr val="595959"/>
                </a:solidFill>
                <a:latin typeface="Calibri"/>
              </a:rPr>
              <a:t>vocabulário</a:t>
            </a:r>
            <a:r>
              <a:rPr sz="16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595959"/>
                </a:solidFill>
                <a:latin typeface="Calibri"/>
              </a:rPr>
              <a:t>fixo</a:t>
            </a:r>
            <a:r>
              <a:rPr sz="1600" b="0" i="1" dirty="0">
                <a:solidFill>
                  <a:srgbClr val="595959"/>
                </a:solidFill>
                <a:latin typeface="Calibri"/>
              </a:rPr>
              <a:t> (provider/backend)</a:t>
            </a:r>
          </a:p>
        </p:txBody>
      </p:sp>
      <p:sp>
        <p:nvSpPr>
          <p:cNvPr id="10" name="Oval 9"/>
          <p:cNvSpPr/>
          <p:nvPr/>
        </p:nvSpPr>
        <p:spPr>
          <a:xfrm>
            <a:off x="7937100" y="4550000"/>
            <a:ext cx="140000" cy="14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77100" y="4450723"/>
            <a:ext cx="2704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 dirty="0" err="1">
                <a:solidFill>
                  <a:srgbClr val="595959"/>
                </a:solidFill>
                <a:latin typeface="Calibri"/>
              </a:rPr>
              <a:t>escolhido</a:t>
            </a:r>
            <a:r>
              <a:rPr sz="16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Calibri"/>
              </a:rPr>
              <a:t>livremente</a:t>
            </a:r>
            <a:r>
              <a:rPr sz="16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95959"/>
                </a:solidFill>
                <a:latin typeface="Calibri"/>
              </a:rPr>
              <a:t>você</a:t>
            </a:r>
            <a:endParaRPr sz="16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89100" y="5150000"/>
            <a:ext cx="19170650" cy="7080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89100" y="5150000"/>
            <a:ext cx="19170650" cy="440000"/>
          </a:xfrm>
          <a:prstGeom prst="roundRect">
            <a:avLst>
              <a:gd name="adj" fmla="val 18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9100" y="5360000"/>
            <a:ext cx="19170650" cy="23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09100" y="5300000"/>
            <a:ext cx="150000" cy="15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89100" y="5300000"/>
            <a:ext cx="150000" cy="15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69100" y="5300000"/>
            <a:ext cx="150000" cy="15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89100" y="5235000"/>
            <a:ext cx="1917065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95959"/>
                </a:solidFill>
                <a:latin typeface="Consolas"/>
              </a:rPr>
              <a:t>main1.tf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9100" y="5720000"/>
            <a:ext cx="18610650" cy="57323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 dirty="0">
                <a:solidFill>
                  <a:srgbClr val="F5AC00"/>
                </a:solidFill>
                <a:latin typeface="Consolas"/>
              </a:rPr>
              <a:t>resource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1800" b="0" i="1" dirty="0" err="1">
                <a:solidFill>
                  <a:srgbClr val="218CD6"/>
                </a:solidFill>
                <a:latin typeface="Consolas"/>
              </a:rPr>
              <a:t>random_pet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" "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usuario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  length = 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  separator = "_"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8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 dirty="0">
                <a:solidFill>
                  <a:srgbClr val="F5AC00"/>
                </a:solidFill>
                <a:latin typeface="Consolas"/>
              </a:rPr>
              <a:t>resource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1800" b="0" i="1" dirty="0" err="1">
                <a:solidFill>
                  <a:srgbClr val="218CD6"/>
                </a:solidFill>
                <a:latin typeface="Consolas"/>
              </a:rPr>
              <a:t>random_password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" "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senha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  length = 16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  special = </a:t>
            </a:r>
            <a:r>
              <a:rPr sz="1800" b="1" i="0" dirty="0">
                <a:solidFill>
                  <a:srgbClr val="F5AC00"/>
                </a:solidFill>
                <a:latin typeface="Consolas"/>
              </a:rPr>
              <a:t>true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8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 dirty="0">
                <a:solidFill>
                  <a:srgbClr val="F5AC00"/>
                </a:solidFill>
                <a:latin typeface="Consolas"/>
              </a:rPr>
              <a:t>resource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1800" b="0" i="1" dirty="0" err="1">
                <a:solidFill>
                  <a:srgbClr val="218CD6"/>
                </a:solidFill>
                <a:latin typeface="Consolas"/>
              </a:rPr>
              <a:t>local_sensitive_file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" "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credenciais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  filename = "${</a:t>
            </a:r>
            <a:r>
              <a:rPr sz="1800" b="1" i="0" dirty="0" err="1">
                <a:solidFill>
                  <a:srgbClr val="F5AC00"/>
                </a:solidFill>
                <a:latin typeface="Consolas"/>
              </a:rPr>
              <a:t>path.module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}/credenciais.txt"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  content = "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usuario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: ${random_pet.usuario.id}\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nsenha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: ${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random_password.senha.result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}"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8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 dirty="0">
                <a:solidFill>
                  <a:srgbClr val="F5AC00"/>
                </a:solidFill>
                <a:latin typeface="Consolas"/>
              </a:rPr>
              <a:t>output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1800" b="0" i="0" dirty="0" err="1">
                <a:solidFill>
                  <a:srgbClr val="262626"/>
                </a:solidFill>
                <a:latin typeface="Consolas"/>
              </a:rPr>
              <a:t>usuario_gerado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  </a:t>
            </a:r>
            <a:r>
              <a:rPr sz="1800" b="1" i="0" dirty="0">
                <a:solidFill>
                  <a:srgbClr val="F5AC00"/>
                </a:solidFill>
                <a:latin typeface="Consolas"/>
              </a:rPr>
              <a:t>value</a:t>
            </a:r>
            <a:r>
              <a:rPr sz="1800" b="0" i="0" dirty="0">
                <a:solidFill>
                  <a:srgbClr val="262626"/>
                </a:solidFill>
                <a:latin typeface="Consolas"/>
              </a:rPr>
              <a:t> = random_pet.usuario.id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 dirty="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sensitive Não é Criptografia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Reparem:  </a:t>
            </a:r>
            <a:r>
              <a:rPr sz="3600">
                <a:solidFill>
                  <a:srgbClr val="262626"/>
                </a:solidFill>
                <a:latin typeface="Calibri"/>
              </a:rPr>
              <a:t>não existe output da senha de propósito — para vê-la, é preciso abrir credenciais.txt ou usar terraform output -json explicitamente.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Pegadinha clássica:  </a:t>
            </a:r>
            <a:r>
              <a:rPr sz="3600">
                <a:solidFill>
                  <a:srgbClr val="262626"/>
                </a:solidFill>
                <a:latin typeface="Calibri"/>
              </a:rPr>
              <a:t>sensitive = true esconde o valor do terminal no plan/apply, mas o valor continua em texto plano dentro do arquivo de state.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Conclusão:  </a:t>
            </a:r>
            <a:r>
              <a:rPr sz="3600">
                <a:solidFill>
                  <a:srgbClr val="262626"/>
                </a:solidFill>
                <a:latin typeface="Calibri"/>
              </a:rPr>
              <a:t>sensitive evita que a senha apareça "à toa" no terminal — não substitui um cofre de segredos de verdade (Azure Key Vault, por exemplo).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1276" y="12520000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400" b="1">
                <a:solidFill>
                  <a:srgbClr val="0070C0"/>
                </a:solidFill>
                <a:latin typeface="Calibri"/>
              </a:rPr>
              <a:t>Exemplo 2a — Provedores de Chaves e Arquivos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80160" y="3980000"/>
            <a:ext cx="107885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i="1">
                <a:solidFill>
                  <a:srgbClr val="595959"/>
                </a:solidFill>
                <a:latin typeface="Calibri"/>
              </a:rPr>
              <a:t>providers tls + local — gera um par de chaves criptográficas localmente</a:t>
            </a:r>
          </a:p>
        </p:txBody>
      </p:sp>
      <p:sp>
        <p:nvSpPr>
          <p:cNvPr id="6" name="Oval 5"/>
          <p:cNvSpPr/>
          <p:nvPr/>
        </p:nvSpPr>
        <p:spPr>
          <a:xfrm>
            <a:off x="1689100" y="4550000"/>
            <a:ext cx="140000" cy="14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7" name="TextBox 6"/>
          <p:cNvSpPr txBox="1"/>
          <p:nvPr/>
        </p:nvSpPr>
        <p:spPr>
          <a:xfrm>
            <a:off x="1843928" y="4520000"/>
            <a:ext cx="21483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595959"/>
                </a:solidFill>
                <a:latin typeface="Calibri"/>
              </a:rPr>
              <a:t>núcleo do Terraform</a:t>
            </a:r>
          </a:p>
        </p:txBody>
      </p:sp>
      <p:sp>
        <p:nvSpPr>
          <p:cNvPr id="8" name="Oval 7"/>
          <p:cNvSpPr/>
          <p:nvPr/>
        </p:nvSpPr>
        <p:spPr>
          <a:xfrm>
            <a:off x="4077100" y="4550000"/>
            <a:ext cx="140000" cy="140000"/>
          </a:xfrm>
          <a:prstGeom prst="ellipse">
            <a:avLst/>
          </a:prstGeom>
          <a:solidFill>
            <a:srgbClr val="218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" name="TextBox 8"/>
          <p:cNvSpPr txBox="1"/>
          <p:nvPr/>
        </p:nvSpPr>
        <p:spPr>
          <a:xfrm>
            <a:off x="4281041" y="4520000"/>
            <a:ext cx="35221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595959"/>
                </a:solidFill>
                <a:latin typeface="Calibri"/>
              </a:rPr>
              <a:t>vocabulário fixo (provider/backend)</a:t>
            </a:r>
          </a:p>
        </p:txBody>
      </p:sp>
      <p:sp>
        <p:nvSpPr>
          <p:cNvPr id="10" name="Oval 9"/>
          <p:cNvSpPr/>
          <p:nvPr/>
        </p:nvSpPr>
        <p:spPr>
          <a:xfrm>
            <a:off x="7937100" y="4550000"/>
            <a:ext cx="140000" cy="14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1" name="TextBox 10"/>
          <p:cNvSpPr txBox="1"/>
          <p:nvPr/>
        </p:nvSpPr>
        <p:spPr>
          <a:xfrm>
            <a:off x="8115109" y="4520000"/>
            <a:ext cx="30219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595959"/>
                </a:solidFill>
                <a:latin typeface="Calibri"/>
              </a:rPr>
              <a:t>escolhido livremente por você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9100" y="5150000"/>
            <a:ext cx="19170650" cy="7080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3" name="Rounded Rectangle 12"/>
          <p:cNvSpPr/>
          <p:nvPr/>
        </p:nvSpPr>
        <p:spPr>
          <a:xfrm>
            <a:off x="1689100" y="5150000"/>
            <a:ext cx="19170650" cy="440000"/>
          </a:xfrm>
          <a:prstGeom prst="roundRect">
            <a:avLst>
              <a:gd name="adj" fmla="val 18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4" name="Rectangle 13"/>
          <p:cNvSpPr/>
          <p:nvPr/>
        </p:nvSpPr>
        <p:spPr>
          <a:xfrm>
            <a:off x="1689100" y="5360000"/>
            <a:ext cx="19170650" cy="23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5" name="Oval 14"/>
          <p:cNvSpPr/>
          <p:nvPr/>
        </p:nvSpPr>
        <p:spPr>
          <a:xfrm>
            <a:off x="1909100" y="5300000"/>
            <a:ext cx="150000" cy="15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6" name="Oval 15"/>
          <p:cNvSpPr/>
          <p:nvPr/>
        </p:nvSpPr>
        <p:spPr>
          <a:xfrm>
            <a:off x="2189100" y="5300000"/>
            <a:ext cx="150000" cy="15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7" name="Oval 16"/>
          <p:cNvSpPr/>
          <p:nvPr/>
        </p:nvSpPr>
        <p:spPr>
          <a:xfrm>
            <a:off x="2469100" y="5300000"/>
            <a:ext cx="150000" cy="15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8" name="TextBox 17"/>
          <p:cNvSpPr txBox="1"/>
          <p:nvPr/>
        </p:nvSpPr>
        <p:spPr>
          <a:xfrm>
            <a:off x="10617836" y="5235000"/>
            <a:ext cx="13131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595959"/>
                </a:solidFill>
                <a:latin typeface="Consolas"/>
              </a:rPr>
              <a:t>main2.tf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9100" y="5720000"/>
            <a:ext cx="18610650" cy="80432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 dirty="0">
                <a:solidFill>
                  <a:srgbClr val="F5AC00"/>
                </a:solidFill>
                <a:latin typeface="Consolas"/>
              </a:rPr>
              <a:t>terraform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</a:t>
            </a:r>
            <a:r>
              <a:rPr sz="4000" b="1" i="0" dirty="0" err="1">
                <a:solidFill>
                  <a:srgbClr val="F5AC00"/>
                </a:solidFill>
                <a:latin typeface="Consolas"/>
              </a:rPr>
              <a:t>required_providers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</a:t>
            </a:r>
            <a:r>
              <a:rPr sz="4000" b="0" i="0" dirty="0" err="1">
                <a:solidFill>
                  <a:srgbClr val="262626"/>
                </a:solidFill>
                <a:latin typeface="Consolas"/>
              </a:rPr>
              <a:t>tls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= {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  </a:t>
            </a:r>
            <a:r>
              <a:rPr sz="4000" b="1" i="0" dirty="0">
                <a:solidFill>
                  <a:srgbClr val="F5AC00"/>
                </a:solidFill>
                <a:latin typeface="Consolas"/>
              </a:rPr>
              <a:t>source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= "</a:t>
            </a:r>
            <a:r>
              <a:rPr sz="4000" b="0" i="0" dirty="0" err="1">
                <a:solidFill>
                  <a:srgbClr val="262626"/>
                </a:solidFill>
                <a:latin typeface="Consolas"/>
              </a:rPr>
              <a:t>hashicorp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/</a:t>
            </a:r>
            <a:r>
              <a:rPr sz="4000" b="0" i="0" dirty="0" err="1">
                <a:solidFill>
                  <a:srgbClr val="262626"/>
                </a:solidFill>
                <a:latin typeface="Consolas"/>
              </a:rPr>
              <a:t>tls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  </a:t>
            </a:r>
            <a:r>
              <a:rPr sz="4000" b="1" i="0" dirty="0">
                <a:solidFill>
                  <a:srgbClr val="F5AC00"/>
                </a:solidFill>
                <a:latin typeface="Consolas"/>
              </a:rPr>
              <a:t>version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= "~&gt; 4.0"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local = {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  </a:t>
            </a:r>
            <a:r>
              <a:rPr sz="4000" b="1" i="0" dirty="0">
                <a:solidFill>
                  <a:srgbClr val="F5AC00"/>
                </a:solidFill>
                <a:latin typeface="Consolas"/>
              </a:rPr>
              <a:t>source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= "</a:t>
            </a:r>
            <a:r>
              <a:rPr sz="4000" b="0" i="0" dirty="0" err="1">
                <a:solidFill>
                  <a:srgbClr val="262626"/>
                </a:solidFill>
                <a:latin typeface="Consolas"/>
              </a:rPr>
              <a:t>hashicorp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/local"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  </a:t>
            </a:r>
            <a:r>
              <a:rPr sz="4000" b="1" i="0" dirty="0">
                <a:solidFill>
                  <a:srgbClr val="F5AC00"/>
                </a:solidFill>
                <a:latin typeface="Consolas"/>
              </a:rPr>
              <a:t>version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= "~&gt; 2.0"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345685"/>
            <a:ext cx="19170650" cy="2286000"/>
          </a:xfrm>
        </p:spPr>
        <p:txBody>
          <a:bodyPr>
            <a:normAutofit/>
          </a:bodyPr>
          <a:lstStyle/>
          <a:p>
            <a:r>
              <a:rPr sz="4800" b="1" dirty="0" err="1">
                <a:solidFill>
                  <a:srgbClr val="0070C0"/>
                </a:solidFill>
                <a:latin typeface="Calibri"/>
              </a:rPr>
              <a:t>Exemplo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2b — Par de Chaves SSH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04732" y="3201383"/>
            <a:ext cx="127393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i="1" dirty="0" err="1">
                <a:solidFill>
                  <a:srgbClr val="595959"/>
                </a:solidFill>
                <a:latin typeface="Calibri"/>
              </a:rPr>
              <a:t>mesmo</a:t>
            </a:r>
            <a:r>
              <a:rPr sz="28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2800" i="1" dirty="0" err="1">
                <a:solidFill>
                  <a:srgbClr val="595959"/>
                </a:solidFill>
                <a:latin typeface="Calibri"/>
              </a:rPr>
              <a:t>arquivo</a:t>
            </a:r>
            <a:r>
              <a:rPr sz="2800" i="1" dirty="0">
                <a:solidFill>
                  <a:srgbClr val="595959"/>
                </a:solidFill>
                <a:latin typeface="Calibri"/>
              </a:rPr>
              <a:t>, </a:t>
            </a:r>
            <a:r>
              <a:rPr sz="2800" i="1" dirty="0" err="1">
                <a:solidFill>
                  <a:srgbClr val="595959"/>
                </a:solidFill>
                <a:latin typeface="Calibri"/>
              </a:rPr>
              <a:t>continuação</a:t>
            </a:r>
            <a:r>
              <a:rPr sz="2800" i="1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2800" i="1" dirty="0" err="1">
                <a:solidFill>
                  <a:srgbClr val="595959"/>
                </a:solidFill>
                <a:latin typeface="Calibri"/>
              </a:rPr>
              <a:t>depois</a:t>
            </a:r>
            <a:r>
              <a:rPr sz="2800" i="1" dirty="0">
                <a:solidFill>
                  <a:srgbClr val="595959"/>
                </a:solidFill>
                <a:latin typeface="Calibri"/>
              </a:rPr>
              <a:t> do apply, teste com ssh-keygen -</a:t>
            </a:r>
            <a:r>
              <a:rPr sz="2800" i="1" dirty="0" err="1">
                <a:solidFill>
                  <a:srgbClr val="595959"/>
                </a:solidFill>
                <a:latin typeface="Calibri"/>
              </a:rPr>
              <a:t>lf</a:t>
            </a:r>
            <a:r>
              <a:rPr sz="2800" i="1" dirty="0">
                <a:solidFill>
                  <a:srgbClr val="595959"/>
                </a:solidFill>
                <a:latin typeface="Calibri"/>
              </a:rPr>
              <a:t> id_rsa.pub</a:t>
            </a:r>
          </a:p>
        </p:txBody>
      </p:sp>
      <p:sp>
        <p:nvSpPr>
          <p:cNvPr id="6" name="Oval 5"/>
          <p:cNvSpPr/>
          <p:nvPr/>
        </p:nvSpPr>
        <p:spPr>
          <a:xfrm>
            <a:off x="1689100" y="4550000"/>
            <a:ext cx="140000" cy="14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19100" y="4520000"/>
            <a:ext cx="199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95959"/>
                </a:solidFill>
                <a:latin typeface="Calibri"/>
              </a:rPr>
              <a:t>núcleo do Terraform</a:t>
            </a:r>
          </a:p>
        </p:txBody>
      </p:sp>
      <p:sp>
        <p:nvSpPr>
          <p:cNvPr id="8" name="Oval 7"/>
          <p:cNvSpPr/>
          <p:nvPr/>
        </p:nvSpPr>
        <p:spPr>
          <a:xfrm>
            <a:off x="4077100" y="4550000"/>
            <a:ext cx="140000" cy="140000"/>
          </a:xfrm>
          <a:prstGeom prst="ellipse">
            <a:avLst/>
          </a:prstGeom>
          <a:solidFill>
            <a:srgbClr val="218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07100" y="4520000"/>
            <a:ext cx="347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95959"/>
                </a:solidFill>
                <a:latin typeface="Calibri"/>
              </a:rPr>
              <a:t>vocabulário fixo (provider/backend)</a:t>
            </a:r>
          </a:p>
        </p:txBody>
      </p:sp>
      <p:sp>
        <p:nvSpPr>
          <p:cNvPr id="10" name="Oval 9"/>
          <p:cNvSpPr/>
          <p:nvPr/>
        </p:nvSpPr>
        <p:spPr>
          <a:xfrm>
            <a:off x="7937100" y="4550000"/>
            <a:ext cx="140000" cy="14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7100" y="4520000"/>
            <a:ext cx="291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95959"/>
                </a:solidFill>
                <a:latin typeface="Calibri"/>
              </a:rPr>
              <a:t>escolhido livremente por você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9100" y="5150000"/>
            <a:ext cx="19170650" cy="7080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3" name="Rounded Rectangle 12"/>
          <p:cNvSpPr/>
          <p:nvPr/>
        </p:nvSpPr>
        <p:spPr>
          <a:xfrm>
            <a:off x="1689100" y="5150000"/>
            <a:ext cx="19170650" cy="440000"/>
          </a:xfrm>
          <a:prstGeom prst="roundRect">
            <a:avLst>
              <a:gd name="adj" fmla="val 18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9100" y="5360000"/>
            <a:ext cx="19170650" cy="23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09100" y="5300000"/>
            <a:ext cx="150000" cy="15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89100" y="5300000"/>
            <a:ext cx="150000" cy="15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69100" y="5300000"/>
            <a:ext cx="150000" cy="15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89100" y="5235000"/>
            <a:ext cx="1917065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95959"/>
                </a:solidFill>
                <a:latin typeface="Consolas"/>
              </a:rPr>
              <a:t>main2.tf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9100" y="5720000"/>
            <a:ext cx="18610650" cy="6286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 dirty="0">
                <a:solidFill>
                  <a:srgbClr val="F5AC00"/>
                </a:solidFill>
                <a:latin typeface="Consolas"/>
              </a:rPr>
              <a:t>resource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2000" b="0" i="1" dirty="0" err="1">
                <a:solidFill>
                  <a:srgbClr val="218CD6"/>
                </a:solidFill>
                <a:latin typeface="Consolas"/>
              </a:rPr>
              <a:t>tls_private_key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"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chave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algorithm = "RSA"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rsa_bits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= 4096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 dirty="0">
                <a:solidFill>
                  <a:srgbClr val="F5AC00"/>
                </a:solidFill>
                <a:latin typeface="Consolas"/>
              </a:rPr>
              <a:t>resource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2000" b="0" i="1" dirty="0" err="1">
                <a:solidFill>
                  <a:srgbClr val="218CD6"/>
                </a:solidFill>
                <a:latin typeface="Consolas"/>
              </a:rPr>
              <a:t>local_file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"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chave_privada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content = 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tls_private_key.chave.private_key_pem</a:t>
            </a: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filename = "${</a:t>
            </a:r>
            <a:r>
              <a:rPr sz="2000" b="1" i="0" dirty="0" err="1">
                <a:solidFill>
                  <a:srgbClr val="F5AC00"/>
                </a:solidFill>
                <a:latin typeface="Consolas"/>
              </a:rPr>
              <a:t>path.module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}/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id_rsa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file_permission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= "0600"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 dirty="0">
                <a:solidFill>
                  <a:srgbClr val="F5AC00"/>
                </a:solidFill>
                <a:latin typeface="Consolas"/>
              </a:rPr>
              <a:t>resource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2000" b="0" i="1" dirty="0" err="1">
                <a:solidFill>
                  <a:srgbClr val="218CD6"/>
                </a:solidFill>
                <a:latin typeface="Consolas"/>
              </a:rPr>
              <a:t>local_file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"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chave_publica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content = 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tls_private_key.chave.public_key_openssh</a:t>
            </a: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filename = "${</a:t>
            </a:r>
            <a:r>
              <a:rPr sz="2000" b="1" i="0" dirty="0" err="1">
                <a:solidFill>
                  <a:srgbClr val="F5AC00"/>
                </a:solidFill>
                <a:latin typeface="Consolas"/>
              </a:rPr>
              <a:t>path.module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}/id_rsa.pub"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 dirty="0">
                <a:solidFill>
                  <a:srgbClr val="F5AC00"/>
                </a:solidFill>
                <a:latin typeface="Consolas"/>
              </a:rPr>
              <a:t>output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"fingerprint"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</a:t>
            </a:r>
            <a:r>
              <a:rPr sz="2000" b="1" i="0" dirty="0">
                <a:solidFill>
                  <a:srgbClr val="F5AC00"/>
                </a:solidFill>
                <a:latin typeface="Consolas"/>
              </a:rPr>
              <a:t>value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= tls_private_key.chave.public_key_fingerprint_sha256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Antes de Rodar o Exemplo 3: Crie a Pasta app/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>
                <a:solidFill>
                  <a:srgbClr val="262626"/>
                </a:solidFill>
                <a:latin typeface="Calibri"/>
              </a:rPr>
              <a:t>data "archive_file" precisa que ./app já exista com algo dentro — sem isso, o apply falha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l"/>
            <a:r>
              <a:rPr sz="4000" dirty="0" err="1">
                <a:solidFill>
                  <a:srgbClr val="E8E8E8"/>
                </a:solidFill>
                <a:latin typeface="Consolas"/>
              </a:rPr>
              <a:t>mkdir</a:t>
            </a:r>
            <a:r>
              <a:rPr sz="4000" dirty="0">
                <a:solidFill>
                  <a:srgbClr val="E8E8E8"/>
                </a:solidFill>
                <a:latin typeface="Consolas"/>
              </a:rPr>
              <a:t> app</a:t>
            </a:r>
          </a:p>
          <a:p>
            <a:pPr algn="l"/>
            <a:r>
              <a:rPr sz="4000" dirty="0">
                <a:solidFill>
                  <a:srgbClr val="E8E8E8"/>
                </a:solidFill>
                <a:latin typeface="Consolas"/>
              </a:rPr>
              <a:t>echo 'console.log("Olá do app de </a:t>
            </a:r>
            <a:r>
              <a:rPr sz="4000" dirty="0" err="1">
                <a:solidFill>
                  <a:srgbClr val="E8E8E8"/>
                </a:solidFill>
                <a:latin typeface="Consolas"/>
              </a:rPr>
              <a:t>exemplo</a:t>
            </a:r>
            <a:r>
              <a:rPr sz="4000" dirty="0">
                <a:solidFill>
                  <a:srgbClr val="E8E8E8"/>
                </a:solidFill>
                <a:latin typeface="Consolas"/>
              </a:rPr>
              <a:t>!");' &gt; app/index.js</a:t>
            </a:r>
          </a:p>
          <a:p>
            <a:pPr algn="l"/>
            <a:r>
              <a:rPr sz="40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4000" dirty="0">
                <a:solidFill>
                  <a:srgbClr val="E8E8E8"/>
                </a:solidFill>
                <a:latin typeface="Consolas"/>
              </a:rPr>
              <a:t># </a:t>
            </a:r>
            <a:r>
              <a:rPr sz="4000" dirty="0" err="1">
                <a:solidFill>
                  <a:srgbClr val="E8E8E8"/>
                </a:solidFill>
                <a:latin typeface="Consolas"/>
              </a:rPr>
              <a:t>estrutura</a:t>
            </a:r>
            <a:r>
              <a:rPr sz="4000" dirty="0">
                <a:solidFill>
                  <a:srgbClr val="E8E8E8"/>
                </a:solidFill>
                <a:latin typeface="Consolas"/>
              </a:rPr>
              <a:t> </a:t>
            </a:r>
            <a:r>
              <a:rPr sz="4000" dirty="0" err="1">
                <a:solidFill>
                  <a:srgbClr val="E8E8E8"/>
                </a:solidFill>
                <a:latin typeface="Consolas"/>
              </a:rPr>
              <a:t>esperada</a:t>
            </a:r>
            <a:r>
              <a:rPr sz="4000" dirty="0">
                <a:solidFill>
                  <a:srgbClr val="E8E8E8"/>
                </a:solidFill>
                <a:latin typeface="Consolas"/>
              </a:rPr>
              <a:t> antes do apply:</a:t>
            </a:r>
          </a:p>
          <a:p>
            <a:pPr algn="l"/>
            <a:r>
              <a:rPr sz="4000" dirty="0">
                <a:solidFill>
                  <a:srgbClr val="E8E8E8"/>
                </a:solidFill>
                <a:latin typeface="Consolas"/>
              </a:rPr>
              <a:t># main3.tf</a:t>
            </a:r>
          </a:p>
          <a:p>
            <a:pPr algn="l"/>
            <a:r>
              <a:rPr sz="4000" dirty="0">
                <a:solidFill>
                  <a:srgbClr val="E8E8E8"/>
                </a:solidFill>
                <a:latin typeface="Consolas"/>
              </a:rPr>
              <a:t># app/</a:t>
            </a:r>
          </a:p>
          <a:p>
            <a:pPr algn="l"/>
            <a:r>
              <a:rPr sz="4000" dirty="0">
                <a:solidFill>
                  <a:srgbClr val="E8E8E8"/>
                </a:solidFill>
                <a:latin typeface="Consolas"/>
              </a:rPr>
              <a:t>#   └── index.js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 dirty="0" err="1">
                <a:solidFill>
                  <a:srgbClr val="0070C0"/>
                </a:solidFill>
                <a:latin typeface="Calibri"/>
              </a:rPr>
              <a:t>Exemplo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3a —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Provedor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Arquivos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Compactados</a:t>
            </a:r>
            <a:endParaRPr sz="48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5630" y="3398850"/>
            <a:ext cx="99389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i="1" dirty="0">
                <a:solidFill>
                  <a:srgbClr val="595959"/>
                </a:solidFill>
                <a:latin typeface="Calibri"/>
              </a:rPr>
              <a:t>provider archive —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sem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nenhuma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dependência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de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nuvem</a:t>
            </a:r>
            <a:endParaRPr sz="3200" i="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1689100" y="4550000"/>
            <a:ext cx="140000" cy="14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19100" y="4520000"/>
            <a:ext cx="199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95959"/>
                </a:solidFill>
                <a:latin typeface="Calibri"/>
              </a:rPr>
              <a:t>núcleo do Terraform</a:t>
            </a:r>
          </a:p>
        </p:txBody>
      </p:sp>
      <p:sp>
        <p:nvSpPr>
          <p:cNvPr id="8" name="Oval 7"/>
          <p:cNvSpPr/>
          <p:nvPr/>
        </p:nvSpPr>
        <p:spPr>
          <a:xfrm>
            <a:off x="4077100" y="4550000"/>
            <a:ext cx="140000" cy="140000"/>
          </a:xfrm>
          <a:prstGeom prst="ellipse">
            <a:avLst/>
          </a:prstGeom>
          <a:solidFill>
            <a:srgbClr val="218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07100" y="4520000"/>
            <a:ext cx="347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95959"/>
                </a:solidFill>
                <a:latin typeface="Calibri"/>
              </a:rPr>
              <a:t>vocabulário fixo (provider/backend)</a:t>
            </a:r>
          </a:p>
        </p:txBody>
      </p:sp>
      <p:sp>
        <p:nvSpPr>
          <p:cNvPr id="10" name="Oval 9"/>
          <p:cNvSpPr/>
          <p:nvPr/>
        </p:nvSpPr>
        <p:spPr>
          <a:xfrm>
            <a:off x="7937100" y="4550000"/>
            <a:ext cx="140000" cy="14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7100" y="4520000"/>
            <a:ext cx="291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95959"/>
                </a:solidFill>
                <a:latin typeface="Calibri"/>
              </a:rPr>
              <a:t>escolhido livremente por você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9100" y="5150000"/>
            <a:ext cx="19170650" cy="7080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13" name="Rounded Rectangle 12"/>
          <p:cNvSpPr/>
          <p:nvPr/>
        </p:nvSpPr>
        <p:spPr>
          <a:xfrm>
            <a:off x="1689100" y="5150000"/>
            <a:ext cx="19170650" cy="440000"/>
          </a:xfrm>
          <a:prstGeom prst="roundRect">
            <a:avLst>
              <a:gd name="adj" fmla="val 18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9100" y="5360000"/>
            <a:ext cx="19170650" cy="23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09100" y="5300000"/>
            <a:ext cx="150000" cy="15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89100" y="5300000"/>
            <a:ext cx="150000" cy="15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69100" y="5300000"/>
            <a:ext cx="150000" cy="15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89100" y="5235000"/>
            <a:ext cx="1917065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95959"/>
                </a:solidFill>
                <a:latin typeface="Consolas"/>
              </a:rPr>
              <a:t>main3.tf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9100" y="5720000"/>
            <a:ext cx="18610650" cy="5465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1" i="0" dirty="0">
                <a:solidFill>
                  <a:srgbClr val="F5AC00"/>
                </a:solidFill>
                <a:latin typeface="Consolas"/>
              </a:rPr>
              <a:t>terraform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</a:t>
            </a:r>
            <a:r>
              <a:rPr sz="4000" b="1" i="0" dirty="0" err="1">
                <a:solidFill>
                  <a:srgbClr val="F5AC00"/>
                </a:solidFill>
                <a:latin typeface="Consolas"/>
              </a:rPr>
              <a:t>required_providers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archive = {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  </a:t>
            </a:r>
            <a:r>
              <a:rPr sz="4000" b="1" i="0" dirty="0">
                <a:solidFill>
                  <a:srgbClr val="F5AC00"/>
                </a:solidFill>
                <a:latin typeface="Consolas"/>
              </a:rPr>
              <a:t>source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= "</a:t>
            </a:r>
            <a:r>
              <a:rPr sz="4000" b="0" i="0" dirty="0" err="1">
                <a:solidFill>
                  <a:srgbClr val="262626"/>
                </a:solidFill>
                <a:latin typeface="Consolas"/>
              </a:rPr>
              <a:t>hashicorp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/archive"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  </a:t>
            </a:r>
            <a:r>
              <a:rPr sz="4000" b="1" i="0" dirty="0">
                <a:solidFill>
                  <a:srgbClr val="F5AC00"/>
                </a:solidFill>
                <a:latin typeface="Consolas"/>
              </a:rPr>
              <a:t>version</a:t>
            </a:r>
            <a:r>
              <a:rPr sz="4000" b="0" i="0" dirty="0">
                <a:solidFill>
                  <a:srgbClr val="262626"/>
                </a:solidFill>
                <a:latin typeface="Consolas"/>
              </a:rPr>
              <a:t> = "~&gt; 2.0"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 err="1">
                <a:solidFill>
                  <a:srgbClr val="0070C0"/>
                </a:solidFill>
                <a:latin typeface="Calibri"/>
              </a:rPr>
              <a:t>Exemplo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3b —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Empacotando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um App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em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.zip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5706" y="3318900"/>
            <a:ext cx="163974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i="1" dirty="0" err="1">
                <a:solidFill>
                  <a:srgbClr val="595959"/>
                </a:solidFill>
                <a:latin typeface="Calibri"/>
              </a:rPr>
              <a:t>mesmo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arquivo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,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continuação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— providers archive +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terraform_data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nativo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, com um provisioner</a:t>
            </a:r>
          </a:p>
        </p:txBody>
      </p:sp>
      <p:sp>
        <p:nvSpPr>
          <p:cNvPr id="6" name="Oval 5"/>
          <p:cNvSpPr/>
          <p:nvPr/>
        </p:nvSpPr>
        <p:spPr>
          <a:xfrm>
            <a:off x="1689100" y="4550000"/>
            <a:ext cx="140000" cy="14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19100" y="4520000"/>
            <a:ext cx="199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95959"/>
                </a:solidFill>
                <a:latin typeface="Calibri"/>
              </a:rPr>
              <a:t>núcleo do Terraform</a:t>
            </a:r>
          </a:p>
        </p:txBody>
      </p:sp>
      <p:sp>
        <p:nvSpPr>
          <p:cNvPr id="8" name="Oval 7"/>
          <p:cNvSpPr/>
          <p:nvPr/>
        </p:nvSpPr>
        <p:spPr>
          <a:xfrm>
            <a:off x="4077100" y="4550000"/>
            <a:ext cx="140000" cy="140000"/>
          </a:xfrm>
          <a:prstGeom prst="ellipse">
            <a:avLst/>
          </a:prstGeom>
          <a:solidFill>
            <a:srgbClr val="218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07100" y="4520000"/>
            <a:ext cx="347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95959"/>
                </a:solidFill>
                <a:latin typeface="Calibri"/>
              </a:rPr>
              <a:t>vocabulário fixo (provider/backend)</a:t>
            </a:r>
          </a:p>
        </p:txBody>
      </p:sp>
      <p:sp>
        <p:nvSpPr>
          <p:cNvPr id="10" name="Oval 9"/>
          <p:cNvSpPr/>
          <p:nvPr/>
        </p:nvSpPr>
        <p:spPr>
          <a:xfrm>
            <a:off x="7937100" y="4550000"/>
            <a:ext cx="140000" cy="14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7100" y="4520000"/>
            <a:ext cx="291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95959"/>
                </a:solidFill>
                <a:latin typeface="Calibri"/>
              </a:rPr>
              <a:t>escolhido livremente por você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9100" y="5150000"/>
            <a:ext cx="19170650" cy="7080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89100" y="5150000"/>
            <a:ext cx="19170650" cy="440000"/>
          </a:xfrm>
          <a:prstGeom prst="roundRect">
            <a:avLst>
              <a:gd name="adj" fmla="val 18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9100" y="5360000"/>
            <a:ext cx="19170650" cy="23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09100" y="5300000"/>
            <a:ext cx="150000" cy="15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89100" y="5300000"/>
            <a:ext cx="150000" cy="15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69100" y="5300000"/>
            <a:ext cx="150000" cy="15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89100" y="5235000"/>
            <a:ext cx="1917065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95959"/>
                </a:solidFill>
                <a:latin typeface="Consolas"/>
              </a:rPr>
              <a:t>main3.tf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9100" y="5720000"/>
            <a:ext cx="18610650" cy="5940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5AC00"/>
                </a:solidFill>
                <a:latin typeface="Consolas"/>
              </a:rPr>
              <a:t>data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 "</a:t>
            </a:r>
            <a:r>
              <a:rPr sz="2000" b="0" i="1">
                <a:solidFill>
                  <a:srgbClr val="218CD6"/>
                </a:solidFill>
                <a:latin typeface="Consolas"/>
              </a:rPr>
              <a:t>archive_file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" "pacote"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  </a:t>
            </a:r>
            <a:r>
              <a:rPr sz="2000" b="1" i="0">
                <a:solidFill>
                  <a:srgbClr val="F5AC00"/>
                </a:solidFill>
                <a:latin typeface="Consolas"/>
              </a:rPr>
              <a:t>type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 = "zip"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  source_dir = "${</a:t>
            </a:r>
            <a:r>
              <a:rPr sz="2000" b="1" i="0">
                <a:solidFill>
                  <a:srgbClr val="F5AC00"/>
                </a:solidFill>
                <a:latin typeface="Consolas"/>
              </a:rPr>
              <a:t>path.module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}/app"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  output_path = "${</a:t>
            </a:r>
            <a:r>
              <a:rPr sz="2000" b="1" i="0">
                <a:solidFill>
                  <a:srgbClr val="F5AC00"/>
                </a:solidFill>
                <a:latin typeface="Consolas"/>
              </a:rPr>
              <a:t>path.module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}/app.zip"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0" i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5AC00"/>
                </a:solidFill>
                <a:latin typeface="Consolas"/>
              </a:rPr>
              <a:t>resource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 "</a:t>
            </a:r>
            <a:r>
              <a:rPr sz="2000" b="0" i="1">
                <a:solidFill>
                  <a:srgbClr val="218CD6"/>
                </a:solidFill>
                <a:latin typeface="Consolas"/>
              </a:rPr>
              <a:t>terraform_data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" "info"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  </a:t>
            </a:r>
            <a:r>
              <a:rPr sz="2000" b="1" i="0">
                <a:solidFill>
                  <a:srgbClr val="F5AC00"/>
                </a:solidFill>
                <a:latin typeface="Consolas"/>
              </a:rPr>
              <a:t>input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 = </a:t>
            </a:r>
            <a:r>
              <a:rPr sz="2000" b="1" i="0">
                <a:solidFill>
                  <a:srgbClr val="F5AC00"/>
                </a:solidFill>
                <a:latin typeface="Consolas"/>
              </a:rPr>
              <a:t>data.archive_file.pacote.output_sha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1" i="0">
              <a:solidFill>
                <a:srgbClr val="F5AC00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  provisioner "local-exec"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    </a:t>
            </a:r>
            <a:r>
              <a:rPr sz="2000" b="1" i="0">
                <a:solidFill>
                  <a:srgbClr val="F5AC00"/>
                </a:solidFill>
                <a:latin typeface="Consolas"/>
              </a:rPr>
              <a:t>command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 = "echo Pacote gerado com sucesso"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0" i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5AC00"/>
                </a:solidFill>
                <a:latin typeface="Consolas"/>
              </a:rPr>
              <a:t>output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 "sha256_do_pacote"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  </a:t>
            </a:r>
            <a:r>
              <a:rPr sz="2000" b="1" i="0">
                <a:solidFill>
                  <a:srgbClr val="F5AC00"/>
                </a:solidFill>
                <a:latin typeface="Consolas"/>
              </a:rPr>
              <a:t>value</a:t>
            </a:r>
            <a:r>
              <a:rPr sz="2000" b="0" i="0">
                <a:solidFill>
                  <a:srgbClr val="262626"/>
                </a:solidFill>
                <a:latin typeface="Consolas"/>
              </a:rPr>
              <a:t> = </a:t>
            </a:r>
            <a:r>
              <a:rPr sz="2000" b="1" i="0">
                <a:solidFill>
                  <a:srgbClr val="F5AC00"/>
                </a:solidFill>
                <a:latin typeface="Consolas"/>
              </a:rPr>
              <a:t>data.archive_file.pacote.output_sha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Provisioners — Use com Moderação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é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terraform_data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um resource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nativo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Terraform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desde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a v1.4)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precisa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required_providers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porque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plugin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nenhum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provisioner "local-exec":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executa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comando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depois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recurso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é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criado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aqui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echo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demonstração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 dirty="0" err="1">
                <a:solidFill>
                  <a:srgbClr val="004A8F"/>
                </a:solidFill>
                <a:latin typeface="Calibri"/>
              </a:rPr>
              <a:t>Recomendação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oficial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da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HashiCorp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evitar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provisioners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primeira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opção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Preferência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real: imagens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já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prontas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(Packer), scripts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nativos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inicialização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nuvem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user_data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/cloud-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init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configuration management.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Quando usar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mesmo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assim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quando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nada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serve — é a ferramenta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último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recurso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primeira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escolha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 err="1">
                <a:solidFill>
                  <a:srgbClr val="0070C0"/>
                </a:solidFill>
                <a:latin typeface="Calibri"/>
              </a:rPr>
              <a:t>Exemplo</a:t>
            </a:r>
            <a:r>
              <a:rPr sz="6000" b="1" dirty="0">
                <a:solidFill>
                  <a:srgbClr val="0070C0"/>
                </a:solidFill>
                <a:latin typeface="Calibri"/>
              </a:rPr>
              <a:t> 4a — </a:t>
            </a:r>
            <a:r>
              <a:rPr sz="6000" b="1" dirty="0" err="1">
                <a:solidFill>
                  <a:srgbClr val="0070C0"/>
                </a:solidFill>
                <a:latin typeface="Calibri"/>
              </a:rPr>
              <a:t>Provedor</a:t>
            </a:r>
            <a:r>
              <a:rPr sz="6000" b="1" dirty="0">
                <a:solidFill>
                  <a:srgbClr val="0070C0"/>
                </a:solidFill>
                <a:latin typeface="Calibri"/>
              </a:rPr>
              <a:t>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8440" y="3351353"/>
            <a:ext cx="188885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i="1" dirty="0" err="1">
                <a:solidFill>
                  <a:srgbClr val="595959"/>
                </a:solidFill>
                <a:latin typeface="Calibri"/>
              </a:rPr>
              <a:t>pré-requisito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: Docker Desktop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instalado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e RODANDO (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já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instalado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na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 Aula 1) — provider docker (</a:t>
            </a:r>
            <a:r>
              <a:rPr sz="3200" i="1" dirty="0" err="1">
                <a:solidFill>
                  <a:srgbClr val="595959"/>
                </a:solidFill>
                <a:latin typeface="Calibri"/>
              </a:rPr>
              <a:t>kreuzwerker</a:t>
            </a:r>
            <a:r>
              <a:rPr sz="3200" i="1" dirty="0">
                <a:solidFill>
                  <a:srgbClr val="595959"/>
                </a:solidFill>
                <a:latin typeface="Calibri"/>
              </a:rPr>
              <a:t>)</a:t>
            </a:r>
          </a:p>
        </p:txBody>
      </p:sp>
      <p:sp>
        <p:nvSpPr>
          <p:cNvPr id="6" name="Oval 5"/>
          <p:cNvSpPr/>
          <p:nvPr/>
        </p:nvSpPr>
        <p:spPr>
          <a:xfrm>
            <a:off x="1689100" y="4550000"/>
            <a:ext cx="140000" cy="14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1948924" y="4520000"/>
            <a:ext cx="19383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595959"/>
                </a:solidFill>
                <a:latin typeface="Calibri"/>
              </a:rPr>
              <a:t>núcleo do Terraform</a:t>
            </a:r>
          </a:p>
        </p:txBody>
      </p:sp>
      <p:sp>
        <p:nvSpPr>
          <p:cNvPr id="8" name="Oval 7"/>
          <p:cNvSpPr/>
          <p:nvPr/>
        </p:nvSpPr>
        <p:spPr>
          <a:xfrm>
            <a:off x="4077100" y="4550000"/>
            <a:ext cx="140000" cy="140000"/>
          </a:xfrm>
          <a:prstGeom prst="ellipse">
            <a:avLst/>
          </a:prstGeom>
          <a:solidFill>
            <a:srgbClr val="218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4465386" y="4520000"/>
            <a:ext cx="31534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595959"/>
                </a:solidFill>
                <a:latin typeface="Calibri"/>
              </a:rPr>
              <a:t>vocabulário fixo (provider/backend)</a:t>
            </a:r>
          </a:p>
        </p:txBody>
      </p:sp>
      <p:sp>
        <p:nvSpPr>
          <p:cNvPr id="10" name="Oval 9"/>
          <p:cNvSpPr/>
          <p:nvPr/>
        </p:nvSpPr>
        <p:spPr>
          <a:xfrm>
            <a:off x="7937100" y="4550000"/>
            <a:ext cx="140000" cy="14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8273806" y="4520000"/>
            <a:ext cx="2704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595959"/>
                </a:solidFill>
                <a:latin typeface="Calibri"/>
              </a:rPr>
              <a:t>escolhido livremente por você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9100" y="5150000"/>
            <a:ext cx="19170650" cy="7080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89100" y="5150000"/>
            <a:ext cx="19170650" cy="440000"/>
          </a:xfrm>
          <a:prstGeom prst="roundRect">
            <a:avLst>
              <a:gd name="adj" fmla="val 18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9100" y="5360000"/>
            <a:ext cx="19170650" cy="23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09100" y="5300000"/>
            <a:ext cx="150000" cy="15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89100" y="5300000"/>
            <a:ext cx="150000" cy="15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69100" y="5300000"/>
            <a:ext cx="150000" cy="15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89100" y="5235000"/>
            <a:ext cx="1917065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95959"/>
                </a:solidFill>
                <a:latin typeface="Consolas"/>
              </a:rPr>
              <a:t>Main4.tf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9100" y="5720000"/>
            <a:ext cx="18610650" cy="49731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1" i="0">
                <a:solidFill>
                  <a:srgbClr val="F5AC00"/>
                </a:solidFill>
                <a:latin typeface="Consolas"/>
              </a:rPr>
              <a:t>terraform</a:t>
            </a:r>
            <a:r>
              <a:rPr sz="3600" b="0" i="0">
                <a:solidFill>
                  <a:srgbClr val="262626"/>
                </a:solidFill>
                <a:latin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>
                <a:solidFill>
                  <a:srgbClr val="262626"/>
                </a:solidFill>
                <a:latin typeface="Consolas"/>
              </a:rPr>
              <a:t>  </a:t>
            </a:r>
            <a:r>
              <a:rPr sz="3600" b="1" i="0">
                <a:solidFill>
                  <a:srgbClr val="F5AC00"/>
                </a:solidFill>
                <a:latin typeface="Consolas"/>
              </a:rPr>
              <a:t>required_providers</a:t>
            </a:r>
            <a:r>
              <a:rPr sz="3600" b="0" i="0">
                <a:solidFill>
                  <a:srgbClr val="262626"/>
                </a:solidFill>
                <a:latin typeface="Consolas"/>
              </a:rPr>
              <a:t> {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>
                <a:solidFill>
                  <a:srgbClr val="262626"/>
                </a:solidFill>
                <a:latin typeface="Consolas"/>
              </a:rPr>
              <a:t>    docker = {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>
                <a:solidFill>
                  <a:srgbClr val="262626"/>
                </a:solidFill>
                <a:latin typeface="Consolas"/>
              </a:rPr>
              <a:t>      </a:t>
            </a:r>
            <a:r>
              <a:rPr sz="3600" b="1" i="0">
                <a:solidFill>
                  <a:srgbClr val="F5AC00"/>
                </a:solidFill>
                <a:latin typeface="Consolas"/>
              </a:rPr>
              <a:t>source</a:t>
            </a:r>
            <a:r>
              <a:rPr sz="3600" b="0" i="0">
                <a:solidFill>
                  <a:srgbClr val="262626"/>
                </a:solidFill>
                <a:latin typeface="Consolas"/>
              </a:rPr>
              <a:t> = "kreuzwerker/docker"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>
                <a:solidFill>
                  <a:srgbClr val="262626"/>
                </a:solidFill>
                <a:latin typeface="Consolas"/>
              </a:rPr>
              <a:t>      </a:t>
            </a:r>
            <a:r>
              <a:rPr sz="3600" b="1" i="0">
                <a:solidFill>
                  <a:srgbClr val="F5AC00"/>
                </a:solidFill>
                <a:latin typeface="Consolas"/>
              </a:rPr>
              <a:t>version</a:t>
            </a:r>
            <a:r>
              <a:rPr sz="3600" b="0" i="0">
                <a:solidFill>
                  <a:srgbClr val="262626"/>
                </a:solidFill>
                <a:latin typeface="Consolas"/>
              </a:rPr>
              <a:t> = "~&gt; 3.0"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>
                <a:solidFill>
                  <a:srgbClr val="262626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>
                <a:solidFill>
                  <a:srgbClr val="262626"/>
                </a:solidFill>
                <a:latin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400" b="1" dirty="0" err="1">
                <a:solidFill>
                  <a:srgbClr val="0070C0"/>
                </a:solidFill>
                <a:latin typeface="Calibri"/>
              </a:rPr>
              <a:t>Exemplo</a:t>
            </a:r>
            <a:r>
              <a:rPr sz="4400" b="1" dirty="0">
                <a:solidFill>
                  <a:srgbClr val="0070C0"/>
                </a:solidFill>
                <a:latin typeface="Calibri"/>
              </a:rPr>
              <a:t> 4b — Container Docker via </a:t>
            </a:r>
            <a:r>
              <a:rPr sz="4400" b="1" dirty="0" err="1">
                <a:solidFill>
                  <a:srgbClr val="0070C0"/>
                </a:solidFill>
                <a:latin typeface="Calibri"/>
              </a:rPr>
              <a:t>Terraf</a:t>
            </a:r>
            <a:r>
              <a:rPr lang="pt-BR" sz="4400" b="1" dirty="0" err="1">
                <a:solidFill>
                  <a:srgbClr val="0070C0"/>
                </a:solidFill>
                <a:latin typeface="Calibri"/>
              </a:rPr>
              <a:t>orm</a:t>
            </a:r>
            <a:r>
              <a:rPr lang="en-US" sz="4400" b="1" dirty="0">
                <a:solidFill>
                  <a:srgbClr val="0070C0"/>
                </a:solidFill>
                <a:latin typeface="Calibri"/>
              </a:rPr>
              <a:t> (CONTINUAÇÃO)</a:t>
            </a:r>
            <a:endParaRPr sz="44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42572" y="12520000"/>
            <a:ext cx="3930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95959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78357" y="3306400"/>
            <a:ext cx="1338379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i="1" dirty="0" err="1">
                <a:solidFill>
                  <a:srgbClr val="595959"/>
                </a:solidFill>
                <a:latin typeface="Calibri"/>
              </a:rPr>
              <a:t>mesmo</a:t>
            </a:r>
            <a:r>
              <a:rPr sz="36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3600" i="1" dirty="0" err="1">
                <a:solidFill>
                  <a:srgbClr val="595959"/>
                </a:solidFill>
                <a:latin typeface="Calibri"/>
              </a:rPr>
              <a:t>arquivo</a:t>
            </a:r>
            <a:r>
              <a:rPr sz="3600" i="1" dirty="0">
                <a:solidFill>
                  <a:srgbClr val="595959"/>
                </a:solidFill>
                <a:latin typeface="Calibri"/>
              </a:rPr>
              <a:t>, </a:t>
            </a:r>
            <a:r>
              <a:rPr sz="3600" i="1" dirty="0" err="1">
                <a:solidFill>
                  <a:srgbClr val="595959"/>
                </a:solidFill>
                <a:latin typeface="Calibri"/>
              </a:rPr>
              <a:t>continuação</a:t>
            </a:r>
            <a:r>
              <a:rPr sz="3600" i="1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3600" i="1" dirty="0" err="1">
                <a:solidFill>
                  <a:srgbClr val="595959"/>
                </a:solidFill>
                <a:latin typeface="Calibri"/>
              </a:rPr>
              <a:t>depois</a:t>
            </a:r>
            <a:r>
              <a:rPr sz="3600" i="1" dirty="0">
                <a:solidFill>
                  <a:srgbClr val="595959"/>
                </a:solidFill>
                <a:latin typeface="Calibri"/>
              </a:rPr>
              <a:t> do apply, abra localhost:8080</a:t>
            </a:r>
          </a:p>
        </p:txBody>
      </p:sp>
      <p:sp>
        <p:nvSpPr>
          <p:cNvPr id="6" name="Oval 5"/>
          <p:cNvSpPr/>
          <p:nvPr/>
        </p:nvSpPr>
        <p:spPr>
          <a:xfrm>
            <a:off x="1689100" y="4550000"/>
            <a:ext cx="140000" cy="14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7" name="TextBox 6"/>
          <p:cNvSpPr txBox="1"/>
          <p:nvPr/>
        </p:nvSpPr>
        <p:spPr>
          <a:xfrm>
            <a:off x="1843928" y="4520000"/>
            <a:ext cx="21483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595959"/>
                </a:solidFill>
                <a:latin typeface="Calibri"/>
              </a:rPr>
              <a:t>núcleo do Terraform</a:t>
            </a:r>
          </a:p>
        </p:txBody>
      </p:sp>
      <p:sp>
        <p:nvSpPr>
          <p:cNvPr id="8" name="Oval 7"/>
          <p:cNvSpPr/>
          <p:nvPr/>
        </p:nvSpPr>
        <p:spPr>
          <a:xfrm>
            <a:off x="4077100" y="4550000"/>
            <a:ext cx="140000" cy="140000"/>
          </a:xfrm>
          <a:prstGeom prst="ellipse">
            <a:avLst/>
          </a:prstGeom>
          <a:solidFill>
            <a:srgbClr val="218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" name="TextBox 8"/>
          <p:cNvSpPr txBox="1"/>
          <p:nvPr/>
        </p:nvSpPr>
        <p:spPr>
          <a:xfrm>
            <a:off x="4281041" y="4520000"/>
            <a:ext cx="35221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595959"/>
                </a:solidFill>
                <a:latin typeface="Calibri"/>
              </a:rPr>
              <a:t>vocabulário fixo (provider/backend)</a:t>
            </a:r>
          </a:p>
        </p:txBody>
      </p:sp>
      <p:sp>
        <p:nvSpPr>
          <p:cNvPr id="10" name="Oval 9"/>
          <p:cNvSpPr/>
          <p:nvPr/>
        </p:nvSpPr>
        <p:spPr>
          <a:xfrm>
            <a:off x="7937100" y="4550000"/>
            <a:ext cx="140000" cy="1400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1" name="TextBox 10"/>
          <p:cNvSpPr txBox="1"/>
          <p:nvPr/>
        </p:nvSpPr>
        <p:spPr>
          <a:xfrm>
            <a:off x="8115109" y="4520000"/>
            <a:ext cx="30219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595959"/>
                </a:solidFill>
                <a:latin typeface="Calibri"/>
              </a:rPr>
              <a:t>escolhido livremente por você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9100" y="5150000"/>
            <a:ext cx="19170650" cy="7080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ounded Rectangle 12"/>
          <p:cNvSpPr/>
          <p:nvPr/>
        </p:nvSpPr>
        <p:spPr>
          <a:xfrm>
            <a:off x="1689100" y="5150000"/>
            <a:ext cx="19170650" cy="440000"/>
          </a:xfrm>
          <a:prstGeom prst="roundRect">
            <a:avLst>
              <a:gd name="adj" fmla="val 18000"/>
            </a:avLst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Rectangle 13"/>
          <p:cNvSpPr/>
          <p:nvPr/>
        </p:nvSpPr>
        <p:spPr>
          <a:xfrm>
            <a:off x="1689100" y="5360000"/>
            <a:ext cx="19170650" cy="230000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Oval 14"/>
          <p:cNvSpPr/>
          <p:nvPr/>
        </p:nvSpPr>
        <p:spPr>
          <a:xfrm>
            <a:off x="1909100" y="5300000"/>
            <a:ext cx="150000" cy="15000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Oval 15"/>
          <p:cNvSpPr/>
          <p:nvPr/>
        </p:nvSpPr>
        <p:spPr>
          <a:xfrm>
            <a:off x="2189100" y="5300000"/>
            <a:ext cx="150000" cy="150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Oval 16"/>
          <p:cNvSpPr/>
          <p:nvPr/>
        </p:nvSpPr>
        <p:spPr>
          <a:xfrm>
            <a:off x="2469100" y="5300000"/>
            <a:ext cx="150000" cy="15000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10733251" y="5235000"/>
            <a:ext cx="10823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95959"/>
                </a:solidFill>
                <a:latin typeface="Consolas"/>
              </a:rPr>
              <a:t>Main4.tf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9100" y="5720000"/>
            <a:ext cx="18610650" cy="66325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 dirty="0">
                <a:solidFill>
                  <a:srgbClr val="F5AC00"/>
                </a:solidFill>
                <a:latin typeface="Consolas"/>
              </a:rPr>
              <a:t>provider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2000" b="0" i="1" dirty="0">
                <a:solidFill>
                  <a:srgbClr val="218CD6"/>
                </a:solidFill>
                <a:latin typeface="Consolas"/>
              </a:rPr>
              <a:t>docker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{}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 dirty="0">
                <a:solidFill>
                  <a:srgbClr val="F5AC00"/>
                </a:solidFill>
                <a:latin typeface="Consolas"/>
              </a:rPr>
              <a:t>resource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2000" b="0" i="1" dirty="0" err="1">
                <a:solidFill>
                  <a:srgbClr val="218CD6"/>
                </a:solidFill>
                <a:latin typeface="Consolas"/>
              </a:rPr>
              <a:t>docker_image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"nginx"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name = "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nginx:latest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 dirty="0">
                <a:solidFill>
                  <a:srgbClr val="F5AC00"/>
                </a:solidFill>
                <a:latin typeface="Consolas"/>
              </a:rPr>
              <a:t>resource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2000" b="0" i="1" dirty="0" err="1">
                <a:solidFill>
                  <a:srgbClr val="218CD6"/>
                </a:solidFill>
                <a:latin typeface="Consolas"/>
              </a:rPr>
              <a:t>docker_container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"site"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name = "meu-site-local"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image = 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docker_image.nginx.image_id</a:t>
            </a: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ports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  internal = 80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  external = 8080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2000" b="0" i="0" dirty="0">
              <a:solidFill>
                <a:srgbClr val="2626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 dirty="0">
                <a:solidFill>
                  <a:srgbClr val="F5AC00"/>
                </a:solidFill>
                <a:latin typeface="Consolas"/>
              </a:rPr>
              <a:t>output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"</a:t>
            </a:r>
            <a:r>
              <a:rPr sz="2000" b="0" i="0" dirty="0" err="1">
                <a:solidFill>
                  <a:srgbClr val="262626"/>
                </a:solidFill>
                <a:latin typeface="Consolas"/>
              </a:rPr>
              <a:t>acesse_em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"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  </a:t>
            </a:r>
            <a:r>
              <a:rPr sz="2000" b="1" i="0" dirty="0">
                <a:solidFill>
                  <a:srgbClr val="F5AC00"/>
                </a:solidFill>
                <a:latin typeface="Consolas"/>
              </a:rPr>
              <a:t>value</a:t>
            </a:r>
            <a:r>
              <a:rPr sz="2000" b="0" i="0" dirty="0">
                <a:solidFill>
                  <a:srgbClr val="262626"/>
                </a:solidFill>
                <a:latin typeface="Consolas"/>
              </a:rPr>
              <a:t> = "http://localhost:8080"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26262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rmAutofit/>
          </a:bodyPr>
          <a:lstStyle/>
          <a:p>
            <a:pPr algn="l"/>
            <a:r>
              <a:rPr sz="8000" b="1">
                <a:solidFill>
                  <a:srgbClr val="004A8F"/>
                </a:solidFill>
                <a:latin typeface="Calibri"/>
              </a:rPr>
              <a:t>Fluxo de Trabalho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4907666" y="7758345"/>
            <a:ext cx="11053823" cy="2000000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4800" dirty="0" err="1">
                <a:solidFill>
                  <a:srgbClr val="595959"/>
                </a:solidFill>
                <a:latin typeface="Calibri"/>
              </a:rPr>
              <a:t>Os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comandos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você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vai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digitar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toda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semana</a:t>
            </a:r>
            <a:r>
              <a:rPr sz="4800" dirty="0">
                <a:solidFill>
                  <a:srgbClr val="595959"/>
                </a:solidFill>
                <a:latin typeface="Calibri"/>
              </a:rPr>
              <a:t>,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pelo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resto do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curso</a:t>
            </a:r>
            <a:r>
              <a:rPr sz="48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4742" y="4750000"/>
            <a:ext cx="333937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 dirty="0">
                <a:solidFill>
                  <a:srgbClr val="F5AC00"/>
                </a:solidFill>
                <a:latin typeface="Calibri"/>
              </a:rPr>
              <a:t>PARTE </a:t>
            </a:r>
            <a:r>
              <a:rPr lang="en-US" sz="7200" b="1" dirty="0">
                <a:solidFill>
                  <a:srgbClr val="F5AC00"/>
                </a:solidFill>
                <a:latin typeface="Calibri"/>
              </a:rPr>
              <a:t>5</a:t>
            </a:r>
            <a:endParaRPr sz="7200" b="1" dirty="0">
              <a:solidFill>
                <a:srgbClr val="F5AC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38378" y="12520000"/>
            <a:ext cx="6014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595959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Ciclo de Vida do Terraform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30</a:t>
            </a:r>
          </a:p>
        </p:txBody>
      </p:sp>
      <p:pic>
        <p:nvPicPr>
          <p:cNvPr id="5" name="Picture 4" descr="02-fluxo-de-trab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91" y="3179983"/>
            <a:ext cx="10669048" cy="871879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400" b="1">
                <a:solidFill>
                  <a:srgbClr val="0070C0"/>
                </a:solidFill>
                <a:latin typeface="Calibri"/>
              </a:rPr>
              <a:t>Comandos — Ciclo de Vida 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682122"/>
              </p:ext>
            </p:extLst>
          </p:nvPr>
        </p:nvGraphicFramePr>
        <p:xfrm>
          <a:off x="1689100" y="4406900"/>
          <a:ext cx="19170650" cy="5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500"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FFFFFF"/>
                          </a:solidFill>
                          <a:latin typeface="Calibri"/>
                        </a:rPr>
                        <a:t>Comando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FFFFFF"/>
                          </a:solidFill>
                          <a:latin typeface="Calibri"/>
                        </a:rPr>
                        <a:t>O que faz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terraform init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baixa os providers/módulos declarados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terraform validate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checa sintaxe e consistência interna, sem tocar em nada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terraform fmt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formata o código no padrão oficial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800" dirty="0">
                          <a:solidFill>
                            <a:srgbClr val="262626"/>
                          </a:solidFill>
                          <a:latin typeface="Consolas"/>
                        </a:rPr>
                        <a:t>terraform plan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calcula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e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mostra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as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mudanças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,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sem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aplicar</a:t>
                      </a:r>
                      <a:endParaRPr sz="2800" dirty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terraform apply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executa as mudanças de verdade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terraform destroy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remove tudo que está no state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terraform refresh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atualiza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o state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comparando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 com a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nuvem</a:t>
                      </a:r>
                      <a:endParaRPr sz="2800" dirty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Comandos — Estado e Utilitários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590408"/>
              </p:ext>
            </p:extLst>
          </p:nvPr>
        </p:nvGraphicFramePr>
        <p:xfrm>
          <a:off x="1689100" y="4406900"/>
          <a:ext cx="19170650" cy="5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500"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</a:rPr>
                        <a:t>Comando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O que faz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terraform import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traz um recurso existente para o controle do Terraform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terraform state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subcomandos para inspecionar/editar o state (list, show, mv, rm)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terraform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imprime os valores declarados em blocos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terraform console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abre o REPL interativo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terraform workspace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gerencia workspaces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terraform graph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alibri"/>
                        </a:rPr>
                        <a:t>gera o grafo de dependências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62626"/>
                          </a:solidFill>
                          <a:latin typeface="Consolas"/>
                        </a:rPr>
                        <a:t>terraform apply -replace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força</a:t>
                      </a:r>
                      <a:r>
                        <a:rPr sz="2400" dirty="0">
                          <a:solidFill>
                            <a:srgbClr val="262626"/>
                          </a:solidFill>
                          <a:latin typeface="Calibri"/>
                        </a:rPr>
                        <a:t> a </a:t>
                      </a:r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recriação</a:t>
                      </a:r>
                      <a:r>
                        <a:rPr sz="2400" dirty="0">
                          <a:solidFill>
                            <a:srgbClr val="262626"/>
                          </a:solidFill>
                          <a:latin typeface="Calibri"/>
                        </a:rPr>
                        <a:t> de um </a:t>
                      </a:r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recurso</a:t>
                      </a:r>
                      <a:r>
                        <a:rPr sz="2400" dirty="0">
                          <a:solidFill>
                            <a:srgbClr val="262626"/>
                          </a:solidFill>
                          <a:latin typeface="Calibri"/>
                        </a:rPr>
                        <a:t> </a:t>
                      </a:r>
                      <a:r>
                        <a:rPr sz="2400" dirty="0" err="1">
                          <a:solidFill>
                            <a:srgbClr val="262626"/>
                          </a:solidFill>
                          <a:latin typeface="Calibri"/>
                        </a:rPr>
                        <a:t>específico</a:t>
                      </a:r>
                      <a:endParaRPr sz="2400" dirty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 dirty="0">
                <a:solidFill>
                  <a:srgbClr val="0070C0"/>
                </a:solidFill>
                <a:latin typeface="Calibri"/>
              </a:rPr>
              <a:t>Pratique Agora: 5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Minutos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com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os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Comandos</a:t>
            </a:r>
            <a:r>
              <a:rPr lang="en-US" sz="5400" b="1" dirty="0">
                <a:solidFill>
                  <a:srgbClr val="0070C0"/>
                </a:solidFill>
                <a:latin typeface="Calibri"/>
              </a:rPr>
              <a:t> (</a:t>
            </a:r>
            <a:r>
              <a:rPr lang="en-US" sz="5400" b="1" dirty="0" err="1">
                <a:solidFill>
                  <a:srgbClr val="0070C0"/>
                </a:solidFill>
                <a:latin typeface="Calibri"/>
              </a:rPr>
              <a:t>opcional</a:t>
            </a:r>
            <a:r>
              <a:rPr lang="en-US" sz="5400" b="1" dirty="0">
                <a:solidFill>
                  <a:srgbClr val="0070C0"/>
                </a:solidFill>
                <a:latin typeface="Calibri"/>
              </a:rPr>
              <a:t>)</a:t>
            </a:r>
            <a:endParaRPr sz="54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O que fazer:  </a:t>
            </a:r>
            <a:r>
              <a:rPr sz="3600">
                <a:solidFill>
                  <a:srgbClr val="262626"/>
                </a:solidFill>
                <a:latin typeface="Calibri"/>
              </a:rPr>
              <a:t>volte a uma das pastas dos Exemplos 1 a 4 (Parte 3) e rode, na ordem: terraform plan, terraform apply, terraform output, terraform destroy.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Preste atenção:  </a:t>
            </a:r>
            <a:r>
              <a:rPr sz="3600">
                <a:solidFill>
                  <a:srgbClr val="262626"/>
                </a:solidFill>
                <a:latin typeface="Calibri"/>
              </a:rPr>
              <a:t>o plan mostra exatamente o que vai mudar antes de qualquer coisa acontecer — compare o que ele prevê com o que o apply de fato faz.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Se sobrar tempo:  </a:t>
            </a:r>
            <a:r>
              <a:rPr sz="3600">
                <a:solidFill>
                  <a:srgbClr val="262626"/>
                </a:solidFill>
                <a:latin typeface="Calibri"/>
              </a:rPr>
              <a:t>rode terraform state list para ver os recursos que o Terraform está controlando naquela pasta.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5951" y="4647646"/>
            <a:ext cx="19170650" cy="2000000"/>
          </a:xfrm>
        </p:spPr>
        <p:txBody>
          <a:bodyPr wrap="square">
            <a:normAutofit/>
          </a:bodyPr>
          <a:lstStyle/>
          <a:p>
            <a:pPr algn="l"/>
            <a:r>
              <a:rPr sz="6600" b="1" dirty="0" err="1">
                <a:solidFill>
                  <a:srgbClr val="004A8F"/>
                </a:solidFill>
                <a:latin typeface="Calibri"/>
              </a:rPr>
              <a:t>Blocos</a:t>
            </a:r>
            <a:r>
              <a:rPr sz="6600" b="1" dirty="0">
                <a:solidFill>
                  <a:srgbClr val="004A8F"/>
                </a:solidFill>
                <a:latin typeface="Calibri"/>
              </a:rPr>
              <a:t> da </a:t>
            </a:r>
            <a:r>
              <a:rPr sz="6600" b="1" dirty="0" err="1">
                <a:solidFill>
                  <a:srgbClr val="004A8F"/>
                </a:solidFill>
                <a:latin typeface="Calibri"/>
              </a:rPr>
              <a:t>Linguagem</a:t>
            </a:r>
            <a:endParaRPr sz="6600" b="1" dirty="0">
              <a:solidFill>
                <a:srgbClr val="004A8F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5150735" y="7897712"/>
            <a:ext cx="11736728" cy="2000000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4000" dirty="0">
                <a:solidFill>
                  <a:srgbClr val="595959"/>
                </a:solidFill>
                <a:latin typeface="Calibri"/>
              </a:rPr>
              <a:t>O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vocabulário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o Terraform de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fato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reserva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— e o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só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parece</a:t>
            </a:r>
            <a:r>
              <a:rPr sz="4000" dirty="0">
                <a:solidFill>
                  <a:srgbClr val="595959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595959"/>
                </a:solidFill>
                <a:latin typeface="Calibri"/>
              </a:rPr>
              <a:t>reservado</a:t>
            </a:r>
            <a:r>
              <a:rPr sz="40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1592" y="3997646"/>
            <a:ext cx="333937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 dirty="0">
                <a:solidFill>
                  <a:srgbClr val="F5AC00"/>
                </a:solidFill>
                <a:latin typeface="Calibri"/>
              </a:rPr>
              <a:t>PARTE </a:t>
            </a:r>
            <a:r>
              <a:rPr lang="en-US" sz="7200" b="1" dirty="0">
                <a:solidFill>
                  <a:srgbClr val="F5AC00"/>
                </a:solidFill>
                <a:latin typeface="Calibri"/>
              </a:rPr>
              <a:t>6</a:t>
            </a:r>
            <a:endParaRPr sz="7200" b="1" dirty="0">
              <a:solidFill>
                <a:srgbClr val="F5AC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68127" y="11767646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212900"/>
            <a:ext cx="19170650" cy="901700"/>
          </a:xfrm>
        </p:spPr>
        <p:txBody>
          <a:bodyPr/>
          <a:lstStyle/>
          <a:p>
            <a:r>
              <a:rPr sz="3600" b="1" dirty="0" err="1">
                <a:solidFill>
                  <a:srgbClr val="0070C0"/>
                </a:solidFill>
                <a:latin typeface="Calibri"/>
              </a:rPr>
              <a:t>Os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Blocos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da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Linguagem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HCL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35</a:t>
            </a:r>
          </a:p>
        </p:txBody>
      </p:sp>
      <p:pic>
        <p:nvPicPr>
          <p:cNvPr id="5" name="Picture 4" descr="03-blocos-da-lingu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977" y="2114600"/>
            <a:ext cx="11581868" cy="9772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Prefixos de Referência (o "espelho" de cada bloco)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00414"/>
              </p:ext>
            </p:extLst>
          </p:nvPr>
        </p:nvGraphicFramePr>
        <p:xfrm>
          <a:off x="1689100" y="4406900"/>
          <a:ext cx="19170650" cy="4783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0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0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0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333"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Calibri"/>
                        </a:rPr>
                        <a:t>Prefixo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Calibri"/>
                        </a:rPr>
                        <a:t>Referencia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Calibri"/>
                        </a:rPr>
                        <a:t>Exemplo</a:t>
                      </a:r>
                    </a:p>
                  </a:txBody>
                  <a:tcPr anchor="ctr">
                    <a:solidFill>
                      <a:srgbClr val="00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333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var.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um 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var.regiao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333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local.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um locals (singular, mesmo o bloco sendo plural)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local.nome_padrao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333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module.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o output de um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module.vpc.id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333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data.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um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data.aws_ami.ubuntu.id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335"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onsolas"/>
                        </a:rPr>
                        <a:t>path.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>
                          <a:solidFill>
                            <a:srgbClr val="262626"/>
                          </a:solidFill>
                          <a:latin typeface="Calibri"/>
                        </a:rPr>
                        <a:t>caminhos especiais (não vem de bloco nenhum)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path.module</a:t>
                      </a:r>
                      <a:r>
                        <a:rPr sz="2800" dirty="0">
                          <a:solidFill>
                            <a:srgbClr val="262626"/>
                          </a:solidFill>
                          <a:latin typeface="Calibri"/>
                        </a:rPr>
                        <a:t>, </a:t>
                      </a:r>
                      <a:r>
                        <a:rPr sz="2800" dirty="0" err="1">
                          <a:solidFill>
                            <a:srgbClr val="262626"/>
                          </a:solidFill>
                          <a:latin typeface="Calibri"/>
                        </a:rPr>
                        <a:t>path.root</a:t>
                      </a:r>
                      <a:endParaRPr sz="2800" dirty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Meta-argumentos: count, for_each, depends_on,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Meta-argumentos:  </a:t>
            </a:r>
            <a:r>
              <a:rPr sz="3600">
                <a:solidFill>
                  <a:srgbClr val="262626"/>
                </a:solidFill>
                <a:latin typeface="Calibri"/>
              </a:rPr>
              <a:t>não são resources — são argumentos especiais que mudam o comportamento de qualquer resource ou module.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count:  </a:t>
            </a:r>
            <a:r>
              <a:rPr sz="3600">
                <a:solidFill>
                  <a:srgbClr val="262626"/>
                </a:solidFill>
                <a:latin typeface="Calibri"/>
              </a:rPr>
              <a:t>cria N instâncias, indexadas por número. Frágil: se um item sai do meio de uma lista, os índices deslocam e o Terraform pode destruir/recriar a coisa errada.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for_each:  </a:t>
            </a:r>
            <a:r>
              <a:rPr sz="3600">
                <a:solidFill>
                  <a:srgbClr val="262626"/>
                </a:solidFill>
                <a:latin typeface="Calibri"/>
              </a:rPr>
              <a:t>cria uma instância por item de um mapa/set, com chaves estáveis — é o padrão recomendado hoje para listas que podem mudar.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depends_on:  </a:t>
            </a:r>
            <a:r>
              <a:rPr sz="3600">
                <a:solidFill>
                  <a:srgbClr val="262626"/>
                </a:solidFill>
                <a:latin typeface="Calibri"/>
              </a:rPr>
              <a:t>força uma dependência explícita, quando o Terraform não consegue inferir a ordem sozinho.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lifecycle:  </a:t>
            </a:r>
            <a:r>
              <a:rPr sz="3600">
                <a:solidFill>
                  <a:srgbClr val="262626"/>
                </a:solidFill>
                <a:latin typeface="Calibri"/>
              </a:rPr>
              <a:t>bloco aninhado com regras especiais: create_before_destroy, prevent_destroy, ignore_changes.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404450"/>
            <a:ext cx="19170650" cy="954169"/>
          </a:xfrm>
        </p:spPr>
        <p:txBody>
          <a:bodyPr>
            <a:noAutofit/>
          </a:bodyPr>
          <a:lstStyle/>
          <a:p>
            <a:r>
              <a:rPr sz="4000" b="1" dirty="0">
                <a:solidFill>
                  <a:srgbClr val="0070C0"/>
                </a:solidFill>
                <a:latin typeface="Calibri"/>
              </a:rPr>
              <a:t>Resource Group, </a:t>
            </a:r>
            <a:r>
              <a:rPr sz="4000" b="1" dirty="0" err="1">
                <a:solidFill>
                  <a:srgbClr val="0070C0"/>
                </a:solidFill>
                <a:latin typeface="Calibri"/>
              </a:rPr>
              <a:t>Anotado</a:t>
            </a:r>
            <a:endParaRPr sz="40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38</a:t>
            </a:r>
          </a:p>
        </p:txBody>
      </p:sp>
      <p:pic>
        <p:nvPicPr>
          <p:cNvPr id="5" name="Picture 4" descr="02-resource-group-anotado.png"/>
          <p:cNvPicPr>
            <a:picLocks noChangeAspect="1"/>
          </p:cNvPicPr>
          <p:nvPr/>
        </p:nvPicPr>
        <p:blipFill>
          <a:blip r:embed="rId2"/>
          <a:srcRect l="4912" t="12712" r="5312" b="4850"/>
          <a:stretch>
            <a:fillRect/>
          </a:stretch>
        </p:blipFill>
        <p:spPr>
          <a:xfrm>
            <a:off x="2589100" y="2567069"/>
            <a:ext cx="17722128" cy="95360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748335"/>
          </a:xfrm>
        </p:spPr>
        <p:txBody>
          <a:bodyPr/>
          <a:lstStyle/>
          <a:p>
            <a:r>
              <a:rPr sz="3600" b="1" dirty="0" err="1">
                <a:solidFill>
                  <a:srgbClr val="0070C0"/>
                </a:solidFill>
                <a:latin typeface="Calibri"/>
              </a:rPr>
              <a:t>Exemplo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Completo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,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Anotado</a:t>
            </a:r>
            <a:endParaRPr sz="36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39</a:t>
            </a:r>
          </a:p>
        </p:txBody>
      </p:sp>
      <p:pic>
        <p:nvPicPr>
          <p:cNvPr id="5" name="Picture 4" descr="03-exemplo-completo-anotado.png"/>
          <p:cNvPicPr>
            <a:picLocks noChangeAspect="1"/>
          </p:cNvPicPr>
          <p:nvPr/>
        </p:nvPicPr>
        <p:blipFill>
          <a:blip r:embed="rId2"/>
          <a:srcRect t="6779"/>
          <a:stretch>
            <a:fillRect/>
          </a:stretch>
        </p:blipFill>
        <p:spPr>
          <a:xfrm>
            <a:off x="7476942" y="2361235"/>
            <a:ext cx="9053588" cy="974186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rmAutofit/>
          </a:bodyPr>
          <a:lstStyle/>
          <a:p>
            <a:r>
              <a:rPr sz="7200" b="1" dirty="0">
                <a:solidFill>
                  <a:srgbClr val="004A8F"/>
                </a:solidFill>
                <a:latin typeface="Calibri"/>
              </a:rPr>
              <a:t>Multi-Cloud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4409955" y="7665746"/>
            <a:ext cx="15741570" cy="2000000"/>
          </a:xfr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buNone/>
            </a:pPr>
            <a:r>
              <a:rPr sz="4400" dirty="0">
                <a:solidFill>
                  <a:srgbClr val="595959"/>
                </a:solidFill>
                <a:latin typeface="Calibri"/>
              </a:rPr>
              <a:t>Uma ferramenta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só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para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aprender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não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um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código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595959"/>
                </a:solidFill>
                <a:latin typeface="Calibri"/>
              </a:rPr>
              <a:t>genérico</a:t>
            </a:r>
            <a:r>
              <a:rPr sz="4400" dirty="0">
                <a:solidFill>
                  <a:srgbClr val="595959"/>
                </a:solidFill>
                <a:latin typeface="Calibri"/>
              </a:rPr>
              <a:t> universal.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3416" y="4750000"/>
            <a:ext cx="17620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5AC00"/>
                </a:solidFill>
                <a:latin typeface="Calibri"/>
              </a:rPr>
              <a:t>PARTE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678887"/>
          </a:xfrm>
        </p:spPr>
        <p:txBody>
          <a:bodyPr/>
          <a:lstStyle/>
          <a:p>
            <a:r>
              <a:rPr sz="3600" b="1" dirty="0">
                <a:solidFill>
                  <a:srgbClr val="0070C0"/>
                </a:solidFill>
                <a:latin typeface="Calibri"/>
              </a:rPr>
              <a:t>Multi-Cloud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48</a:t>
            </a:r>
          </a:p>
        </p:txBody>
      </p:sp>
      <p:pic>
        <p:nvPicPr>
          <p:cNvPr id="5" name="Picture 4" descr="05-multi-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63" y="2578099"/>
            <a:ext cx="11517572" cy="93901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400000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rgbClr val="0070C0"/>
                </a:solidFill>
                <a:latin typeface="Calibri"/>
              </a:rPr>
              <a:t>Multi-Cloud,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Anotado</a:t>
            </a:r>
            <a:endParaRPr sz="36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49</a:t>
            </a:r>
          </a:p>
        </p:txBody>
      </p:sp>
      <p:pic>
        <p:nvPicPr>
          <p:cNvPr id="5" name="Picture 4" descr="04-multicloud-anotado.png"/>
          <p:cNvPicPr>
            <a:picLocks noChangeAspect="1"/>
          </p:cNvPicPr>
          <p:nvPr/>
        </p:nvPicPr>
        <p:blipFill>
          <a:blip r:embed="rId2"/>
          <a:srcRect t="7289"/>
          <a:stretch>
            <a:fillRect/>
          </a:stretch>
        </p:blipFill>
        <p:spPr>
          <a:xfrm>
            <a:off x="5973939" y="2291787"/>
            <a:ext cx="11150530" cy="1001210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0" y="2774870"/>
            <a:ext cx="19170650" cy="7823200"/>
          </a:xfr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sz="6600" b="1" i="1" dirty="0">
                <a:solidFill>
                  <a:srgbClr val="004A8F"/>
                </a:solidFill>
                <a:latin typeface="Calibri"/>
              </a:rPr>
              <a:t>Terraform é Multi-Cloud —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Dá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pra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Migrar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de Azure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pra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AWS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só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Trocando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o Provider?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7200" b="1">
                <a:solidFill>
                  <a:srgbClr val="0070C0"/>
                </a:solidFill>
                <a:latin typeface="Calibri"/>
              </a:rPr>
              <a:t>Resposta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Não automaticamente.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A linguagem (HCL) e os conceitos (resource, state, plan/apply) são os mesmos, mas cada provider expõe tipos de resource com nomes e atributos diferentes.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azurerm_storage_account não é aws_s3_bucket com um find-and-replace.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"Multi-cloud" aqui significa "uma ferramenta só para aprender", não "código genérico universal".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rmAutofit/>
          </a:bodyPr>
          <a:lstStyle/>
          <a:p>
            <a:r>
              <a:rPr sz="8800" b="1">
                <a:solidFill>
                  <a:srgbClr val="004A8F"/>
                </a:solidFill>
                <a:latin typeface="Calibri"/>
              </a:rPr>
              <a:t>Boas Práticas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6261903" y="7700471"/>
            <a:ext cx="8113853" cy="2000000"/>
          </a:xfrm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buNone/>
            </a:pPr>
            <a:r>
              <a:rPr sz="5400" dirty="0">
                <a:solidFill>
                  <a:srgbClr val="595959"/>
                </a:solidFill>
                <a:latin typeface="Calibri"/>
              </a:rPr>
              <a:t>O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separa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um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código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Terraform de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estudo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de um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código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pronto para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produção</a:t>
            </a:r>
            <a:r>
              <a:rPr sz="54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8689" y="4750000"/>
            <a:ext cx="211147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5AC00"/>
                </a:solidFill>
                <a:latin typeface="Calibri"/>
              </a:rPr>
              <a:t>PARTE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53" y="824535"/>
            <a:ext cx="19170650" cy="2286000"/>
          </a:xfrm>
        </p:spPr>
        <p:txBody>
          <a:bodyPr/>
          <a:lstStyle/>
          <a:p>
            <a:r>
              <a:rPr sz="3600" b="1" dirty="0">
                <a:solidFill>
                  <a:srgbClr val="0070C0"/>
                </a:solidFill>
                <a:latin typeface="Calibri"/>
              </a:rPr>
              <a:t>Boas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Práticas</a:t>
            </a:r>
            <a:endParaRPr sz="36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53</a:t>
            </a:r>
          </a:p>
        </p:txBody>
      </p:sp>
      <p:pic>
        <p:nvPicPr>
          <p:cNvPr id="5" name="Picture 4" descr="06-boas-prat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7" y="2508651"/>
            <a:ext cx="10759723" cy="942484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Segurança: State e Privilégio Mínimo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State como superfície de risco:  </a:t>
            </a:r>
            <a:r>
              <a:rPr sz="4000">
                <a:solidFill>
                  <a:srgbClr val="262626"/>
                </a:solidFill>
                <a:latin typeface="Calibri"/>
              </a:rPr>
              <a:t>nunca commitar terraform.tfstate no Git — ele pode conter segredos em texto plano, mesmo os marcados sensitive.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Least privilege:  </a:t>
            </a:r>
            <a:r>
              <a:rPr sz="4000">
                <a:solidFill>
                  <a:srgbClr val="262626"/>
                </a:solidFill>
                <a:latin typeface="Calibri"/>
              </a:rPr>
              <a:t>a credencial que o Terraform usa para falar com a nuvem deveria ter só as permissões necessárias, não acesso de administrador total.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Lockfile de versões:  </a:t>
            </a:r>
            <a:r>
              <a:rPr sz="4000">
                <a:solidFill>
                  <a:srgbClr val="262626"/>
                </a:solidFill>
                <a:latin typeface="Calibri"/>
              </a:rPr>
              <a:t>.terraform.lock.hcl trava o hash dos providers — garante que todo mundo do time baixa exatamente a mesma versão.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CI/CD:  </a:t>
            </a:r>
            <a:r>
              <a:rPr sz="4000">
                <a:solidFill>
                  <a:srgbClr val="262626"/>
                </a:solidFill>
                <a:latin typeface="Calibri"/>
              </a:rPr>
              <a:t>plan roda automaticamente no Pull Request; apply só acontece após aprovação humana — nunca automático em produção sem revisão.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400000"/>
          </a:xfrm>
        </p:spPr>
        <p:txBody>
          <a:bodyPr>
            <a:normAutofit fontScale="90000"/>
          </a:bodyPr>
          <a:lstStyle/>
          <a:p>
            <a:r>
              <a:rPr sz="3200" b="1" dirty="0">
                <a:solidFill>
                  <a:srgbClr val="0070C0"/>
                </a:solidFill>
                <a:latin typeface="Calibri"/>
              </a:rPr>
              <a:t>Site com </a:t>
            </a:r>
            <a:r>
              <a:rPr sz="3200" b="1" dirty="0" err="1">
                <a:solidFill>
                  <a:srgbClr val="0070C0"/>
                </a:solidFill>
                <a:latin typeface="Calibri"/>
              </a:rPr>
              <a:t>Formulário</a:t>
            </a:r>
            <a:r>
              <a:rPr sz="3200" b="1" dirty="0">
                <a:solidFill>
                  <a:srgbClr val="0070C0"/>
                </a:solidFill>
                <a:latin typeface="Calibri"/>
              </a:rPr>
              <a:t> + Banco, </a:t>
            </a:r>
            <a:r>
              <a:rPr sz="3200" b="1" dirty="0" err="1">
                <a:solidFill>
                  <a:srgbClr val="0070C0"/>
                </a:solidFill>
                <a:latin typeface="Calibri"/>
              </a:rPr>
              <a:t>Anotado</a:t>
            </a:r>
            <a:endParaRPr sz="32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55</a:t>
            </a:r>
          </a:p>
        </p:txBody>
      </p:sp>
      <p:pic>
        <p:nvPicPr>
          <p:cNvPr id="5" name="Picture 4" descr="05-site-formulario-banco-anotado.png"/>
          <p:cNvPicPr>
            <a:picLocks noChangeAspect="1"/>
          </p:cNvPicPr>
          <p:nvPr/>
        </p:nvPicPr>
        <p:blipFill>
          <a:blip r:embed="rId2"/>
          <a:srcRect t="3358" b="53204"/>
          <a:stretch>
            <a:fillRect/>
          </a:stretch>
        </p:blipFill>
        <p:spPr>
          <a:xfrm>
            <a:off x="1825171" y="2540643"/>
            <a:ext cx="9245773" cy="8634714"/>
          </a:xfrm>
          <a:prstGeom prst="rect">
            <a:avLst/>
          </a:prstGeom>
        </p:spPr>
      </p:pic>
      <p:pic>
        <p:nvPicPr>
          <p:cNvPr id="7" name="Picture 4" descr="05-site-formulario-banco-anotado.png">
            <a:extLst>
              <a:ext uri="{FF2B5EF4-FFF2-40B4-BE49-F238E27FC236}">
                <a16:creationId xmlns:a16="http://schemas.microsoft.com/office/drawing/2014/main" id="{910D0004-4957-92A4-8C07-CC511C09F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329"/>
          <a:stretch>
            <a:fillRect/>
          </a:stretch>
        </p:blipFill>
        <p:spPr>
          <a:xfrm>
            <a:off x="11413079" y="2754774"/>
            <a:ext cx="8078689" cy="914833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rmAutofit/>
          </a:bodyPr>
          <a:lstStyle/>
          <a:p>
            <a:r>
              <a:rPr sz="8000" b="1">
                <a:solidFill>
                  <a:srgbClr val="004A8F"/>
                </a:solidFill>
                <a:latin typeface="Calibri"/>
              </a:rPr>
              <a:t>Ecossistema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4386805" y="7400000"/>
            <a:ext cx="15174410" cy="2000000"/>
          </a:xfr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buNone/>
            </a:pPr>
            <a:r>
              <a:rPr sz="4800" dirty="0">
                <a:solidFill>
                  <a:srgbClr val="595959"/>
                </a:solidFill>
                <a:latin typeface="Calibri"/>
              </a:rPr>
              <a:t>O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contexto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de mercado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ao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redor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do Terraform — o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4800" dirty="0">
                <a:solidFill>
                  <a:srgbClr val="595959"/>
                </a:solidFill>
                <a:latin typeface="Calibri"/>
              </a:rPr>
              <a:t> vale saber </a:t>
            </a:r>
            <a:r>
              <a:rPr sz="4800" dirty="0" err="1">
                <a:solidFill>
                  <a:srgbClr val="595959"/>
                </a:solidFill>
                <a:latin typeface="Calibri"/>
              </a:rPr>
              <a:t>citar</a:t>
            </a:r>
            <a:r>
              <a:rPr sz="48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6854" y="4750000"/>
            <a:ext cx="193514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5AC00"/>
                </a:solidFill>
                <a:latin typeface="Calibri"/>
              </a:rPr>
              <a:t>PARTE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8378" y="12520000"/>
            <a:ext cx="6014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595959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Terraform no Contexto do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OpenTofu:  </a:t>
            </a:r>
            <a:r>
              <a:rPr sz="4000">
                <a:solidFill>
                  <a:srgbClr val="262626"/>
                </a:solidFill>
                <a:latin typeface="Calibri"/>
              </a:rPr>
              <a:t>fork open-source do Terraform, criado pela Linux Foundation depois que a HashiCorp mudou a licença do Terraform (de MPL para BUSL) em 2023.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Terraform x Pulumi:  </a:t>
            </a:r>
            <a:r>
              <a:rPr sz="4000">
                <a:solidFill>
                  <a:srgbClr val="262626"/>
                </a:solidFill>
                <a:latin typeface="Calibri"/>
              </a:rPr>
              <a:t>Pulumi usa linguagens de programação de verdade (Python, TypeScript) em vez de HCL.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Terraform x CloudFormation/Bicep:  </a:t>
            </a:r>
            <a:r>
              <a:rPr sz="4000">
                <a:solidFill>
                  <a:srgbClr val="262626"/>
                </a:solidFill>
                <a:latin typeface="Calibri"/>
              </a:rPr>
              <a:t>essas são "nativas" de uma única nuvem (AWS/Azure); Terraform é multi-provider.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Terraform x Ansible/Chef/Puppet:  </a:t>
            </a:r>
            <a:r>
              <a:rPr sz="4000">
                <a:solidFill>
                  <a:srgbClr val="262626"/>
                </a:solidFill>
                <a:latin typeface="Calibri"/>
              </a:rPr>
              <a:t>Ansible é configuration management (o que roda dentro da máquina); Terraform é provisionamento (a máquina/recurso em si). Na prática, muita gente usa os dois juntos.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Autofit/>
          </a:bodyPr>
          <a:lstStyle/>
          <a:p>
            <a:r>
              <a:rPr sz="8800" b="1">
                <a:solidFill>
                  <a:srgbClr val="004A8F"/>
                </a:solidFill>
                <a:latin typeface="Calibri"/>
              </a:rPr>
              <a:t>Ferramentas de Visualização e Geração de HCL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3067291" y="7550000"/>
            <a:ext cx="15232284" cy="2000000"/>
          </a:xfr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buNone/>
            </a:pPr>
            <a:r>
              <a:rPr sz="5400" dirty="0" err="1">
                <a:solidFill>
                  <a:srgbClr val="595959"/>
                </a:solidFill>
                <a:latin typeface="Calibri"/>
              </a:rPr>
              <a:t>Terceiros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ajudam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a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ir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desenho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para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código</a:t>
            </a:r>
            <a:r>
              <a:rPr sz="5400" dirty="0">
                <a:solidFill>
                  <a:srgbClr val="595959"/>
                </a:solidFill>
                <a:latin typeface="Calibri"/>
              </a:rPr>
              <a:t>,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ou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código</a:t>
            </a:r>
            <a:r>
              <a:rPr sz="5400" dirty="0">
                <a:solidFill>
                  <a:srgbClr val="595959"/>
                </a:solidFill>
                <a:latin typeface="Calibri"/>
              </a:rPr>
              <a:t> para </a:t>
            </a:r>
            <a:r>
              <a:rPr sz="5400" dirty="0" err="1">
                <a:solidFill>
                  <a:srgbClr val="595959"/>
                </a:solidFill>
                <a:latin typeface="Calibri"/>
              </a:rPr>
              <a:t>diagrama</a:t>
            </a:r>
            <a:r>
              <a:rPr sz="54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6020" y="3886400"/>
            <a:ext cx="239681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F5AC00"/>
                </a:solidFill>
                <a:latin typeface="Calibri"/>
              </a:rPr>
              <a:t>PARTE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1276" y="12520000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 dirty="0" err="1">
                <a:solidFill>
                  <a:srgbClr val="0070C0"/>
                </a:solidFill>
                <a:latin typeface="Calibri"/>
              </a:rPr>
              <a:t>Desenho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→ Código (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montar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HCL do zero)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Structura.io: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a interface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arrastar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soltar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escreve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Terraform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tempo real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conforme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você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mexe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campos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vendida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forma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aprender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sintaxe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HCL do zero,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gerar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produção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dirty="0" err="1">
                <a:solidFill>
                  <a:srgbClr val="004A8F"/>
                </a:solidFill>
                <a:latin typeface="Calibri"/>
              </a:rPr>
              <a:t>Brainboard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canvas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arquitetura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com drag &amp; drop;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também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consegue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ler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repositório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Terraform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existente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desenhar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diagrama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volta —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funciona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dois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sentidos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CloudForge: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designer multi-cloud (Azure, AWS e GCP)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gera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Terraform,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Pulumi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ARM, Bicep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CloudFormation 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partir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desenho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dirty="0" err="1">
                <a:solidFill>
                  <a:srgbClr val="004A8F"/>
                </a:solidFill>
                <a:latin typeface="Calibri"/>
              </a:rPr>
              <a:t>Terraforge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(open-source):  </a:t>
            </a:r>
            <a:r>
              <a:rPr sz="4000" dirty="0">
                <a:solidFill>
                  <a:srgbClr val="262626"/>
                </a:solidFill>
                <a:latin typeface="Calibri"/>
              </a:rPr>
              <a:t>editor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tipo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grafo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nós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exporta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.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tf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real, mas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ainda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executa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comandos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Terraform —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código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sai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formatação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validação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sempre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rodar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terraform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fmt</a:t>
            </a:r>
            <a:r>
              <a:rPr sz="4000" dirty="0">
                <a:solidFill>
                  <a:srgbClr val="262626"/>
                </a:solidFill>
                <a:latin typeface="Calibri"/>
              </a:rPr>
              <a:t>/validate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depois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7200" b="1">
                <a:solidFill>
                  <a:srgbClr val="0070C0"/>
                </a:solidFill>
                <a:latin typeface="Calibri"/>
              </a:rPr>
              <a:t>Código → Diagrama (visualizar o que já existe)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 b="1">
                <a:solidFill>
                  <a:srgbClr val="004A8F"/>
                </a:solidFill>
                <a:latin typeface="Calibri"/>
              </a:rPr>
              <a:t>Inframap, Rover e Terraform Visual:  </a:t>
            </a:r>
            <a:r>
              <a:rPr sz="4800">
                <a:solidFill>
                  <a:srgbClr val="262626"/>
                </a:solidFill>
                <a:latin typeface="Calibri"/>
              </a:rPr>
              <a:t>leem sua configuração, state ou plano Terraform e transformam isso em diagramas de infraestrutura.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 b="1">
                <a:solidFill>
                  <a:srgbClr val="004A8F"/>
                </a:solidFill>
                <a:latin typeface="Calibri"/>
              </a:rPr>
              <a:t>terraform graph:  </a:t>
            </a:r>
            <a:r>
              <a:rPr sz="4800">
                <a:solidFill>
                  <a:srgbClr val="262626"/>
                </a:solidFill>
                <a:latin typeface="Calibri"/>
              </a:rPr>
              <a:t>o comando nativo que já vimos no fluxo de trabalho — gera o grafo de dependências; essas ferramentas complementam ele com uma UI melhor.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2730" y="12520000"/>
            <a:ext cx="6527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595959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7200" b="1">
                <a:solidFill>
                  <a:srgbClr val="0070C0"/>
                </a:solidFill>
                <a:latin typeface="Calibri"/>
              </a:rPr>
              <a:t>Aviso: Nenhuma é Oficial da HashiCorp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Nem a própria HCP Terraform tem um "construtor visual" nativo de blocos.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São todas ferramentas de terceiros — qualidade e manutenção variam bastante.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O HCL gerado por qualquer uma delas sempre merece revisão antes do apply.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Autofit/>
          </a:bodyPr>
          <a:lstStyle/>
          <a:p>
            <a:pPr algn="l"/>
            <a:r>
              <a:rPr sz="6000" b="1">
                <a:solidFill>
                  <a:srgbClr val="004A8F"/>
                </a:solidFill>
                <a:latin typeface="Calibri"/>
              </a:rPr>
              <a:t>Demonstração: Provisionando a Infra do Projeto-Guia PCDF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5301203" y="7400000"/>
            <a:ext cx="11065398" cy="2000000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3600" dirty="0">
                <a:solidFill>
                  <a:srgbClr val="595959"/>
                </a:solidFill>
                <a:latin typeface="Calibri"/>
              </a:rPr>
              <a:t>Agora sim: o </a:t>
            </a:r>
            <a:r>
              <a:rPr sz="3600" dirty="0" err="1">
                <a:solidFill>
                  <a:srgbClr val="595959"/>
                </a:solidFill>
                <a:latin typeface="Calibri"/>
              </a:rPr>
              <a:t>primeiro</a:t>
            </a:r>
            <a:r>
              <a:rPr sz="3600" dirty="0">
                <a:solidFill>
                  <a:srgbClr val="595959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595959"/>
                </a:solidFill>
                <a:latin typeface="Calibri"/>
              </a:rPr>
              <a:t>contato</a:t>
            </a:r>
            <a:r>
              <a:rPr sz="3600" dirty="0">
                <a:solidFill>
                  <a:srgbClr val="595959"/>
                </a:solidFill>
                <a:latin typeface="Calibri"/>
              </a:rPr>
              <a:t> com o Azure de </a:t>
            </a:r>
            <a:r>
              <a:rPr sz="3600" dirty="0" err="1">
                <a:solidFill>
                  <a:srgbClr val="595959"/>
                </a:solidFill>
                <a:latin typeface="Calibri"/>
              </a:rPr>
              <a:t>verdade</a:t>
            </a:r>
            <a:r>
              <a:rPr sz="3600" dirty="0">
                <a:solidFill>
                  <a:srgbClr val="595959"/>
                </a:solidFill>
                <a:latin typeface="Calibri"/>
              </a:rPr>
              <a:t>, no </a:t>
            </a:r>
            <a:r>
              <a:rPr sz="3600" dirty="0" err="1">
                <a:solidFill>
                  <a:srgbClr val="595959"/>
                </a:solidFill>
                <a:latin typeface="Calibri"/>
              </a:rPr>
              <a:t>projeto-guia</a:t>
            </a:r>
            <a:r>
              <a:rPr sz="36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6770" y="4750000"/>
            <a:ext cx="15953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AC00"/>
                </a:solidFill>
                <a:latin typeface="Calibri"/>
              </a:rPr>
              <a:t>PARTE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7200" b="1">
                <a:solidFill>
                  <a:srgbClr val="0070C0"/>
                </a:solidFill>
                <a:latin typeface="Calibri"/>
              </a:rPr>
              <a:t>Recapitulando o Que Já Existe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 b="1">
                <a:solidFill>
                  <a:srgbClr val="004A8F"/>
                </a:solidFill>
                <a:latin typeface="Calibri"/>
              </a:rPr>
              <a:t>Resource Group rg-pcdf-demo:  </a:t>
            </a:r>
            <a:r>
              <a:rPr sz="4800">
                <a:solidFill>
                  <a:srgbClr val="262626"/>
                </a:solidFill>
                <a:latin typeface="Calibri"/>
              </a:rPr>
              <a:t>já existe — criado manualmente na Aula 1 via az group create, não pelo Terraform.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 b="1">
                <a:solidFill>
                  <a:srgbClr val="004A8F"/>
                </a:solidFill>
                <a:latin typeface="Calibri"/>
              </a:rPr>
              <a:t>Consequência direta:  </a:t>
            </a:r>
            <a:r>
              <a:rPr sz="4800">
                <a:solidFill>
                  <a:srgbClr val="262626"/>
                </a:solidFill>
                <a:latin typeface="Calibri"/>
              </a:rPr>
              <a:t>o Terraform de hoje vai LER esse recurso com data, não CRIAR com resource — gancho natural para reforçar a diferença entre os dois.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800" b="1">
                <a:solidFill>
                  <a:srgbClr val="004A8F"/>
                </a:solidFill>
                <a:latin typeface="Calibri"/>
              </a:rPr>
              <a:t>O que vamos criar de fato:  </a:t>
            </a:r>
            <a:r>
              <a:rPr sz="4800">
                <a:solidFill>
                  <a:srgbClr val="262626"/>
                </a:solidFill>
                <a:latin typeface="Calibri"/>
              </a:rPr>
              <a:t>uma Storage Account e um container, para guardar os BOs do projeto-guia.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2730" y="12520000"/>
            <a:ext cx="6527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595959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889000"/>
          </a:xfrm>
        </p:spPr>
        <p:txBody>
          <a:bodyPr/>
          <a:lstStyle/>
          <a:p>
            <a:r>
              <a:rPr sz="3600" b="1" dirty="0">
                <a:solidFill>
                  <a:srgbClr val="0070C0"/>
                </a:solidFill>
                <a:latin typeface="Calibri"/>
              </a:rPr>
              <a:t>Aula 02 — </a:t>
            </a:r>
            <a:r>
              <a:rPr lang="en-US" sz="3600" b="1" dirty="0">
                <a:solidFill>
                  <a:srgbClr val="0070C0"/>
                </a:solidFill>
                <a:latin typeface="Calibri"/>
              </a:rPr>
              <a:t>Preparacao do Projeto</a:t>
            </a:r>
            <a:endParaRPr sz="36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64</a:t>
            </a:r>
          </a:p>
        </p:txBody>
      </p:sp>
      <p:pic>
        <p:nvPicPr>
          <p:cNvPr id="5" name="Picture 4" descr="aula02-demo-anotado.png"/>
          <p:cNvPicPr>
            <a:picLocks noChangeAspect="1"/>
          </p:cNvPicPr>
          <p:nvPr/>
        </p:nvPicPr>
        <p:blipFill>
          <a:blip r:embed="rId2"/>
          <a:srcRect t="6006"/>
          <a:stretch>
            <a:fillRect/>
          </a:stretch>
        </p:blipFill>
        <p:spPr>
          <a:xfrm>
            <a:off x="2322092" y="2501900"/>
            <a:ext cx="8952333" cy="98044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F224BBB-47C3-2EB4-9F49-9F17726C3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548" y="2626068"/>
            <a:ext cx="9540430" cy="576863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7348BF0-1912-710A-1BBD-670679D23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1693" y="9283700"/>
            <a:ext cx="12711619" cy="212639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Passo a Passo, com Resultado Esperado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200" b="1">
                <a:solidFill>
                  <a:srgbClr val="004A8F"/>
                </a:solidFill>
                <a:latin typeface="Calibri"/>
              </a:rPr>
              <a:t>terraform init:  </a:t>
            </a:r>
            <a:r>
              <a:rPr sz="3200">
                <a:solidFill>
                  <a:srgbClr val="262626"/>
                </a:solidFill>
                <a:latin typeface="Calibri"/>
              </a:rPr>
              <a:t>"Terraform has been successfully initialized!"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200" b="1">
                <a:solidFill>
                  <a:srgbClr val="004A8F"/>
                </a:solidFill>
                <a:latin typeface="Calibri"/>
              </a:rPr>
              <a:t>terraform plan:  </a:t>
            </a:r>
            <a:r>
              <a:rPr sz="3200">
                <a:solidFill>
                  <a:srgbClr val="262626"/>
                </a:solidFill>
                <a:latin typeface="Calibri"/>
              </a:rPr>
              <a:t>"Plan: 2 to add, 0 to change, 0 to destroy." — só a Storage Account e o container contam; o data nunca aparece no plano de mudanças.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200" b="1">
                <a:solidFill>
                  <a:srgbClr val="004A8F"/>
                </a:solidFill>
                <a:latin typeface="Calibri"/>
              </a:rPr>
              <a:t>terraform apply -auto-approve:  </a:t>
            </a:r>
            <a:r>
              <a:rPr sz="3200">
                <a:solidFill>
                  <a:srgbClr val="262626"/>
                </a:solidFill>
                <a:latin typeface="Calibri"/>
              </a:rPr>
              <a:t>recursos criados; outputs exibidos no terminal.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200" b="1">
                <a:solidFill>
                  <a:srgbClr val="004A8F"/>
                </a:solidFill>
                <a:latin typeface="Calibri"/>
              </a:rPr>
              <a:t>Conferir no Portal Azure:  </a:t>
            </a:r>
            <a:r>
              <a:rPr sz="3200">
                <a:solidFill>
                  <a:srgbClr val="262626"/>
                </a:solidFill>
                <a:latin typeface="Calibri"/>
              </a:rPr>
              <a:t>portal.azure.com → Resource Groups → rg-pcdf-demo → Storage Account "stpcdfbodemo" e container "bos-raw" visíveis.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200" b="1">
                <a:solidFill>
                  <a:srgbClr val="004A8F"/>
                </a:solidFill>
                <a:latin typeface="Calibri"/>
              </a:rPr>
              <a:t>Commit:  </a:t>
            </a:r>
            <a:r>
              <a:rPr sz="3200">
                <a:solidFill>
                  <a:srgbClr val="262626"/>
                </a:solidFill>
                <a:latin typeface="Calibri"/>
              </a:rPr>
              <a:t>git add terraform/ → git commit -m "infra: storage account via terraform" → git push.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1276" y="12520000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3EB5-F402-EC21-6CC9-19EC3B40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F5CB-4915-6457-D7F1-D8048BAC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Passo a Passo, com Resultado Esperado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26CF2-B0C3-4CBD-0E91-E92109DD2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276" y="3373966"/>
            <a:ext cx="19170650" cy="1062567"/>
          </a:xfrm>
        </p:spPr>
        <p:txBody>
          <a:bodyPr wrap="square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3200" b="1" dirty="0">
                <a:solidFill>
                  <a:srgbClr val="004A8F"/>
                </a:solidFill>
                <a:latin typeface="Calibri"/>
              </a:rPr>
              <a:t>terraform plan:  </a:t>
            </a:r>
            <a:r>
              <a:rPr sz="3200" dirty="0">
                <a:solidFill>
                  <a:srgbClr val="262626"/>
                </a:solidFill>
                <a:latin typeface="Calibri"/>
              </a:rPr>
              <a:t>"Plan: 2 to add, 0 to change, 0 to destroy." —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a Storage Account e o container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contam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; o data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nunca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aparece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no plano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mudanças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9579C-446E-2ECA-A791-56A0CDF419F5}"/>
              </a:ext>
            </a:extLst>
          </p:cNvPr>
          <p:cNvSpPr txBox="1"/>
          <p:nvPr/>
        </p:nvSpPr>
        <p:spPr>
          <a:xfrm>
            <a:off x="1891276" y="12520000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65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5D8E630-AFCD-A832-ED57-9F4CD8D26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5507798"/>
            <a:ext cx="20448654" cy="470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61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99DCE-BC3A-4AE6-13FE-89AD9649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2EA0-3051-022F-37AE-DDCAA273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Passo a Passo, com Resultado Esperado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04EB5-6C75-FC83-8DBD-F4FC62C78C42}"/>
              </a:ext>
            </a:extLst>
          </p:cNvPr>
          <p:cNvSpPr txBox="1"/>
          <p:nvPr/>
        </p:nvSpPr>
        <p:spPr>
          <a:xfrm>
            <a:off x="1891276" y="12520000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65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16BE0EA-FC9C-CAAD-2769-D313A1747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526" y="3898900"/>
            <a:ext cx="17430234" cy="649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655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Provisione a Infraestrutura Básica do Seu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O que fazer:  </a:t>
            </a:r>
            <a:r>
              <a:rPr sz="4000">
                <a:solidFill>
                  <a:srgbClr val="262626"/>
                </a:solidFill>
                <a:latin typeface="Calibri"/>
              </a:rPr>
              <a:t>criar um terraform/main.tf no repositório do SEU projeto individual, provisionando ao menos uma Storage Account via Terraform.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Reaproveite o padrão de hoje:  </a:t>
            </a:r>
            <a:r>
              <a:rPr sz="4000">
                <a:solidFill>
                  <a:srgbClr val="262626"/>
                </a:solidFill>
                <a:latin typeface="Calibri"/>
              </a:rPr>
              <a:t>terraform {} + provider "azurerm" + data para o resource group (se já existir) + resource para a Storage Account.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Rode o ciclo completo:  </a:t>
            </a:r>
            <a:r>
              <a:rPr sz="4000">
                <a:solidFill>
                  <a:srgbClr val="262626"/>
                </a:solidFill>
                <a:latin typeface="Calibri"/>
              </a:rPr>
              <a:t>terraform init → terraform plan → terraform apply.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Ao final:  </a:t>
            </a:r>
            <a:r>
              <a:rPr sz="4000">
                <a:solidFill>
                  <a:srgbClr val="262626"/>
                </a:solidFill>
                <a:latin typeface="Calibri"/>
              </a:rPr>
              <a:t>confira no Portal Azure e faça commit do código terraform/ no seu repositório.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5361900"/>
            <a:ext cx="19170650" cy="2000000"/>
          </a:xfrm>
        </p:spPr>
        <p:txBody>
          <a:bodyPr wrap="square">
            <a:noAutofit/>
          </a:bodyPr>
          <a:lstStyle/>
          <a:p>
            <a:r>
              <a:rPr sz="7200" b="1" dirty="0" err="1">
                <a:solidFill>
                  <a:srgbClr val="004A8F"/>
                </a:solidFill>
                <a:latin typeface="Calibri"/>
              </a:rPr>
              <a:t>Revisão</a:t>
            </a:r>
            <a:r>
              <a:rPr sz="7200" b="1" dirty="0">
                <a:solidFill>
                  <a:srgbClr val="004A8F"/>
                </a:solidFill>
                <a:latin typeface="Calibri"/>
              </a:rPr>
              <a:t> e </a:t>
            </a:r>
            <a:r>
              <a:rPr sz="7200" b="1" dirty="0" err="1">
                <a:solidFill>
                  <a:srgbClr val="004A8F"/>
                </a:solidFill>
                <a:latin typeface="Calibri"/>
              </a:rPr>
              <a:t>Entregável</a:t>
            </a:r>
            <a:r>
              <a:rPr sz="7200" b="1" dirty="0">
                <a:solidFill>
                  <a:srgbClr val="004A8F"/>
                </a:solidFill>
                <a:latin typeface="Calibri"/>
              </a:rPr>
              <a:t> de </a:t>
            </a:r>
            <a:r>
              <a:rPr sz="7200" b="1" dirty="0" err="1">
                <a:solidFill>
                  <a:srgbClr val="004A8F"/>
                </a:solidFill>
                <a:latin typeface="Calibri"/>
              </a:rPr>
              <a:t>Hoje</a:t>
            </a:r>
            <a:r>
              <a:rPr lang="en-US" sz="7200" b="1" dirty="0">
                <a:solidFill>
                  <a:srgbClr val="004A8F"/>
                </a:solidFill>
                <a:latin typeface="Calibri"/>
              </a:rPr>
              <a:t> </a:t>
            </a:r>
            <a:br>
              <a:rPr lang="en-US" sz="7200" b="1" dirty="0">
                <a:solidFill>
                  <a:srgbClr val="004A8F"/>
                </a:solidFill>
                <a:latin typeface="Calibri"/>
              </a:rPr>
            </a:br>
            <a:r>
              <a:rPr lang="en-US" sz="7200" b="1" dirty="0">
                <a:solidFill>
                  <a:srgbClr val="004A8F"/>
                </a:solidFill>
                <a:latin typeface="Calibri"/>
              </a:rPr>
              <a:t>(Pra </a:t>
            </a:r>
            <a:r>
              <a:rPr lang="en-US" sz="7200" b="1" dirty="0" err="1">
                <a:solidFill>
                  <a:srgbClr val="004A8F"/>
                </a:solidFill>
                <a:latin typeface="Calibri"/>
              </a:rPr>
              <a:t>semana</a:t>
            </a:r>
            <a:r>
              <a:rPr lang="en-US" sz="72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lang="en-US" sz="72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lang="en-US" sz="72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lang="en-US" sz="7200" b="1" dirty="0" err="1">
                <a:solidFill>
                  <a:srgbClr val="004A8F"/>
                </a:solidFill>
                <a:latin typeface="Calibri"/>
              </a:rPr>
              <a:t>vem</a:t>
            </a:r>
            <a:r>
              <a:rPr lang="en-US" sz="7200" b="1" dirty="0">
                <a:solidFill>
                  <a:srgbClr val="004A8F"/>
                </a:solidFill>
                <a:latin typeface="Calibri"/>
              </a:rPr>
              <a:t>)</a:t>
            </a:r>
            <a:endParaRPr sz="7200" b="1" dirty="0">
              <a:solidFill>
                <a:srgbClr val="004A8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75807" y="3937200"/>
            <a:ext cx="454643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dirty="0">
                <a:solidFill>
                  <a:srgbClr val="F5AC00"/>
                </a:solidFill>
                <a:latin typeface="Calibri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8625" y="124819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Checklist de 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☐ Terraform CLI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instalado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☐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az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account show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confirmado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☐ Demo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vivo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rodada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aplicada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(main.tf do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projeto-guia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)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☐ Código terraform/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commitado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no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repositório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do PROJETO INDIVIDUAL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aluno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☐ .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gitignore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cobrindo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.terraform/ 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terraform.tfstate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* — é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comum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esquecer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subir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o state (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pode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ter dados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sensíveis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) para o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Entregável de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O que entregar:  </a:t>
            </a:r>
            <a:r>
              <a:rPr sz="4000">
                <a:solidFill>
                  <a:srgbClr val="262626"/>
                </a:solidFill>
                <a:latin typeface="Calibri"/>
              </a:rPr>
              <a:t>o arquivo terraform/main.tf do seu projeto individual, committado e com push feito para o repositório no GitHub.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Mensagem de commit sugerida:  </a:t>
            </a:r>
            <a:r>
              <a:rPr sz="4000">
                <a:solidFill>
                  <a:srgbClr val="262626"/>
                </a:solidFill>
                <a:latin typeface="Calibri"/>
              </a:rPr>
              <a:t>infra: storage account via terraform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Antes de subir:  </a:t>
            </a:r>
            <a:r>
              <a:rPr sz="4000">
                <a:solidFill>
                  <a:srgbClr val="262626"/>
                </a:solidFill>
                <a:latin typeface="Calibri"/>
              </a:rPr>
              <a:t>confirme que .terraform/ e terraform.tfstate* estão no .gitignore — nunca commitar o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7200" b="1">
                <a:solidFill>
                  <a:srgbClr val="0070C0"/>
                </a:solidFill>
                <a:latin typeface="Calibri"/>
              </a:rP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800" b="1">
                <a:solidFill>
                  <a:srgbClr val="004A8F"/>
                </a:solidFill>
                <a:latin typeface="Calibri"/>
              </a:rPr>
              <a:t>Livro:  </a:t>
            </a:r>
            <a:r>
              <a:rPr sz="4800">
                <a:solidFill>
                  <a:srgbClr val="262626"/>
                </a:solidFill>
                <a:latin typeface="Calibri"/>
              </a:rPr>
              <a:t>Morris, K. (2025). Infrastructure as Code, 3ª ed. O'Reilly Media.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800" b="1">
                <a:solidFill>
                  <a:srgbClr val="004A8F"/>
                </a:solidFill>
                <a:latin typeface="Calibri"/>
              </a:rPr>
              <a:t>Terraform — What is Infrastructure as Code:  </a:t>
            </a:r>
            <a:r>
              <a:rPr sz="4800">
                <a:solidFill>
                  <a:srgbClr val="262626"/>
                </a:solidFill>
                <a:latin typeface="Calibri"/>
              </a:rPr>
              <a:t>developer.hashicorp.com/terraform/intro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800" b="1">
                <a:solidFill>
                  <a:srgbClr val="004A8F"/>
                </a:solidFill>
                <a:latin typeface="Calibri"/>
              </a:rPr>
              <a:t>Terraform: Build Infrastructure (Azure):  </a:t>
            </a:r>
            <a:r>
              <a:rPr sz="4800">
                <a:solidFill>
                  <a:srgbClr val="262626"/>
                </a:solidFill>
                <a:latin typeface="Calibri"/>
              </a:rPr>
              <a:t>developer.hashicorp.com/terraform/tutorials/azure-get-started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800" b="1">
                <a:solidFill>
                  <a:srgbClr val="004A8F"/>
                </a:solidFill>
                <a:latin typeface="Calibri"/>
              </a:rPr>
              <a:t>Provider azurerm:  </a:t>
            </a:r>
            <a:r>
              <a:rPr sz="4800">
                <a:solidFill>
                  <a:srgbClr val="262626"/>
                </a:solidFill>
                <a:latin typeface="Calibri"/>
              </a:rPr>
              <a:t>registry.terraform.io/providers/hashicorp/azurerm/latest/docs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m 6" descr="Uma imagem contendo Gráfico&#10;&#10;Descrição gerada automaticamente">
            <a:extLst>
              <a:ext uri="{FF2B5EF4-FFF2-40B4-BE49-F238E27FC236}">
                <a16:creationId xmlns:a16="http://schemas.microsoft.com/office/drawing/2014/main" id="{123C0F18-1F99-4AFB-BADE-BEF12CAF9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C9E5B6CA2FF774BAC2C469BEFBF993E" ma:contentTypeVersion="14" ma:contentTypeDescription="Crie um novo documento." ma:contentTypeScope="" ma:versionID="dc976a3d313a1884427fd4a25d2cee27">
  <xsd:schema xmlns:xsd="http://www.w3.org/2001/XMLSchema" xmlns:xs="http://www.w3.org/2001/XMLSchema" xmlns:p="http://schemas.microsoft.com/office/2006/metadata/properties" xmlns:ns1="http://schemas.microsoft.com/sharepoint/v3" xmlns:ns2="ca9a7d42-d7cc-4acf-9ced-5a6d605f5bb5" xmlns:ns3="de2f6f28-cd42-4609-bf66-4e8286a5a335" targetNamespace="http://schemas.microsoft.com/office/2006/metadata/properties" ma:root="true" ma:fieldsID="36c23cd9085cefcfd0c57ebeef0d5511" ns1:_="" ns2:_="" ns3:_="">
    <xsd:import namespace="http://schemas.microsoft.com/sharepoint/v3"/>
    <xsd:import namespace="ca9a7d42-d7cc-4acf-9ced-5a6d605f5bb5"/>
    <xsd:import namespace="de2f6f28-cd42-4609-bf66-4e8286a5a3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9a7d42-d7cc-4acf-9ced-5a6d605f5b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2f6f28-cd42-4609-bf66-4e8286a5a33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5A8ECF9-7567-461A-B635-D7A1660AA2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4036CB-9748-436C-A1A1-F4D69768EB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a9a7d42-d7cc-4acf-9ced-5a6d605f5bb5"/>
    <ds:schemaRef ds:uri="de2f6f28-cd42-4609-bf66-4e8286a5a3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12B0F66-32D8-4318-9FAE-9EACF69D7379}">
  <ds:schemaRefs>
    <ds:schemaRef ds:uri="http://schemas.microsoft.com/office/2006/metadata/properties"/>
    <ds:schemaRef ds:uri="http://schemas.microsoft.com/office/infopath/2007/PartnerControls"/>
    <ds:schemaRef ds:uri="4620a0fb-8c8e-452c-99f9-831cb1282a4d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4345</Words>
  <Application>Microsoft Office PowerPoint</Application>
  <PresentationFormat>Personalizar</PresentationFormat>
  <Paragraphs>521</Paragraphs>
  <Slides>80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80</vt:i4>
      </vt:variant>
    </vt:vector>
  </HeadingPairs>
  <TitlesOfParts>
    <vt:vector size="87" baseType="lpstr">
      <vt:lpstr>Arial</vt:lpstr>
      <vt:lpstr>Calibri</vt:lpstr>
      <vt:lpstr>Consolas</vt:lpstr>
      <vt:lpstr>Helvetica Neue</vt:lpstr>
      <vt:lpstr>Helvetica Neue Light</vt:lpstr>
      <vt:lpstr>Helvetica Neue Medium</vt:lpstr>
      <vt:lpstr>White</vt:lpstr>
      <vt:lpstr>MLOps &amp; CI/CD</vt:lpstr>
      <vt:lpstr>Agenda de Hoje</vt:lpstr>
      <vt:lpstr>Objetivos de Aprendizagem</vt:lpstr>
      <vt:lpstr>O Que Você Já Tem Pronto (Vindo da Aula 1)</vt:lpstr>
      <vt:lpstr>Fundamentos</vt:lpstr>
      <vt:lpstr>Apresentação do PowerPoint</vt:lpstr>
      <vt:lpstr>IaC: Reprodutibilidade, Versionamento, Idempotência</vt:lpstr>
      <vt:lpstr>Terraform - Arquitetura</vt:lpstr>
      <vt:lpstr>Visão Funcional do Terraform</vt:lpstr>
      <vt:lpstr>Os Fundamentos do Terraform</vt:lpstr>
      <vt:lpstr>Declarativo x Imperativo</vt:lpstr>
      <vt:lpstr>Como Ler o Código Terraform de Hoje</vt:lpstr>
      <vt:lpstr>Anatomia de um Arquivo Terraform</vt:lpstr>
      <vt:lpstr>Setup do Ambiente</vt:lpstr>
      <vt:lpstr>Instalar o Terraform CLI</vt:lpstr>
      <vt:lpstr>Instalar o Terraform CLI</vt:lpstr>
      <vt:lpstr>Instalar o Terraform CLI – A partir do zip</vt:lpstr>
      <vt:lpstr>Confirmar Autenticação no Azure</vt:lpstr>
      <vt:lpstr>Primeiros Passos — 100% Local, Sem Nuvem</vt:lpstr>
      <vt:lpstr>Por Que Começar Sem Nuvem?</vt:lpstr>
      <vt:lpstr>Exercício Rápido 1: Reproduza o Hello World</vt:lpstr>
      <vt:lpstr>Hello World, Anotado</vt:lpstr>
      <vt:lpstr>Hello World Terraform</vt:lpstr>
      <vt:lpstr>Hello World Terraform</vt:lpstr>
      <vt:lpstr>Estado (State)</vt:lpstr>
      <vt:lpstr>O Estado (State)</vt:lpstr>
      <vt:lpstr>Apresentação do PowerPoint</vt:lpstr>
      <vt:lpstr>Resposta</vt:lpstr>
      <vt:lpstr>Apresentação do PowerPoint</vt:lpstr>
      <vt:lpstr>Resposta</vt:lpstr>
      <vt:lpstr>Apresentação do PowerPoint</vt:lpstr>
      <vt:lpstr>Exemplo 1a — Provedores Necessários</vt:lpstr>
      <vt:lpstr>Exemplo 1b — Gerando as Credenciais</vt:lpstr>
      <vt:lpstr>sensitive Não é Criptografia</vt:lpstr>
      <vt:lpstr>Exemplo 2a — Provedores de Chaves e Arquivos</vt:lpstr>
      <vt:lpstr>Exemplo 2b — Par de Chaves SSH Real</vt:lpstr>
      <vt:lpstr>Antes de Rodar o Exemplo 3: Crie a Pasta app/</vt:lpstr>
      <vt:lpstr>Exemplo 3a — Provedor de Arquivos Compactados</vt:lpstr>
      <vt:lpstr>Exemplo 3b — Empacotando um App em .zip</vt:lpstr>
      <vt:lpstr>Provisioners — Use com Moderação</vt:lpstr>
      <vt:lpstr>Exemplo 4a — Provedor Docker</vt:lpstr>
      <vt:lpstr>Exemplo 4b — Container Docker via Terraform (CONTINUAÇÃO)</vt:lpstr>
      <vt:lpstr>Fluxo de Trabalho</vt:lpstr>
      <vt:lpstr>O Ciclo de Vida do Terraform</vt:lpstr>
      <vt:lpstr>Comandos — Ciclo de Vida e Qualidade</vt:lpstr>
      <vt:lpstr>Comandos — Estado e Utilitários</vt:lpstr>
      <vt:lpstr>Pratique Agora: 5 Minutos com os Comandos (opcional)</vt:lpstr>
      <vt:lpstr>Blocos da Linguagem</vt:lpstr>
      <vt:lpstr>Os Blocos da Linguagem HCL</vt:lpstr>
      <vt:lpstr>Prefixos de Referência (o "espelho" de cada bloco)</vt:lpstr>
      <vt:lpstr>Meta-argumentos: count, for_each, depends_on, lifecycle</vt:lpstr>
      <vt:lpstr>Resource Group, Anotado</vt:lpstr>
      <vt:lpstr>Exemplo Completo, Anotado</vt:lpstr>
      <vt:lpstr>Multi-Cloud</vt:lpstr>
      <vt:lpstr>Multi-Cloud</vt:lpstr>
      <vt:lpstr>Multi-Cloud, Anotado</vt:lpstr>
      <vt:lpstr>Apresentação do PowerPoint</vt:lpstr>
      <vt:lpstr>Resposta</vt:lpstr>
      <vt:lpstr>Boas Práticas</vt:lpstr>
      <vt:lpstr>Boas Práticas</vt:lpstr>
      <vt:lpstr>Segurança: State e Privilégio Mínimo</vt:lpstr>
      <vt:lpstr>Site com Formulário + Banco, Anotado</vt:lpstr>
      <vt:lpstr>Ecossistema</vt:lpstr>
      <vt:lpstr>Terraform no Contexto do Mercado</vt:lpstr>
      <vt:lpstr>Ferramentas de Visualização e Geração de HCL</vt:lpstr>
      <vt:lpstr>Desenho → Código (montar HCL do zero)</vt:lpstr>
      <vt:lpstr>Código → Diagrama (visualizar o que já existe)</vt:lpstr>
      <vt:lpstr>Aviso: Nenhuma é Oficial da HashiCorp</vt:lpstr>
      <vt:lpstr>Demonstração: Provisionando a Infra do Projeto-Guia PCDF</vt:lpstr>
      <vt:lpstr>Recapitulando o Que Já Existe</vt:lpstr>
      <vt:lpstr>Aula 02 — Preparacao do Projeto</vt:lpstr>
      <vt:lpstr>Passo a Passo, com Resultado Esperado</vt:lpstr>
      <vt:lpstr>Passo a Passo, com Resultado Esperado</vt:lpstr>
      <vt:lpstr>Passo a Passo, com Resultado Esperado</vt:lpstr>
      <vt:lpstr>Provisione a Infraestrutura Básica do Seu Projeto</vt:lpstr>
      <vt:lpstr>Revisão e Entregável de Hoje  (Pra semana que vem)</vt:lpstr>
      <vt:lpstr>Checklist de Encerramento</vt:lpstr>
      <vt:lpstr>Entregável de Hoje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 Braga</dc:creator>
  <cp:lastModifiedBy>Andre Braga</cp:lastModifiedBy>
  <cp:revision>23</cp:revision>
  <dcterms:modified xsi:type="dcterms:W3CDTF">2026-08-11T15:48:17Z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0x010100BC9E5B6CA2FF774BAC2C469BEFBF993E</vt:lpwstr>
  </property>
</Properties>
</file>